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</p:sldMasterIdLst>
  <p:notesMasterIdLst>
    <p:notesMasterId r:id="rId57"/>
  </p:notesMasterIdLst>
  <p:sldIdLst>
    <p:sldId id="280" r:id="rId2"/>
    <p:sldId id="284" r:id="rId3"/>
    <p:sldId id="289" r:id="rId4"/>
    <p:sldId id="290" r:id="rId5"/>
    <p:sldId id="287" r:id="rId6"/>
    <p:sldId id="291" r:id="rId7"/>
    <p:sldId id="292" r:id="rId8"/>
    <p:sldId id="285" r:id="rId9"/>
    <p:sldId id="293" r:id="rId10"/>
    <p:sldId id="295" r:id="rId11"/>
    <p:sldId id="296" r:id="rId12"/>
    <p:sldId id="297" r:id="rId13"/>
    <p:sldId id="298" r:id="rId14"/>
    <p:sldId id="294" r:id="rId15"/>
    <p:sldId id="300" r:id="rId16"/>
    <p:sldId id="301" r:id="rId17"/>
    <p:sldId id="299" r:id="rId18"/>
    <p:sldId id="302" r:id="rId19"/>
    <p:sldId id="305" r:id="rId20"/>
    <p:sldId id="306" r:id="rId21"/>
    <p:sldId id="307" r:id="rId22"/>
    <p:sldId id="304" r:id="rId23"/>
    <p:sldId id="308" r:id="rId24"/>
    <p:sldId id="303" r:id="rId25"/>
    <p:sldId id="309" r:id="rId26"/>
    <p:sldId id="310" r:id="rId27"/>
    <p:sldId id="311" r:id="rId28"/>
    <p:sldId id="312" r:id="rId29"/>
    <p:sldId id="314" r:id="rId30"/>
    <p:sldId id="316" r:id="rId31"/>
    <p:sldId id="317" r:id="rId32"/>
    <p:sldId id="318" r:id="rId33"/>
    <p:sldId id="319" r:id="rId34"/>
    <p:sldId id="320" r:id="rId35"/>
    <p:sldId id="315" r:id="rId36"/>
    <p:sldId id="321" r:id="rId37"/>
    <p:sldId id="313" r:id="rId38"/>
    <p:sldId id="323" r:id="rId39"/>
    <p:sldId id="322" r:id="rId40"/>
    <p:sldId id="324" r:id="rId41"/>
    <p:sldId id="325" r:id="rId42"/>
    <p:sldId id="326" r:id="rId43"/>
    <p:sldId id="327" r:id="rId44"/>
    <p:sldId id="328" r:id="rId45"/>
    <p:sldId id="330" r:id="rId46"/>
    <p:sldId id="331" r:id="rId47"/>
    <p:sldId id="333" r:id="rId48"/>
    <p:sldId id="334" r:id="rId49"/>
    <p:sldId id="332" r:id="rId50"/>
    <p:sldId id="335" r:id="rId51"/>
    <p:sldId id="329" r:id="rId52"/>
    <p:sldId id="336" r:id="rId53"/>
    <p:sldId id="337" r:id="rId54"/>
    <p:sldId id="338" r:id="rId55"/>
    <p:sldId id="339" r:id="rId5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2A89"/>
    <a:srgbClr val="F3ECFF"/>
    <a:srgbClr val="EEEFF1"/>
    <a:srgbClr val="C8E3F0"/>
    <a:srgbClr val="BFA0FF"/>
    <a:srgbClr val="A24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20"/>
    <p:restoredTop sz="87218"/>
  </p:normalViewPr>
  <p:slideViewPr>
    <p:cSldViewPr snapToGrid="0">
      <p:cViewPr varScale="1">
        <p:scale>
          <a:sx n="121" d="100"/>
          <a:sy n="121" d="100"/>
        </p:scale>
        <p:origin x="1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1676F-0817-5F41-917A-F919EBE898B8}" type="datetimeFigureOut">
              <a:rPr lang="en-CN" smtClean="0"/>
              <a:t>2026/9/3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1227C-DB9A-EF45-A7C2-C9826A2A03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7793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7509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02688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A44185"/>
                </a:solidFill>
                <a:effectLst/>
              </a:rPr>
              <a:t>'''This is line one. </a:t>
            </a:r>
          </a:p>
          <a:p>
            <a:r>
              <a:rPr lang="en-US" dirty="0">
                <a:solidFill>
                  <a:srgbClr val="A44185"/>
                </a:solidFill>
                <a:effectLst/>
              </a:rPr>
              <a:t>This is line two. </a:t>
            </a:r>
          </a:p>
          <a:p>
            <a:r>
              <a:rPr lang="en-US" dirty="0">
                <a:solidFill>
                  <a:srgbClr val="A44185"/>
                </a:solidFill>
                <a:effectLst/>
              </a:rPr>
              <a:t>This is line three.'''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23996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1324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85914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sys.maxsize</a:t>
            </a:r>
            <a:r>
              <a:rPr lang="zh-CN" altLang="en-US" dirty="0"/>
              <a:t>  </a:t>
            </a:r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maximal</a:t>
            </a:r>
            <a:r>
              <a:rPr lang="zh-CN" altLang="en-US" dirty="0"/>
              <a:t> </a:t>
            </a:r>
            <a:r>
              <a:rPr lang="en-US" altLang="zh-CN" dirty="0"/>
              <a:t>integer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6500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/>
              <a:t>0.3</a:t>
            </a:r>
            <a:r>
              <a:rPr lang="zh-CN" altLang="en-US" sz="2400" dirty="0"/>
              <a:t> </a:t>
            </a:r>
            <a:r>
              <a:rPr lang="en-US" altLang="zh-CN" sz="2400" dirty="0"/>
              <a:t>=</a:t>
            </a:r>
            <a:r>
              <a:rPr lang="zh-CN" altLang="en-US" sz="2400" dirty="0"/>
              <a:t> </a:t>
            </a:r>
            <a:r>
              <a:rPr lang="en-US" altLang="zh-CN" sz="2400" dirty="0"/>
              <a:t>(</a:t>
            </a:r>
            <a:r>
              <a:rPr lang="zh-CN" altLang="en-US" sz="2400" dirty="0"/>
              <a:t> </a:t>
            </a:r>
            <a:r>
              <a:rPr lang="en-CN" sz="2400" dirty="0"/>
              <a:t>0.010011001100110011…</a:t>
            </a:r>
            <a:r>
              <a:rPr lang="en-US" altLang="zh-CN" sz="2400" dirty="0"/>
              <a:t>)</a:t>
            </a:r>
            <a:endParaRPr lang="en-CN" sz="2400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9228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40394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18449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ex</a:t>
            </a:r>
            <a:r>
              <a:rPr lang="en-US" altLang="zh-CN" dirty="0" err="1"/>
              <a:t>ponetiation</a:t>
            </a:r>
            <a:r>
              <a:rPr lang="zh-CN" altLang="en-US" dirty="0"/>
              <a:t> 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right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23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63020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24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57002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27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9358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version is easier to understand: 20 × 3 or price × quantity.</a:t>
            </a:r>
          </a:p>
          <a:p>
            <a:r>
              <a:rPr lang="en-US" dirty="0"/>
              <a:t>Emphasize that a variable is a name that refers to a value; the value can be reused and changed.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30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085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31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77550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rtl="0"/>
            <a:r>
              <a:rPr lang="en-US" dirty="0"/>
              <a:t>price = 10 </a:t>
            </a:r>
          </a:p>
          <a:p>
            <a:pPr rtl="0"/>
            <a:r>
              <a:rPr lang="en-US" dirty="0" err="1"/>
              <a:t>amy_books</a:t>
            </a:r>
            <a:r>
              <a:rPr lang="zh-CN" altLang="en-US" dirty="0"/>
              <a:t>，</a:t>
            </a:r>
            <a:r>
              <a:rPr lang="en-US" dirty="0"/>
              <a:t> </a:t>
            </a:r>
            <a:r>
              <a:rPr lang="en-US" dirty="0" err="1"/>
              <a:t>bob_books</a:t>
            </a:r>
            <a:r>
              <a:rPr lang="en-US" dirty="0"/>
              <a:t> </a:t>
            </a:r>
            <a:r>
              <a:rPr lang="zh-CN" altLang="en-US" dirty="0"/>
              <a:t>， </a:t>
            </a:r>
            <a:r>
              <a:rPr lang="en-US" dirty="0" err="1"/>
              <a:t>cindy_books</a:t>
            </a:r>
            <a:r>
              <a:rPr lang="en-US" dirty="0"/>
              <a:t> = </a:t>
            </a:r>
            <a:r>
              <a:rPr lang="en-US" altLang="zh-CN" dirty="0"/>
              <a:t>112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en-US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</a:p>
          <a:p>
            <a:pPr rtl="0"/>
            <a:r>
              <a:rPr lang="en-US" dirty="0" err="1"/>
              <a:t>amy_cost</a:t>
            </a:r>
            <a:r>
              <a:rPr lang="en-US" dirty="0"/>
              <a:t> = price * </a:t>
            </a:r>
            <a:r>
              <a:rPr lang="en-US" dirty="0" err="1"/>
              <a:t>amy_books</a:t>
            </a:r>
            <a:r>
              <a:rPr lang="en-US" dirty="0"/>
              <a:t> </a:t>
            </a:r>
          </a:p>
          <a:p>
            <a:pPr rtl="0"/>
            <a:r>
              <a:rPr lang="en-US" dirty="0" err="1"/>
              <a:t>bob_cost</a:t>
            </a:r>
            <a:r>
              <a:rPr lang="en-US" dirty="0"/>
              <a:t> = price * </a:t>
            </a:r>
            <a:r>
              <a:rPr lang="en-US" dirty="0" err="1"/>
              <a:t>bob_books</a:t>
            </a:r>
            <a:r>
              <a:rPr lang="en-US" dirty="0"/>
              <a:t> </a:t>
            </a:r>
          </a:p>
          <a:p>
            <a:pPr rtl="0"/>
            <a:r>
              <a:rPr lang="en-US" dirty="0" err="1"/>
              <a:t>cindy_cost</a:t>
            </a:r>
            <a:r>
              <a:rPr lang="en-US" dirty="0"/>
              <a:t> = price * </a:t>
            </a:r>
            <a:r>
              <a:rPr lang="en-US" dirty="0" err="1"/>
              <a:t>cindy_books</a:t>
            </a:r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36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9369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method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/>
              <a:t>Using a Temporary Variable</a:t>
            </a:r>
          </a:p>
          <a:p>
            <a:r>
              <a:rPr lang="en-US" altLang="zh-CN" dirty="0"/>
              <a:t>temp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</a:p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</a:p>
          <a:p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temp</a:t>
            </a:r>
            <a:endParaRPr lang="en-US" dirty="0"/>
          </a:p>
          <a:p>
            <a:r>
              <a:rPr lang="en-US" altLang="zh-CN" dirty="0"/>
              <a:t>method</a:t>
            </a:r>
            <a:r>
              <a:rPr lang="zh-CN" altLang="en-US" dirty="0"/>
              <a:t> </a:t>
            </a:r>
            <a:r>
              <a:rPr lang="en-US" altLang="zh-CN" dirty="0"/>
              <a:t>2:</a:t>
            </a:r>
            <a:r>
              <a:rPr lang="zh-CN" altLang="en-US" dirty="0"/>
              <a:t> </a:t>
            </a:r>
            <a:r>
              <a:rPr lang="en-US" altLang="zh-CN" dirty="0"/>
              <a:t>multiply</a:t>
            </a:r>
            <a:r>
              <a:rPr lang="zh-CN" altLang="en-US" dirty="0"/>
              <a:t> </a:t>
            </a:r>
            <a:r>
              <a:rPr lang="en-US" altLang="zh-CN" dirty="0"/>
              <a:t>assignment</a:t>
            </a:r>
            <a:r>
              <a:rPr lang="zh-CN" altLang="en-US" dirty="0"/>
              <a:t> </a:t>
            </a:r>
            <a:r>
              <a:rPr lang="en-US" altLang="zh-CN" dirty="0" err="1"/>
              <a:t>a,b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 err="1"/>
              <a:t>b,a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37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615137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*objects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en-US" dirty="0"/>
              <a:t>can accept any number of objects to print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1227C-DB9A-EF45-A7C2-C9826A2A0340}" type="slidenum">
              <a:rPr lang="en-CN" smtClean="0"/>
              <a:t>46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3157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Photo - Horizont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A947E6-4B11-4F5B-1667-49E7BC67B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530" y="1"/>
            <a:ext cx="12352193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BE119F-AF9B-FB72-4D75-C4A3BBD8309D}"/>
              </a:ext>
            </a:extLst>
          </p:cNvPr>
          <p:cNvSpPr txBox="1"/>
          <p:nvPr/>
        </p:nvSpPr>
        <p:spPr>
          <a:xfrm>
            <a:off x="929543" y="1244331"/>
            <a:ext cx="10493105" cy="126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3797" b="1" i="0" dirty="0">
                <a:solidFill>
                  <a:srgbClr val="5F2A89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Introduction</a:t>
            </a:r>
            <a:r>
              <a:rPr lang="zh-CN" altLang="en-US" sz="3797" b="1" i="0" dirty="0">
                <a:solidFill>
                  <a:srgbClr val="5F2A89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altLang="zh-CN" sz="3797" b="1" i="0" dirty="0">
                <a:solidFill>
                  <a:srgbClr val="5F2A89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to</a:t>
            </a:r>
            <a:r>
              <a:rPr lang="zh-CN" altLang="en-US" sz="3797" b="1" i="0" dirty="0">
                <a:solidFill>
                  <a:srgbClr val="5F2A89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endParaRPr lang="en-US" altLang="zh-CN" sz="3797" b="1" i="0" dirty="0">
              <a:solidFill>
                <a:srgbClr val="5F2A89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algn="ctr"/>
            <a:r>
              <a:rPr lang="en-US" altLang="zh-CN" sz="3797" b="1" i="0" dirty="0">
                <a:solidFill>
                  <a:srgbClr val="5F2A89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Computer</a:t>
            </a:r>
            <a:r>
              <a:rPr lang="zh-CN" altLang="en-US" sz="3797" b="1" i="0" dirty="0">
                <a:solidFill>
                  <a:srgbClr val="5F2A89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altLang="zh-CN" sz="3797" b="1" i="0" dirty="0">
                <a:solidFill>
                  <a:srgbClr val="5F2A89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Programming</a:t>
            </a:r>
            <a:endParaRPr lang="en-CN" sz="3797" b="1" i="0" dirty="0">
              <a:solidFill>
                <a:srgbClr val="5F2A89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954B7-39E3-90BF-4732-71BED5EF1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14" y="10844"/>
            <a:ext cx="3571251" cy="8340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B8E507-5227-6982-A21B-55D18EBF6B3A}"/>
              </a:ext>
            </a:extLst>
          </p:cNvPr>
          <p:cNvSpPr txBox="1"/>
          <p:nvPr/>
        </p:nvSpPr>
        <p:spPr>
          <a:xfrm>
            <a:off x="5437988" y="-486912"/>
            <a:ext cx="7093318" cy="2245551"/>
          </a:xfrm>
          <a:prstGeom prst="rect">
            <a:avLst/>
          </a:prstGeom>
          <a:noFill/>
          <a:effectLst>
            <a:outerShdw blurRad="634165" dist="38100" dir="2700000" sx="195304" sy="195304" algn="tl" rotWithShape="0">
              <a:prstClr val="black">
                <a:alpha val="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3992" b="1" dirty="0">
                <a:solidFill>
                  <a:srgbClr val="A248E8">
                    <a:alpha val="9686"/>
                  </a:srgb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  <a:latin typeface="Cambay Devanagari" pitchFamily="2" charset="77"/>
                <a:ea typeface="Helvetica Neue" panose="02000503000000020004" pitchFamily="2" charset="0"/>
                <a:cs typeface="Cambay Devanagari" pitchFamily="2" charset="77"/>
              </a:rPr>
              <a:t>Python</a:t>
            </a:r>
            <a:endParaRPr lang="en-CN" sz="13992" b="1" dirty="0">
              <a:solidFill>
                <a:srgbClr val="A248E8">
                  <a:alpha val="9686"/>
                </a:srgb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  <a:latin typeface="Cambay Devanagari" pitchFamily="2" charset="77"/>
              <a:ea typeface="Helvetica Neue" panose="02000503000000020004" pitchFamily="2" charset="0"/>
              <a:cs typeface="Cambay Devanagari" pitchFamily="2" charset="77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D36F17-3162-32BB-99C6-3FA4C1833A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74104" y="2547320"/>
            <a:ext cx="7831885" cy="7311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812" b="1">
                <a:solidFill>
                  <a:srgbClr val="00206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6A1210-1D54-2493-7260-D9C4077979FA}"/>
              </a:ext>
            </a:extLst>
          </p:cNvPr>
          <p:cNvSpPr txBox="1"/>
          <p:nvPr/>
        </p:nvSpPr>
        <p:spPr>
          <a:xfrm>
            <a:off x="4162856" y="3765447"/>
            <a:ext cx="4026477" cy="1240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marL="0" marR="0" indent="0" algn="ctr" defTabSz="410751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CN" sz="2531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/>
              </a:rPr>
              <a:t>S</a:t>
            </a:r>
            <a:r>
              <a:rPr kumimoji="0" lang="en-US" altLang="zh-CN" sz="2531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/>
              </a:rPr>
              <a:t>CI-SHU</a:t>
            </a:r>
            <a:r>
              <a:rPr kumimoji="0" lang="zh-CN" altLang="en-US" sz="2531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" panose="02000503000000020004" pitchFamily="2" charset="0"/>
                <a:ea typeface="+mn-ea"/>
                <a:cs typeface="Helvetica Neue" panose="02000503000000020004" pitchFamily="2" charset="0"/>
                <a:sym typeface="Helvetica Light"/>
              </a:rPr>
              <a:t> </a:t>
            </a:r>
            <a:r>
              <a:rPr kumimoji="0" lang="en-US" altLang="zh-CN" sz="2531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/>
              </a:rPr>
              <a:t>11</a:t>
            </a:r>
          </a:p>
          <a:p>
            <a:pPr marL="0" marR="0" indent="0" algn="ctr" defTabSz="410751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531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/>
              </a:rPr>
              <a:t>Fall</a:t>
            </a:r>
            <a:r>
              <a:rPr kumimoji="0" lang="zh-CN" altLang="en-US" sz="2531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" panose="02000503000000020004" pitchFamily="2" charset="0"/>
                <a:ea typeface="+mn-ea"/>
                <a:cs typeface="Helvetica Neue" panose="02000503000000020004" pitchFamily="2" charset="0"/>
                <a:sym typeface="Helvetica Light"/>
              </a:rPr>
              <a:t> </a:t>
            </a:r>
            <a:r>
              <a:rPr kumimoji="0" lang="en-US" altLang="zh-CN" sz="2531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/>
              </a:rPr>
              <a:t>2026</a:t>
            </a:r>
            <a:endParaRPr kumimoji="0" lang="en-CN" sz="2531" b="1" i="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Helvetica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79D50D-9D04-41A9-AFAE-7F5B4AF5EB39}"/>
              </a:ext>
            </a:extLst>
          </p:cNvPr>
          <p:cNvSpPr txBox="1"/>
          <p:nvPr/>
        </p:nvSpPr>
        <p:spPr>
          <a:xfrm>
            <a:off x="4507054" y="5392829"/>
            <a:ext cx="3338079" cy="7133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marL="0" marR="0" indent="0" algn="ctr" defTabSz="410751" rtl="0" fontAlgn="auto" latinLnBrk="0" hangingPunct="0">
              <a:lnSpc>
                <a:spcPts val="24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25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Fang</a:t>
            </a:r>
            <a:r>
              <a:rPr kumimoji="0" lang="zh-CN" altLang="en-US" sz="225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25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Yuan</a:t>
            </a:r>
          </a:p>
          <a:p>
            <a:pPr marL="0" marR="0" indent="0" algn="ctr" defTabSz="410751" rtl="0" fontAlgn="auto" latinLnBrk="0" hangingPunct="0">
              <a:lnSpc>
                <a:spcPts val="24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25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fy12@nyu.edu</a:t>
            </a:r>
            <a:endParaRPr kumimoji="0" lang="en-CN" sz="225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2111641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74D0A8-51F9-19B1-71B6-48BF8110B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35219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784BE0-A945-6CD5-220E-3609EFBAD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70" y="2134195"/>
            <a:ext cx="10406063" cy="151804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8529756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F33C-AC51-D435-93CF-AA6166185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84832"/>
            <a:ext cx="10406063" cy="665262"/>
          </a:xfrm>
        </p:spPr>
        <p:txBody>
          <a:bodyPr>
            <a:noAutofit/>
          </a:bodyPr>
          <a:lstStyle>
            <a:lvl1pPr>
              <a:defRPr sz="3800">
                <a:latin typeface="Comic Sans MS" panose="030F0902030302020204" pitchFamily="66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AE2502-B304-5788-6C56-03EF84BAFB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‹#›</a:t>
            </a:fld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85E172-1057-5D49-91D8-18C40FD6C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478500"/>
            <a:ext cx="1584960" cy="384371"/>
          </a:xfrm>
          <a:prstGeom prst="rect">
            <a:avLst/>
          </a:prstGeom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B941E46-9C4B-1B4B-3F39-22ADA86A413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2969" y="750094"/>
            <a:ext cx="10406063" cy="5338329"/>
          </a:xfrm>
        </p:spPr>
        <p:txBody>
          <a:bodyPr anchor="t"/>
          <a:lstStyle>
            <a:lvl1pPr marL="312528" indent="-312528">
              <a:spcBef>
                <a:spcPts val="1200"/>
              </a:spcBef>
              <a:buFont typeface="System Font Regular"/>
              <a:buChar char="●"/>
              <a:defRPr sz="2800" b="0" i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625056" indent="-312528">
              <a:spcBef>
                <a:spcPts val="1200"/>
              </a:spcBef>
              <a:buFont typeface="Arial Unicode MS" panose="020B0604020202020204" pitchFamily="34" charset="-128"/>
              <a:buChar char="✧"/>
              <a:defRPr sz="2800" b="0" i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2pPr>
            <a:lvl3pPr marL="967956" indent="-342900">
              <a:spcBef>
                <a:spcPts val="1200"/>
              </a:spcBef>
              <a:buFont typeface="Arial" panose="020B0604020202020204" pitchFamily="34" charset="0"/>
              <a:buChar char="•"/>
              <a:defRPr b="0" i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3pPr>
            <a:lvl4pPr>
              <a:defRPr b="0" i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4pPr>
            <a:lvl5pPr>
              <a:defRPr b="0" i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86472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74A109-F71F-500B-9858-1D62066745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‹#›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16273-C9A1-887F-52A8-7D9959932B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5410" y="282504"/>
            <a:ext cx="10118147" cy="5338329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>
              <a:defRPr sz="2800" b="0" i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2pPr>
            <a:lvl3pPr>
              <a:defRPr sz="2800" b="0" i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3pPr>
            <a:lvl4pPr>
              <a:defRPr sz="2800" b="0" i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4pPr>
            <a:lvl5pPr>
              <a:defRPr sz="2800" b="0" i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5211D4-778A-9D0B-E9C0-17DC6672F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8500"/>
            <a:ext cx="1935307" cy="38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0554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6078-2193-1542-EA3A-585B870D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618FD-D65F-FCF3-D3F2-3F09FC465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911466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6078-2193-1542-EA3A-585B870D7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12" y="141699"/>
            <a:ext cx="10406063" cy="789060"/>
          </a:xfrm>
        </p:spPr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618FD-D65F-FCF3-D3F2-3F09FC465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‹#›</a:t>
            </a:fld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820316-11E0-A517-99C0-34E0F0A3AC2D}"/>
              </a:ext>
            </a:extLst>
          </p:cNvPr>
          <p:cNvSpPr/>
          <p:nvPr userDrawn="1"/>
        </p:nvSpPr>
        <p:spPr>
          <a:xfrm>
            <a:off x="1" y="0"/>
            <a:ext cx="3261359" cy="360000"/>
          </a:xfrm>
          <a:prstGeom prst="rect">
            <a:avLst/>
          </a:prstGeom>
          <a:solidFill>
            <a:schemeClr val="accent6">
              <a:lumMod val="20000"/>
              <a:lumOff val="80000"/>
              <a:alpha val="23198"/>
            </a:schemeClr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3A2EB14-B3C7-24B7-FA58-0DD258825D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1" y="-14561"/>
            <a:ext cx="3261359" cy="360001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663C32F-94EB-E10D-A7E0-AC85229A76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5712" y="1117587"/>
            <a:ext cx="10160000" cy="1487862"/>
          </a:xfrm>
        </p:spPr>
        <p:txBody>
          <a:bodyPr>
            <a:normAutofit/>
          </a:bodyPr>
          <a:lstStyle>
            <a:lvl1pPr algn="l">
              <a:lnSpc>
                <a:spcPts val="3000"/>
              </a:lnSpc>
              <a:defRPr sz="2400"/>
            </a:lvl1pPr>
            <a:lvl2pPr algn="l">
              <a:defRPr sz="20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4463667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39415" y="0"/>
            <a:ext cx="10406063" cy="789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956733" y="925441"/>
            <a:ext cx="10406063" cy="44201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75228" y="6560611"/>
            <a:ext cx="616772" cy="297389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>
              <a:defRPr sz="1266"/>
            </a:lvl1pPr>
          </a:lstStyle>
          <a:p>
            <a:fld id="{3B5CDC35-7DBD-5B42-8C53-5B3756EBFC65}" type="slidenum">
              <a:rPr lang="en-CN" smtClean="0"/>
              <a:t>‹#›</a:t>
            </a:fld>
            <a:endParaRPr lang="en-CN"/>
          </a:p>
        </p:txBody>
      </p:sp>
      <p:sp>
        <p:nvSpPr>
          <p:cNvPr id="3" name="AutoShape 2" descr="Minimal Python-Themed Lavender Waves">
            <a:extLst>
              <a:ext uri="{FF2B5EF4-FFF2-40B4-BE49-F238E27FC236}">
                <a16:creationId xmlns:a16="http://schemas.microsoft.com/office/drawing/2014/main" id="{0109E60E-42ED-5624-665C-5091138334E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3924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8" r:id="rId5"/>
    <p:sldLayoutId id="2147483679" r:id="rId6"/>
  </p:sldLayoutIdLst>
  <p:transition spd="med"/>
  <p:hf hdr="0" ftr="0" dt="0"/>
  <p:txStyles>
    <p:titleStyle>
      <a:lvl1pPr marL="0" marR="0" indent="0" algn="ctr" defTabSz="41075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12" b="1" i="0" u="none" strike="noStrike" cap="none" spc="0" baseline="0">
          <a:solidFill>
            <a:srgbClr val="532F92"/>
          </a:solidFill>
          <a:uFillTx/>
          <a:latin typeface="Comic Sans MS" panose="030F0902030302020204" pitchFamily="66" charset="0"/>
          <a:ea typeface="+mn-ea"/>
          <a:cs typeface="+mn-cs"/>
          <a:sym typeface="Helvetica Light"/>
        </a:defRPr>
      </a:lvl1pPr>
      <a:lvl2pPr marL="0" marR="0" indent="160729" algn="ctr" defTabSz="41075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532F92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321457" algn="ctr" defTabSz="41075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532F92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482186" algn="ctr" defTabSz="41075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532F92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642915" algn="ctr" defTabSz="41075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532F92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803643" algn="ctr" defTabSz="41075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532F92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964372" algn="ctr" defTabSz="41075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532F92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125101" algn="ctr" defTabSz="41075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532F92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285829" algn="ctr" defTabSz="41075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25" b="0" i="0" u="none" strike="noStrike" cap="none" spc="0" baseline="0">
          <a:solidFill>
            <a:srgbClr val="532F92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312528" marR="0" indent="-312528" algn="l" defTabSz="410751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sz="2800" b="0" i="0" u="none" strike="noStrike" cap="none" spc="0" baseline="0">
          <a:solidFill>
            <a:schemeClr val="accent6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1pPr>
      <a:lvl2pPr marL="625056" marR="0" indent="-312528" algn="l" defTabSz="410751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solidFill>
            <a:schemeClr val="accent6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2pPr>
      <a:lvl3pPr marL="937584" marR="0" indent="-312528" algn="l" defTabSz="410751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solidFill>
            <a:schemeClr val="accent6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3pPr>
      <a:lvl4pPr marL="1250112" marR="0" indent="-312528" algn="l" defTabSz="410751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solidFill>
            <a:schemeClr val="accent6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4pPr>
      <a:lvl5pPr marL="1562640" marR="0" indent="-312528" algn="l" defTabSz="410751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solidFill>
            <a:schemeClr val="accent6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5pPr>
      <a:lvl6pPr marL="1875168" marR="0" indent="-312528" algn="l" defTabSz="410751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sz="2531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2187696" marR="0" indent="-312528" algn="l" defTabSz="410751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sz="2531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2500224" marR="0" indent="-312528" algn="l" defTabSz="410751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sz="2531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812752" marR="0" indent="-312528" algn="l" defTabSz="410751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sz="2531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41075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60729" algn="ctr" defTabSz="41075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321457" algn="ctr" defTabSz="41075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482186" algn="ctr" defTabSz="41075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642915" algn="ctr" defTabSz="41075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803643" algn="ctr" defTabSz="41075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964372" algn="ctr" defTabSz="41075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125101" algn="ctr" defTabSz="41075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285829" algn="ctr" defTabSz="41075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89F489-0104-D276-66BA-EBCBCB8457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CN" altLang="zh-CN" dirty="0"/>
              <a:t>Input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Processing,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Output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72989029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F0CA5-7D2B-8BC0-0136-86391DDF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Lecture’s 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C2D3F-596B-063C-B2F0-666860BF71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43974" y="964102"/>
            <a:ext cx="9324317" cy="5338329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zh-CN" b="1" dirty="0"/>
              <a:t>Dada</a:t>
            </a:r>
            <a:r>
              <a:rPr lang="zh-CN" altLang="en-US" b="1" dirty="0"/>
              <a:t> </a:t>
            </a:r>
            <a:r>
              <a:rPr lang="en-US" altLang="zh-CN" b="1" dirty="0"/>
              <a:t>Type</a:t>
            </a:r>
            <a:r>
              <a:rPr lang="zh-CN" altLang="en-US" b="1" dirty="0"/>
              <a:t>  </a:t>
            </a:r>
            <a:endParaRPr lang="en-US" b="1" dirty="0"/>
          </a:p>
          <a:p>
            <a:pPr lvl="1">
              <a:spcBef>
                <a:spcPts val="600"/>
              </a:spcBef>
            </a:pPr>
            <a:r>
              <a:rPr lang="en-US" dirty="0"/>
              <a:t>integer, floating point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Data type conversion</a:t>
            </a:r>
          </a:p>
          <a:p>
            <a:pPr lvl="1">
              <a:spcBef>
                <a:spcPts val="600"/>
              </a:spcBef>
            </a:pPr>
            <a:r>
              <a:rPr lang="en-US" altLang="zh-CN" dirty="0"/>
              <a:t>Performing</a:t>
            </a:r>
            <a:r>
              <a:rPr lang="zh-CN" altLang="en-US" dirty="0"/>
              <a:t> </a:t>
            </a:r>
            <a:r>
              <a:rPr lang="en-US" altLang="zh-CN" dirty="0"/>
              <a:t>calculations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altLang="zh-CN" b="1" dirty="0"/>
              <a:t>Variables</a:t>
            </a:r>
            <a:endParaRPr lang="en-US" b="1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altLang="zh-CN" b="1" dirty="0"/>
              <a:t>Input</a:t>
            </a:r>
            <a:r>
              <a:rPr lang="zh-CN" altLang="en-US" b="1" dirty="0"/>
              <a:t> </a:t>
            </a:r>
            <a:r>
              <a:rPr lang="en-US" altLang="zh-CN" b="1" dirty="0"/>
              <a:t>and</a:t>
            </a:r>
            <a:r>
              <a:rPr lang="zh-CN" altLang="en-US" b="1" dirty="0"/>
              <a:t> </a:t>
            </a:r>
            <a:r>
              <a:rPr lang="en-US" altLang="zh-CN" b="1" dirty="0"/>
              <a:t>Output</a:t>
            </a:r>
            <a:r>
              <a:rPr lang="zh-CN" altLang="en-US" b="1" dirty="0"/>
              <a:t> </a:t>
            </a:r>
            <a:r>
              <a:rPr lang="en-US" altLang="zh-CN" b="1" dirty="0"/>
              <a:t>functions</a:t>
            </a:r>
            <a:r>
              <a:rPr lang="zh-CN" altLang="en-US" b="1" dirty="0"/>
              <a:t> </a:t>
            </a:r>
            <a:endParaRPr lang="en-US" altLang="zh-CN" b="1" dirty="0"/>
          </a:p>
          <a:p>
            <a:pPr>
              <a:spcBef>
                <a:spcPts val="600"/>
              </a:spcBef>
            </a:pPr>
            <a:endParaRPr lang="en-US" altLang="zh-CN" b="1" dirty="0"/>
          </a:p>
          <a:p>
            <a:pPr>
              <a:spcBef>
                <a:spcPts val="600"/>
              </a:spcBef>
            </a:pPr>
            <a:r>
              <a:rPr lang="en-US" altLang="zh-CN" b="1" dirty="0"/>
              <a:t>f-string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DF7E4-0949-6D3F-D466-65E326D90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2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806643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1A9F8-CE67-CE4F-2D09-43292038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Python</a:t>
            </a:r>
            <a:r>
              <a:rPr lang="zh-CN" altLang="en-US" dirty="0"/>
              <a:t> </a:t>
            </a:r>
            <a:r>
              <a:rPr lang="en-US" altLang="zh-CN" dirty="0"/>
              <a:t>Syntax?</a:t>
            </a:r>
            <a:r>
              <a:rPr lang="zh-CN" altLang="en-US" dirty="0"/>
              <a:t> </a:t>
            </a:r>
            <a:endParaRPr lang="en-CN" dirty="0"/>
          </a:p>
        </p:txBody>
      </p:sp>
      <p:sp>
        <p:nvSpPr>
          <p:cNvPr id="9" name="accent-rule">
            <a:extLst>
              <a:ext uri="{FF2B5EF4-FFF2-40B4-BE49-F238E27FC236}">
                <a16:creationId xmlns:a16="http://schemas.microsoft.com/office/drawing/2014/main" id="{ED1F63A6-E92D-C90C-15E9-703C16768FE2}"/>
              </a:ext>
            </a:extLst>
          </p:cNvPr>
          <p:cNvSpPr>
            <a:spLocks noGrp="1"/>
          </p:cNvSpPr>
          <p:nvPr/>
        </p:nvSpPr>
        <p:spPr>
          <a:xfrm>
            <a:off x="390322" y="742950"/>
            <a:ext cx="76200" cy="704850"/>
          </a:xfrm>
          <a:prstGeom prst="rect">
            <a:avLst/>
          </a:prstGeom>
          <a:solidFill>
            <a:srgbClr val="5B2C83"/>
          </a:solidFill>
          <a:ln w="0">
            <a:noFill/>
            <a:prstDash val="solid"/>
          </a:ln>
        </p:spPr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9D4276B2-112A-AFB3-DDB4-29CCA227ED1F}"/>
              </a:ext>
            </a:extLst>
          </p:cNvPr>
          <p:cNvSpPr>
            <a:spLocks noGrp="1"/>
          </p:cNvSpPr>
          <p:nvPr/>
        </p:nvSpPr>
        <p:spPr>
          <a:xfrm>
            <a:off x="390322" y="801316"/>
            <a:ext cx="7456251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151C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7030A0"/>
                </a:solidFill>
                <a:latin typeface="Arial"/>
                <a:ea typeface="Arial"/>
                <a:cs typeface="Arial"/>
              </a:rPr>
              <a:t>Python syntax is the grammar of code</a:t>
            </a:r>
          </a:p>
        </p:txBody>
      </p:sp>
      <p:sp>
        <p:nvSpPr>
          <p:cNvPr id="11" name="definition">
            <a:extLst>
              <a:ext uri="{FF2B5EF4-FFF2-40B4-BE49-F238E27FC236}">
                <a16:creationId xmlns:a16="http://schemas.microsoft.com/office/drawing/2014/main" id="{E3E78C8F-20CC-BBD7-7C4C-E512ADDE3235}"/>
              </a:ext>
            </a:extLst>
          </p:cNvPr>
          <p:cNvSpPr>
            <a:spLocks noGrp="1"/>
          </p:cNvSpPr>
          <p:nvPr/>
        </p:nvSpPr>
        <p:spPr>
          <a:xfrm>
            <a:off x="504622" y="1450232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0">
                <a:solidFill>
                  <a:srgbClr val="59546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5460"/>
                </a:solidFill>
                <a:latin typeface="Arial"/>
                <a:ea typeface="Arial"/>
                <a:cs typeface="Arial"/>
              </a:rPr>
              <a:t>Syntax = the rules for writing Python code correctly so that Python can understand it.</a:t>
            </a:r>
          </a:p>
        </p:txBody>
      </p:sp>
      <p:sp>
        <p:nvSpPr>
          <p:cNvPr id="12" name="correct-panel">
            <a:extLst>
              <a:ext uri="{FF2B5EF4-FFF2-40B4-BE49-F238E27FC236}">
                <a16:creationId xmlns:a16="http://schemas.microsoft.com/office/drawing/2014/main" id="{3A336FA0-7D85-2FE7-04DD-2B656968D0C4}"/>
              </a:ext>
            </a:extLst>
          </p:cNvPr>
          <p:cNvSpPr>
            <a:spLocks noGrp="1"/>
          </p:cNvSpPr>
          <p:nvPr/>
        </p:nvSpPr>
        <p:spPr>
          <a:xfrm>
            <a:off x="676072" y="2133600"/>
            <a:ext cx="5191125" cy="2266950"/>
          </a:xfrm>
          <a:prstGeom prst="roundRect">
            <a:avLst>
              <a:gd name="adj" fmla="val 5042"/>
            </a:avLst>
          </a:prstGeom>
          <a:solidFill>
            <a:srgbClr val="F4FBF6"/>
          </a:solidFill>
          <a:ln w="14288">
            <a:solidFill>
              <a:srgbClr val="A9D7B5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13" name="incorrect-panel">
            <a:extLst>
              <a:ext uri="{FF2B5EF4-FFF2-40B4-BE49-F238E27FC236}">
                <a16:creationId xmlns:a16="http://schemas.microsoft.com/office/drawing/2014/main" id="{DC4C7C64-799D-8807-6B5E-D9AFDB3FC7ED}"/>
              </a:ext>
            </a:extLst>
          </p:cNvPr>
          <p:cNvSpPr>
            <a:spLocks noGrp="1"/>
          </p:cNvSpPr>
          <p:nvPr/>
        </p:nvSpPr>
        <p:spPr>
          <a:xfrm>
            <a:off x="6305347" y="2133600"/>
            <a:ext cx="5191125" cy="2266950"/>
          </a:xfrm>
          <a:prstGeom prst="roundRect">
            <a:avLst>
              <a:gd name="adj" fmla="val 5042"/>
            </a:avLst>
          </a:prstGeom>
          <a:solidFill>
            <a:srgbClr val="FFF6F5"/>
          </a:solidFill>
          <a:ln w="14288">
            <a:solidFill>
              <a:srgbClr val="E3B2AC"/>
            </a:solidFill>
            <a:prstDash val="solid"/>
          </a:ln>
        </p:spPr>
      </p:sp>
      <p:sp>
        <p:nvSpPr>
          <p:cNvPr id="14" name="correct-heading">
            <a:extLst>
              <a:ext uri="{FF2B5EF4-FFF2-40B4-BE49-F238E27FC236}">
                <a16:creationId xmlns:a16="http://schemas.microsoft.com/office/drawing/2014/main" id="{9840BC72-9B79-57E7-B5E3-A751C7FD610B}"/>
              </a:ext>
            </a:extLst>
          </p:cNvPr>
          <p:cNvSpPr>
            <a:spLocks noGrp="1"/>
          </p:cNvSpPr>
          <p:nvPr/>
        </p:nvSpPr>
        <p:spPr>
          <a:xfrm>
            <a:off x="923722" y="23145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025" b="1">
                <a:solidFill>
                  <a:srgbClr val="237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7A3D"/>
                </a:solidFill>
                <a:latin typeface="Arial"/>
                <a:ea typeface="Arial"/>
                <a:cs typeface="Arial"/>
              </a:rPr>
              <a:t>✓  Correct syntax</a:t>
            </a:r>
          </a:p>
        </p:txBody>
      </p:sp>
      <p:sp>
        <p:nvSpPr>
          <p:cNvPr id="15" name="incorrect-heading">
            <a:extLst>
              <a:ext uri="{FF2B5EF4-FFF2-40B4-BE49-F238E27FC236}">
                <a16:creationId xmlns:a16="http://schemas.microsoft.com/office/drawing/2014/main" id="{22B96471-1A7E-DCB5-1A03-72581EFE8C25}"/>
              </a:ext>
            </a:extLst>
          </p:cNvPr>
          <p:cNvSpPr>
            <a:spLocks noGrp="1"/>
          </p:cNvSpPr>
          <p:nvPr/>
        </p:nvSpPr>
        <p:spPr>
          <a:xfrm>
            <a:off x="6552997" y="23145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025" b="1">
                <a:solidFill>
                  <a:srgbClr val="B33A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33A2F"/>
                </a:solidFill>
                <a:latin typeface="Arial"/>
                <a:ea typeface="Arial"/>
                <a:cs typeface="Arial"/>
              </a:rPr>
              <a:t>✕  Incorrect syntax</a:t>
            </a:r>
          </a:p>
        </p:txBody>
      </p:sp>
      <p:sp>
        <p:nvSpPr>
          <p:cNvPr id="16" name="correct-code-bg">
            <a:extLst>
              <a:ext uri="{FF2B5EF4-FFF2-40B4-BE49-F238E27FC236}">
                <a16:creationId xmlns:a16="http://schemas.microsoft.com/office/drawing/2014/main" id="{848566B7-981B-03AC-D391-870EE38016AD}"/>
              </a:ext>
            </a:extLst>
          </p:cNvPr>
          <p:cNvSpPr>
            <a:spLocks noGrp="1"/>
          </p:cNvSpPr>
          <p:nvPr/>
        </p:nvSpPr>
        <p:spPr>
          <a:xfrm>
            <a:off x="923722" y="2838450"/>
            <a:ext cx="4695825" cy="1219200"/>
          </a:xfrm>
          <a:prstGeom prst="roundRect">
            <a:avLst>
              <a:gd name="adj" fmla="val 6250"/>
            </a:avLst>
          </a:prstGeom>
          <a:noFill/>
          <a:ln w="14288">
            <a:solidFill>
              <a:srgbClr val="24212A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17" name="incorrect-code-bg">
            <a:extLst>
              <a:ext uri="{FF2B5EF4-FFF2-40B4-BE49-F238E27FC236}">
                <a16:creationId xmlns:a16="http://schemas.microsoft.com/office/drawing/2014/main" id="{13B3D7D2-0191-80FB-14D0-82B5BC29FD00}"/>
              </a:ext>
            </a:extLst>
          </p:cNvPr>
          <p:cNvSpPr>
            <a:spLocks noGrp="1"/>
          </p:cNvSpPr>
          <p:nvPr/>
        </p:nvSpPr>
        <p:spPr>
          <a:xfrm>
            <a:off x="6552997" y="2838450"/>
            <a:ext cx="4695825" cy="1219200"/>
          </a:xfrm>
          <a:prstGeom prst="roundRect">
            <a:avLst>
              <a:gd name="adj" fmla="val 6250"/>
            </a:avLst>
          </a:prstGeom>
          <a:noFill/>
          <a:ln w="14288">
            <a:solidFill>
              <a:srgbClr val="24212A"/>
            </a:solidFill>
            <a:prstDash val="solid"/>
          </a:ln>
        </p:spPr>
      </p:sp>
      <p:sp>
        <p:nvSpPr>
          <p:cNvPr id="18" name="correct-code">
            <a:extLst>
              <a:ext uri="{FF2B5EF4-FFF2-40B4-BE49-F238E27FC236}">
                <a16:creationId xmlns:a16="http://schemas.microsoft.com/office/drawing/2014/main" id="{53C8396B-2D1F-FB6D-D259-77B89127B28F}"/>
              </a:ext>
            </a:extLst>
          </p:cNvPr>
          <p:cNvSpPr>
            <a:spLocks noGrp="1"/>
          </p:cNvSpPr>
          <p:nvPr/>
        </p:nvSpPr>
        <p:spPr>
          <a:xfrm>
            <a:off x="1152322" y="2962275"/>
            <a:ext cx="423862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F7F3FB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 dirty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</a:rPr>
              <a:t>if x &gt; 5</a:t>
            </a:r>
            <a:r>
              <a:rPr lang="en-CN" sz="2000" b="0" dirty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</a:rPr>
              <a:t>:</a:t>
            </a:r>
            <a:endParaRPr lang="en-US" sz="2000" b="0" dirty="0">
              <a:solidFill>
                <a:schemeClr val="accent6">
                  <a:lumMod val="50000"/>
                </a:schemeClr>
              </a:solidFill>
              <a:latin typeface="Courier New"/>
              <a:ea typeface="Courier New"/>
              <a:cs typeface="Courier New"/>
            </a:endParaRPr>
          </a:p>
          <a:p>
            <a:pPr>
              <a:defRPr sz="1875" b="0">
                <a:solidFill>
                  <a:srgbClr val="F7F3FB"/>
                </a:solidFill>
                <a:latin typeface="Courier New"/>
                <a:ea typeface="Courier New"/>
                <a:cs typeface="Courier New"/>
              </a:defRPr>
            </a:pPr>
            <a:r>
              <a:rPr lang="en-CN" sz="2000" b="0" dirty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2000" b="0" dirty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</a:rPr>
              <a:t>print("Large")</a:t>
            </a:r>
          </a:p>
        </p:txBody>
      </p:sp>
      <p:sp>
        <p:nvSpPr>
          <p:cNvPr id="19" name="incorrect-code">
            <a:extLst>
              <a:ext uri="{FF2B5EF4-FFF2-40B4-BE49-F238E27FC236}">
                <a16:creationId xmlns:a16="http://schemas.microsoft.com/office/drawing/2014/main" id="{2A509AF3-DA66-517A-09D7-4C04DD6EAB08}"/>
              </a:ext>
            </a:extLst>
          </p:cNvPr>
          <p:cNvSpPr>
            <a:spLocks noGrp="1"/>
          </p:cNvSpPr>
          <p:nvPr/>
        </p:nvSpPr>
        <p:spPr>
          <a:xfrm>
            <a:off x="6781597" y="2962275"/>
            <a:ext cx="423862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F7F3FB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 dirty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</a:rPr>
              <a:t>if x &gt; 5</a:t>
            </a:r>
          </a:p>
          <a:p>
            <a:pPr algn="l">
              <a:defRPr sz="1875" b="0">
                <a:solidFill>
                  <a:srgbClr val="F7F3FB"/>
                </a:solidFill>
                <a:latin typeface="Courier New"/>
                <a:ea typeface="Courier New"/>
                <a:cs typeface="Courier New"/>
              </a:defRPr>
            </a:pPr>
            <a:r>
              <a:rPr lang="en-CN" sz="2000" dirty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</a:rPr>
              <a:t>P</a:t>
            </a:r>
            <a:r>
              <a:rPr sz="2000" b="0" dirty="0" err="1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</a:rPr>
              <a:t>rint</a:t>
            </a:r>
            <a:r>
              <a:rPr sz="2000" b="0" dirty="0">
                <a:solidFill>
                  <a:schemeClr val="accent6">
                    <a:lumMod val="50000"/>
                  </a:schemeClr>
                </a:solidFill>
                <a:latin typeface="Courier New"/>
                <a:ea typeface="Courier New"/>
                <a:cs typeface="Courier New"/>
              </a:rPr>
              <a:t>("Large")</a:t>
            </a:r>
          </a:p>
        </p:txBody>
      </p:sp>
      <p:sp>
        <p:nvSpPr>
          <p:cNvPr id="20" name="rules-heading">
            <a:extLst>
              <a:ext uri="{FF2B5EF4-FFF2-40B4-BE49-F238E27FC236}">
                <a16:creationId xmlns:a16="http://schemas.microsoft.com/office/drawing/2014/main" id="{B5A44524-AD6D-1202-9A7F-676C5D0ACFAE}"/>
              </a:ext>
            </a:extLst>
          </p:cNvPr>
          <p:cNvSpPr>
            <a:spLocks noGrp="1"/>
          </p:cNvSpPr>
          <p:nvPr/>
        </p:nvSpPr>
        <p:spPr>
          <a:xfrm>
            <a:off x="676072" y="4747531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5B2C83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5B2C83"/>
                </a:solidFill>
                <a:latin typeface="Arial"/>
                <a:ea typeface="Arial"/>
                <a:cs typeface="Arial"/>
              </a:rPr>
              <a:t>Three syntax rules in this example</a:t>
            </a:r>
          </a:p>
        </p:txBody>
      </p:sp>
      <p:sp>
        <p:nvSpPr>
          <p:cNvPr id="21" name="rule-num-0">
            <a:extLst>
              <a:ext uri="{FF2B5EF4-FFF2-40B4-BE49-F238E27FC236}">
                <a16:creationId xmlns:a16="http://schemas.microsoft.com/office/drawing/2014/main" id="{EEA83555-FB18-C3BF-2872-76FF2AAE2720}"/>
              </a:ext>
            </a:extLst>
          </p:cNvPr>
          <p:cNvSpPr>
            <a:spLocks noGrp="1"/>
          </p:cNvSpPr>
          <p:nvPr/>
        </p:nvSpPr>
        <p:spPr>
          <a:xfrm>
            <a:off x="676072" y="5391150"/>
            <a:ext cx="400050" cy="400050"/>
          </a:xfrm>
          <a:prstGeom prst="ellipse">
            <a:avLst/>
          </a:prstGeom>
          <a:solidFill>
            <a:srgbClr val="5B2C83"/>
          </a:solidFill>
          <a:ln w="0">
            <a:noFill/>
            <a:prstDash val="solid"/>
          </a:ln>
        </p:spPr>
      </p:sp>
      <p:sp>
        <p:nvSpPr>
          <p:cNvPr id="22" name="rule-number-0">
            <a:extLst>
              <a:ext uri="{FF2B5EF4-FFF2-40B4-BE49-F238E27FC236}">
                <a16:creationId xmlns:a16="http://schemas.microsoft.com/office/drawing/2014/main" id="{EE7927DB-E13B-C71F-D39B-092FF1D60BFC}"/>
              </a:ext>
            </a:extLst>
          </p:cNvPr>
          <p:cNvSpPr>
            <a:spLocks noGrp="1"/>
          </p:cNvSpPr>
          <p:nvPr/>
        </p:nvSpPr>
        <p:spPr>
          <a:xfrm>
            <a:off x="676072" y="5391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rule-title-0">
            <a:extLst>
              <a:ext uri="{FF2B5EF4-FFF2-40B4-BE49-F238E27FC236}">
                <a16:creationId xmlns:a16="http://schemas.microsoft.com/office/drawing/2014/main" id="{D07E332F-7B77-CFD1-D198-A5C3BAD3B871}"/>
              </a:ext>
            </a:extLst>
          </p:cNvPr>
          <p:cNvSpPr>
            <a:spLocks noGrp="1"/>
          </p:cNvSpPr>
          <p:nvPr/>
        </p:nvSpPr>
        <p:spPr>
          <a:xfrm>
            <a:off x="1209472" y="531495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151C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7151C"/>
                </a:solidFill>
                <a:latin typeface="Arial"/>
                <a:ea typeface="Arial"/>
                <a:cs typeface="Arial"/>
              </a:rPr>
              <a:t>Colon</a:t>
            </a:r>
          </a:p>
        </p:txBody>
      </p:sp>
      <p:sp>
        <p:nvSpPr>
          <p:cNvPr id="24" name="rule-text-0">
            <a:extLst>
              <a:ext uri="{FF2B5EF4-FFF2-40B4-BE49-F238E27FC236}">
                <a16:creationId xmlns:a16="http://schemas.microsoft.com/office/drawing/2014/main" id="{4FAC8FB3-2FEC-8035-28CD-05DF87D7BEBD}"/>
              </a:ext>
            </a:extLst>
          </p:cNvPr>
          <p:cNvSpPr>
            <a:spLocks noGrp="1"/>
          </p:cNvSpPr>
          <p:nvPr/>
        </p:nvSpPr>
        <p:spPr>
          <a:xfrm>
            <a:off x="1209472" y="5619750"/>
            <a:ext cx="2762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5460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595460"/>
                </a:solidFill>
                <a:latin typeface="Arial"/>
                <a:ea typeface="Arial"/>
                <a:cs typeface="Arial"/>
              </a:rPr>
              <a:t>Add : after the if condition</a:t>
            </a:r>
          </a:p>
        </p:txBody>
      </p:sp>
      <p:sp>
        <p:nvSpPr>
          <p:cNvPr id="25" name="rule-num-1">
            <a:extLst>
              <a:ext uri="{FF2B5EF4-FFF2-40B4-BE49-F238E27FC236}">
                <a16:creationId xmlns:a16="http://schemas.microsoft.com/office/drawing/2014/main" id="{3074FE8F-CE9B-CB03-1A67-FBA7B9C0EB43}"/>
              </a:ext>
            </a:extLst>
          </p:cNvPr>
          <p:cNvSpPr>
            <a:spLocks noGrp="1"/>
          </p:cNvSpPr>
          <p:nvPr/>
        </p:nvSpPr>
        <p:spPr>
          <a:xfrm>
            <a:off x="4276522" y="5391150"/>
            <a:ext cx="400050" cy="400050"/>
          </a:xfrm>
          <a:prstGeom prst="ellipse">
            <a:avLst/>
          </a:prstGeom>
          <a:solidFill>
            <a:srgbClr val="5B2C83"/>
          </a:solidFill>
          <a:ln w="0">
            <a:noFill/>
            <a:prstDash val="solid"/>
          </a:ln>
        </p:spPr>
      </p:sp>
      <p:sp>
        <p:nvSpPr>
          <p:cNvPr id="26" name="rule-number-1">
            <a:extLst>
              <a:ext uri="{FF2B5EF4-FFF2-40B4-BE49-F238E27FC236}">
                <a16:creationId xmlns:a16="http://schemas.microsoft.com/office/drawing/2014/main" id="{E6CD7A66-41C2-5B4A-FDF0-B250E099E288}"/>
              </a:ext>
            </a:extLst>
          </p:cNvPr>
          <p:cNvSpPr>
            <a:spLocks noGrp="1"/>
          </p:cNvSpPr>
          <p:nvPr/>
        </p:nvSpPr>
        <p:spPr>
          <a:xfrm>
            <a:off x="4276522" y="5391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rule-title-1">
            <a:extLst>
              <a:ext uri="{FF2B5EF4-FFF2-40B4-BE49-F238E27FC236}">
                <a16:creationId xmlns:a16="http://schemas.microsoft.com/office/drawing/2014/main" id="{CAC992CF-5918-2F30-FAAA-7387D7848107}"/>
              </a:ext>
            </a:extLst>
          </p:cNvPr>
          <p:cNvSpPr>
            <a:spLocks noGrp="1"/>
          </p:cNvSpPr>
          <p:nvPr/>
        </p:nvSpPr>
        <p:spPr>
          <a:xfrm>
            <a:off x="4676572" y="5325156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151C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7151C"/>
                </a:solidFill>
                <a:latin typeface="Arial"/>
                <a:ea typeface="Arial"/>
                <a:cs typeface="Arial"/>
              </a:rPr>
              <a:t>Indentation</a:t>
            </a:r>
          </a:p>
        </p:txBody>
      </p:sp>
      <p:sp>
        <p:nvSpPr>
          <p:cNvPr id="28" name="rule-text-1">
            <a:extLst>
              <a:ext uri="{FF2B5EF4-FFF2-40B4-BE49-F238E27FC236}">
                <a16:creationId xmlns:a16="http://schemas.microsoft.com/office/drawing/2014/main" id="{C811B27B-3DE5-B6E3-8E33-9B344B927D42}"/>
              </a:ext>
            </a:extLst>
          </p:cNvPr>
          <p:cNvSpPr>
            <a:spLocks noGrp="1"/>
          </p:cNvSpPr>
          <p:nvPr/>
        </p:nvSpPr>
        <p:spPr>
          <a:xfrm>
            <a:off x="4676774" y="5563962"/>
            <a:ext cx="325714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5460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595460"/>
                </a:solidFill>
                <a:latin typeface="Arial"/>
                <a:ea typeface="Arial"/>
                <a:cs typeface="Arial"/>
              </a:rPr>
              <a:t>Indent the code inside the if block</a:t>
            </a:r>
          </a:p>
        </p:txBody>
      </p:sp>
      <p:sp>
        <p:nvSpPr>
          <p:cNvPr id="29" name="rule-num-2">
            <a:extLst>
              <a:ext uri="{FF2B5EF4-FFF2-40B4-BE49-F238E27FC236}">
                <a16:creationId xmlns:a16="http://schemas.microsoft.com/office/drawing/2014/main" id="{F1073F27-4E7D-5D3E-5CBE-9F372A137ABE}"/>
              </a:ext>
            </a:extLst>
          </p:cNvPr>
          <p:cNvSpPr>
            <a:spLocks noGrp="1"/>
          </p:cNvSpPr>
          <p:nvPr/>
        </p:nvSpPr>
        <p:spPr>
          <a:xfrm>
            <a:off x="7876972" y="5391150"/>
            <a:ext cx="400050" cy="400050"/>
          </a:xfrm>
          <a:prstGeom prst="ellipse">
            <a:avLst/>
          </a:prstGeom>
          <a:solidFill>
            <a:srgbClr val="5B2C83"/>
          </a:solidFill>
          <a:ln w="0">
            <a:noFill/>
            <a:prstDash val="solid"/>
          </a:ln>
        </p:spPr>
      </p:sp>
      <p:sp>
        <p:nvSpPr>
          <p:cNvPr id="30" name="rule-number-2">
            <a:extLst>
              <a:ext uri="{FF2B5EF4-FFF2-40B4-BE49-F238E27FC236}">
                <a16:creationId xmlns:a16="http://schemas.microsoft.com/office/drawing/2014/main" id="{BAFF9274-12C4-372A-FA8A-4AABF52D4C5F}"/>
              </a:ext>
            </a:extLst>
          </p:cNvPr>
          <p:cNvSpPr>
            <a:spLocks noGrp="1"/>
          </p:cNvSpPr>
          <p:nvPr/>
        </p:nvSpPr>
        <p:spPr>
          <a:xfrm>
            <a:off x="7876972" y="5391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rule-title-2">
            <a:extLst>
              <a:ext uri="{FF2B5EF4-FFF2-40B4-BE49-F238E27FC236}">
                <a16:creationId xmlns:a16="http://schemas.microsoft.com/office/drawing/2014/main" id="{C928DBE9-0333-0617-A648-A389CAC231C2}"/>
              </a:ext>
            </a:extLst>
          </p:cNvPr>
          <p:cNvSpPr>
            <a:spLocks noGrp="1"/>
          </p:cNvSpPr>
          <p:nvPr/>
        </p:nvSpPr>
        <p:spPr>
          <a:xfrm>
            <a:off x="8410372" y="531495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151C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7151C"/>
                </a:solidFill>
                <a:latin typeface="Arial"/>
                <a:ea typeface="Arial"/>
                <a:cs typeface="Arial"/>
              </a:rPr>
              <a:t>Exact spelling</a:t>
            </a:r>
          </a:p>
        </p:txBody>
      </p:sp>
      <p:sp>
        <p:nvSpPr>
          <p:cNvPr id="32" name="rule-text-2">
            <a:extLst>
              <a:ext uri="{FF2B5EF4-FFF2-40B4-BE49-F238E27FC236}">
                <a16:creationId xmlns:a16="http://schemas.microsoft.com/office/drawing/2014/main" id="{7509C8E4-8C76-B4FC-BB9B-3B0B4F68069F}"/>
              </a:ext>
            </a:extLst>
          </p:cNvPr>
          <p:cNvSpPr>
            <a:spLocks noGrp="1"/>
          </p:cNvSpPr>
          <p:nvPr/>
        </p:nvSpPr>
        <p:spPr>
          <a:xfrm>
            <a:off x="8410371" y="5619750"/>
            <a:ext cx="3650999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95460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595460"/>
                </a:solidFill>
                <a:latin typeface="Arial"/>
                <a:ea typeface="Arial"/>
                <a:cs typeface="Arial"/>
              </a:rPr>
              <a:t>Python is case-sensitive: print ≠ Print</a:t>
            </a:r>
          </a:p>
        </p:txBody>
      </p:sp>
      <p:sp>
        <p:nvSpPr>
          <p:cNvPr id="33" name="analogy">
            <a:extLst>
              <a:ext uri="{FF2B5EF4-FFF2-40B4-BE49-F238E27FC236}">
                <a16:creationId xmlns:a16="http://schemas.microsoft.com/office/drawing/2014/main" id="{181C9821-FC6D-A7A8-D9EA-56219858D195}"/>
              </a:ext>
            </a:extLst>
          </p:cNvPr>
          <p:cNvSpPr>
            <a:spLocks noGrp="1"/>
          </p:cNvSpPr>
          <p:nvPr/>
        </p:nvSpPr>
        <p:spPr>
          <a:xfrm>
            <a:off x="1247572" y="6235632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5B2C83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5B2C83"/>
                </a:solidFill>
                <a:latin typeface="Arial"/>
                <a:ea typeface="Arial"/>
                <a:cs typeface="Arial"/>
              </a:rPr>
              <a:t>English has grammar. </a:t>
            </a:r>
            <a:r>
              <a:rPr lang="zh-CN" altLang="en-US" sz="1800" b="1" dirty="0">
                <a:solidFill>
                  <a:srgbClr val="5B2C8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>
                <a:solidFill>
                  <a:srgbClr val="5B2C83"/>
                </a:solidFill>
                <a:latin typeface="Arial"/>
                <a:ea typeface="Arial"/>
                <a:cs typeface="Arial"/>
              </a:rPr>
              <a:t>Python has syntax.</a:t>
            </a:r>
          </a:p>
        </p:txBody>
      </p:sp>
      <p:sp>
        <p:nvSpPr>
          <p:cNvPr id="34" name="page">
            <a:extLst>
              <a:ext uri="{FF2B5EF4-FFF2-40B4-BE49-F238E27FC236}">
                <a16:creationId xmlns:a16="http://schemas.microsoft.com/office/drawing/2014/main" id="{8AC3C01B-6EA1-1D03-A919-7FE50548A287}"/>
              </a:ext>
            </a:extLst>
          </p:cNvPr>
          <p:cNvSpPr>
            <a:spLocks noGrp="1"/>
          </p:cNvSpPr>
          <p:nvPr/>
        </p:nvSpPr>
        <p:spPr>
          <a:xfrm>
            <a:off x="11229772" y="658177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8A84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4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6D1C85F1-20DE-8235-A31A-81A22C1F7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3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6083536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B9D25-797C-71A9-FD09-C795106D8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78958-978D-8619-1175-57243460BE7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8946" y="889768"/>
            <a:ext cx="10406063" cy="2294320"/>
          </a:xfrm>
        </p:spPr>
        <p:txBody>
          <a:bodyPr/>
          <a:lstStyle/>
          <a:p>
            <a:r>
              <a:rPr lang="en-US" sz="2800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Programs manipulate </a:t>
            </a:r>
            <a:r>
              <a:rPr lang="en-US" sz="2800" dirty="0">
                <a:solidFill>
                  <a:srgbClr val="C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data objects</a:t>
            </a:r>
          </a:p>
          <a:p>
            <a:r>
              <a:rPr lang="en-US" sz="2800" dirty="0"/>
              <a:t>Objects have a type</a:t>
            </a:r>
            <a:r>
              <a:rPr lang="zh-CN" altLang="en-US" sz="2800" dirty="0"/>
              <a:t> </a:t>
            </a:r>
            <a:r>
              <a:rPr lang="en-US" sz="2800" dirty="0"/>
              <a:t>that defines the kinds of things programs</a:t>
            </a:r>
            <a:r>
              <a:rPr lang="zh-CN" altLang="en-US" sz="2800" dirty="0"/>
              <a:t> </a:t>
            </a:r>
            <a:r>
              <a:rPr lang="en-US" sz="2800" dirty="0"/>
              <a:t>can do to them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FC435-6E75-85DB-671C-ED8194DCF357}"/>
              </a:ext>
            </a:extLst>
          </p:cNvPr>
          <p:cNvSpPr txBox="1"/>
          <p:nvPr/>
        </p:nvSpPr>
        <p:spPr>
          <a:xfrm>
            <a:off x="1549101" y="2729753"/>
            <a:ext cx="2377440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marR="0" indent="-457200" algn="l" defTabSz="584200" rtl="0" fontAlgn="auto" latinLnBrk="0" hangingPunc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8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sym typeface="Helvetica Light"/>
              </a:rPr>
              <a:t>0</a:t>
            </a:r>
            <a:endParaRPr kumimoji="0" lang="en-CN" sz="2400" u="none" strike="noStrike" cap="none" spc="0" normalizeH="0" baseline="0" dirty="0" err="1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Helvetica Neue Light" panose="02000403000000020004" pitchFamily="2" charset="0"/>
              <a:ea typeface="Helvetica Neue Light" panose="02000403000000020004" pitchFamily="2" charset="0"/>
              <a:sym typeface="Helvetica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3C24BA-3312-A576-C6A1-1CF6D9B20DC4}"/>
              </a:ext>
            </a:extLst>
          </p:cNvPr>
          <p:cNvSpPr txBox="1"/>
          <p:nvPr/>
        </p:nvSpPr>
        <p:spPr>
          <a:xfrm>
            <a:off x="1362678" y="3242714"/>
            <a:ext cx="3046207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an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integer</a:t>
            </a:r>
            <a:endParaRPr lang="en-CN" sz="2400" dirty="0">
              <a:solidFill>
                <a:schemeClr val="accent6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9F31B-208D-F29F-39BD-21EA3F0A7A9F}"/>
              </a:ext>
            </a:extLst>
          </p:cNvPr>
          <p:cNvSpPr txBox="1"/>
          <p:nvPr/>
        </p:nvSpPr>
        <p:spPr>
          <a:xfrm>
            <a:off x="1847626" y="3710199"/>
            <a:ext cx="6099586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We can add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,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sub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,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mult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,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div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,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exp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,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etc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…</a:t>
            </a:r>
            <a:endParaRPr lang="en-US" sz="2400" dirty="0">
              <a:solidFill>
                <a:schemeClr val="accent6">
                  <a:lumMod val="75000"/>
                </a:schemeClr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D04DF6-E33B-3D2B-E27B-35CEAA11888F}"/>
              </a:ext>
            </a:extLst>
          </p:cNvPr>
          <p:cNvSpPr txBox="1"/>
          <p:nvPr/>
        </p:nvSpPr>
        <p:spPr>
          <a:xfrm>
            <a:off x="1549101" y="4498752"/>
            <a:ext cx="2377440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marR="0" indent="-457200" algn="l" defTabSz="584200" rtl="0" fontAlgn="auto" latinLnBrk="0" hangingPunc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“ICP”</a:t>
            </a:r>
            <a:endParaRPr kumimoji="0" lang="en-CN" sz="2400" u="none" strike="noStrike" cap="none" spc="0" normalizeH="0" baseline="0" dirty="0" err="1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Helvetica Neue Light" panose="02000403000000020004" pitchFamily="2" charset="0"/>
              <a:ea typeface="Helvetica Neue Light" panose="02000403000000020004" pitchFamily="2" charset="0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505121-9E2D-844E-CAE5-68D1E1CC4074}"/>
              </a:ext>
            </a:extLst>
          </p:cNvPr>
          <p:cNvSpPr txBox="1"/>
          <p:nvPr/>
        </p:nvSpPr>
        <p:spPr>
          <a:xfrm>
            <a:off x="1448741" y="5011713"/>
            <a:ext cx="6099586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string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(a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sequence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of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characters)</a:t>
            </a:r>
            <a:endParaRPr lang="en-CN" sz="2400" dirty="0">
              <a:solidFill>
                <a:schemeClr val="accent6">
                  <a:lumMod val="7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B27909-8FFF-C6D6-360F-43266AAE4898}"/>
              </a:ext>
            </a:extLst>
          </p:cNvPr>
          <p:cNvSpPr txBox="1"/>
          <p:nvPr/>
        </p:nvSpPr>
        <p:spPr>
          <a:xfrm>
            <a:off x="1836870" y="5488683"/>
            <a:ext cx="10168666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We can grab substrings, </a:t>
            </a:r>
            <a:r>
              <a:rPr lang="en-US" altLang="zh-CN" sz="2400" dirty="0" err="1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mult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,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add,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sz="2400" dirty="0" err="1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etc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…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but we can’t divide it by a number 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F4D00C3-0710-AE87-00A1-7F0F223C9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4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0745328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C1F3-7FF4-984C-5AC9-7B8720604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1704887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ED1B-6A39-1866-14DD-9916ECBD6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6F1B5-0B22-2FC4-CA9B-4425CD4A5F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2969" y="943733"/>
            <a:ext cx="10406063" cy="5338329"/>
          </a:xfrm>
        </p:spPr>
        <p:txBody>
          <a:bodyPr/>
          <a:lstStyle/>
          <a:p>
            <a:r>
              <a:rPr lang="en-US" dirty="0"/>
              <a:t>Today, we will go over the following 4 types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</a:t>
            </a:r>
            <a:r>
              <a:rPr lang="zh-CN" altLang="en-US" dirty="0"/>
              <a:t> </a:t>
            </a:r>
            <a:r>
              <a:rPr lang="en-US" altLang="zh-CN" dirty="0"/>
              <a:t>(string)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zh-CN" altLang="en-US" dirty="0">
                <a:latin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dirty="0"/>
              <a:t>(integer)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float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NoneType</a:t>
            </a:r>
            <a:endParaRPr lang="en-US" altLang="zh-CN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Bool</a:t>
            </a:r>
            <a:endParaRPr lang="en-CN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64182FEB-EE55-59A7-DABF-C64CC043B9FA}"/>
              </a:ext>
            </a:extLst>
          </p:cNvPr>
          <p:cNvSpPr/>
          <p:nvPr/>
        </p:nvSpPr>
        <p:spPr>
          <a:xfrm>
            <a:off x="4324576" y="2631263"/>
            <a:ext cx="451821" cy="981635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8ECFA-1C64-6CB9-F1FD-2ADF8784D73F}"/>
              </a:ext>
            </a:extLst>
          </p:cNvPr>
          <p:cNvSpPr txBox="1"/>
          <p:nvPr/>
        </p:nvSpPr>
        <p:spPr>
          <a:xfrm>
            <a:off x="4937678" y="2865599"/>
            <a:ext cx="2474258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800" dirty="0">
                <a:solidFill>
                  <a:srgbClr val="5F2A89"/>
                </a:solidFill>
              </a:rPr>
              <a:t>numeric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types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5C06-81F4-C141-E1C8-5F6A5B99D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6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446846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D7CF-B94E-7B29-9782-9BC79E923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endParaRPr lang="en-C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CAAB8F-95DE-583D-77C1-884E62622450}"/>
              </a:ext>
            </a:extLst>
          </p:cNvPr>
          <p:cNvGrpSpPr/>
          <p:nvPr/>
        </p:nvGrpSpPr>
        <p:grpSpPr>
          <a:xfrm>
            <a:off x="1010186" y="775463"/>
            <a:ext cx="10171627" cy="2450445"/>
            <a:chOff x="785177" y="1269282"/>
            <a:chExt cx="4315668" cy="245044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EECD82-EBD1-CD5A-BC46-88FD816B7A0F}"/>
                </a:ext>
              </a:extLst>
            </p:cNvPr>
            <p:cNvSpPr/>
            <p:nvPr/>
          </p:nvSpPr>
          <p:spPr>
            <a:xfrm>
              <a:off x="796901" y="1468575"/>
              <a:ext cx="4263687" cy="22511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5F2A89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63270C-8AB0-E05D-A689-B4EEBD24CA0F}"/>
                </a:ext>
              </a:extLst>
            </p:cNvPr>
            <p:cNvSpPr txBox="1"/>
            <p:nvPr/>
          </p:nvSpPr>
          <p:spPr>
            <a:xfrm>
              <a:off x="785177" y="1269282"/>
              <a:ext cx="4274634" cy="461665"/>
            </a:xfrm>
            <a:prstGeom prst="rect">
              <a:avLst/>
            </a:prstGeom>
            <a:gradFill>
              <a:gsLst>
                <a:gs pos="78985">
                  <a:srgbClr val="B295DD">
                    <a:alpha val="69017"/>
                  </a:srgbClr>
                </a:gs>
                <a:gs pos="55000">
                  <a:srgbClr val="C0A8E6">
                    <a:alpha val="61783"/>
                  </a:srgbClr>
                </a:gs>
                <a:gs pos="28000">
                  <a:srgbClr val="DACAF5">
                    <a:alpha val="65880"/>
                  </a:srgbClr>
                </a:gs>
                <a:gs pos="100000">
                  <a:srgbClr val="A685D6">
                    <a:alpha val="52296"/>
                  </a:srgbClr>
                </a:gs>
              </a:gsLst>
              <a:lin ang="10800000" scaled="0"/>
            </a:gradFill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What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string?</a:t>
              </a:r>
              <a:endParaRPr lang="en-CN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5981E5-817B-ABBA-64B9-4EC0CE6D24D0}"/>
                </a:ext>
              </a:extLst>
            </p:cNvPr>
            <p:cNvSpPr txBox="1"/>
            <p:nvPr/>
          </p:nvSpPr>
          <p:spPr>
            <a:xfrm>
              <a:off x="826211" y="1678988"/>
              <a:ext cx="4274634" cy="1959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3" indent="0" algn="l">
                <a:lnSpc>
                  <a:spcPct val="130000"/>
                </a:lnSpc>
                <a:buClr>
                  <a:srgbClr val="4A297B"/>
                </a:buClr>
              </a:pP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A string is a sequence of characters.</a:t>
              </a:r>
            </a:p>
            <a:p>
              <a:pPr marL="342900" lvl="2" indent="-342900" algn="l">
                <a:lnSpc>
                  <a:spcPct val="130000"/>
                </a:lnSpc>
                <a:buClr>
                  <a:srgbClr val="4A297B"/>
                </a:buClr>
                <a:buFont typeface="Wingdings" pitchFamily="2" charset="2"/>
                <a:buChar char="§"/>
              </a:pP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	any characters</a:t>
              </a:r>
            </a:p>
            <a:p>
              <a:pPr marL="342900" indent="-342900" algn="l">
                <a:lnSpc>
                  <a:spcPct val="130000"/>
                </a:lnSpc>
                <a:buClr>
                  <a:srgbClr val="4A297B"/>
                </a:buClr>
                <a:buFont typeface="Wingdings" pitchFamily="2" charset="2"/>
                <a:buChar char="§"/>
              </a:pP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	including spaces and punctuation</a:t>
              </a:r>
            </a:p>
            <a:p>
              <a:pPr marL="342900" indent="-342900" algn="l">
                <a:lnSpc>
                  <a:spcPct val="130000"/>
                </a:lnSpc>
                <a:buClr>
                  <a:srgbClr val="4A297B"/>
                </a:buClr>
                <a:buFont typeface="Wingdings" pitchFamily="2" charset="2"/>
                <a:buChar char="§"/>
              </a:pP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	must start and end with quotes! (string delimiters)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8589C20-6DC9-884B-8C64-7DB9A0255BBB}"/>
              </a:ext>
            </a:extLst>
          </p:cNvPr>
          <p:cNvGrpSpPr/>
          <p:nvPr/>
        </p:nvGrpSpPr>
        <p:grpSpPr>
          <a:xfrm>
            <a:off x="1037818" y="3425201"/>
            <a:ext cx="10171627" cy="2646216"/>
            <a:chOff x="785177" y="1269282"/>
            <a:chExt cx="4315668" cy="264621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501C50-5B21-B38B-8302-C8DA2ADC910A}"/>
                </a:ext>
              </a:extLst>
            </p:cNvPr>
            <p:cNvSpPr/>
            <p:nvPr/>
          </p:nvSpPr>
          <p:spPr>
            <a:xfrm>
              <a:off x="796901" y="1468574"/>
              <a:ext cx="4263687" cy="22587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5F2A89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B16EB6F-7AD8-6605-9761-D8355688AA80}"/>
                </a:ext>
              </a:extLst>
            </p:cNvPr>
            <p:cNvSpPr txBox="1"/>
            <p:nvPr/>
          </p:nvSpPr>
          <p:spPr>
            <a:xfrm>
              <a:off x="785177" y="1269282"/>
              <a:ext cx="4274634" cy="461665"/>
            </a:xfrm>
            <a:prstGeom prst="rect">
              <a:avLst/>
            </a:prstGeom>
            <a:gradFill>
              <a:gsLst>
                <a:gs pos="78985">
                  <a:srgbClr val="B295DD">
                    <a:alpha val="69017"/>
                  </a:srgbClr>
                </a:gs>
                <a:gs pos="55000">
                  <a:srgbClr val="C0A8E6">
                    <a:alpha val="61783"/>
                  </a:srgbClr>
                </a:gs>
                <a:gs pos="28000">
                  <a:srgbClr val="DACAF5">
                    <a:alpha val="65880"/>
                  </a:srgbClr>
                </a:gs>
                <a:gs pos="100000">
                  <a:srgbClr val="A685D6">
                    <a:alpha val="52296"/>
                  </a:srgbClr>
                </a:gs>
              </a:gsLst>
              <a:lin ang="10800000" scaled="0"/>
            </a:gradFill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 delimiters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D48A66-F116-6E35-3245-0D3B7B11BDA3}"/>
                </a:ext>
              </a:extLst>
            </p:cNvPr>
            <p:cNvSpPr txBox="1"/>
            <p:nvPr/>
          </p:nvSpPr>
          <p:spPr>
            <a:xfrm>
              <a:off x="826211" y="1678988"/>
              <a:ext cx="4274634" cy="223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342900" indent="-342900" algn="l">
                <a:lnSpc>
                  <a:spcPct val="130000"/>
                </a:lnSpc>
                <a:buClr>
                  <a:srgbClr val="4A297B"/>
                </a:buClr>
                <a:buFont typeface="Wingdings" pitchFamily="2" charset="2"/>
                <a:buChar char="§"/>
                <a:defRPr sz="240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defRPr>
              </a:lvl1pPr>
              <a:lvl3pPr marL="342900" lvl="2" indent="-342900" algn="l">
                <a:lnSpc>
                  <a:spcPct val="130000"/>
                </a:lnSpc>
                <a:buClr>
                  <a:srgbClr val="4A297B"/>
                </a:buClr>
                <a:buFont typeface="Wingdings" pitchFamily="2" charset="2"/>
                <a:buChar char="§"/>
                <a:defRPr sz="240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defRPr>
              </a:lvl3pPr>
              <a:lvl4pPr lvl="3" indent="0" algn="l">
                <a:lnSpc>
                  <a:spcPct val="130000"/>
                </a:lnSpc>
                <a:buClr>
                  <a:srgbClr val="4A297B"/>
                </a:buClr>
                <a:defRPr sz="240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defRPr>
              </a:lvl4pPr>
            </a:lstStyle>
            <a:p>
              <a:pPr marL="342900" lvl="3" indent="-342900">
                <a:buFont typeface="Wingdings" pitchFamily="2" charset="2"/>
                <a:buChar char="§"/>
              </a:pPr>
              <a:r>
                <a:rPr lang="en-US" altLang="zh-CN" dirty="0"/>
                <a:t>single quotes: 'I am a string'</a:t>
              </a:r>
            </a:p>
            <a:p>
              <a:pPr marL="342900" lvl="3" indent="-342900">
                <a:buFont typeface="Wingdings" pitchFamily="2" charset="2"/>
                <a:buChar char="§"/>
              </a:pPr>
              <a:r>
                <a:rPr lang="en-US" altLang="zh-CN" dirty="0"/>
                <a:t>double quotes "I'm a string"</a:t>
              </a:r>
            </a:p>
            <a:p>
              <a:pPr marL="342900" lvl="3" indent="-342900">
                <a:buFont typeface="Wingdings" pitchFamily="2" charset="2"/>
                <a:buChar char="§"/>
              </a:pPr>
              <a:r>
                <a:rPr lang="en-US" altLang="zh-CN" dirty="0"/>
                <a:t>triple single quotes: '''I am a string'''</a:t>
              </a:r>
            </a:p>
            <a:p>
              <a:pPr marL="342900" lvl="3" indent="-342900">
                <a:buFont typeface="Wingdings" pitchFamily="2" charset="2"/>
                <a:buChar char="§"/>
              </a:pPr>
              <a:r>
                <a:rPr lang="en-US" altLang="zh-CN" dirty="0"/>
                <a:t>triple double quotes: """I'm a string"""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FA407AE-C642-0B11-1C8E-15764FFEE939}"/>
              </a:ext>
            </a:extLst>
          </p:cNvPr>
          <p:cNvSpPr txBox="1"/>
          <p:nvPr/>
        </p:nvSpPr>
        <p:spPr>
          <a:xfrm>
            <a:off x="1106899" y="5968162"/>
            <a:ext cx="9863278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Triple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single/double quotes can be used for 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multiline strings</a:t>
            </a:r>
            <a:endParaRPr kumimoji="0" lang="en-CN" sz="2800" b="1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8538734-8C22-6FFC-4715-C1C87605A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7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0523650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3DF17-6EEB-71A9-2858-2406B5D49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Strings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E3E94-BCDE-02FC-3D84-5E925057F55C}"/>
              </a:ext>
            </a:extLst>
          </p:cNvPr>
          <p:cNvSpPr txBox="1"/>
          <p:nvPr/>
        </p:nvSpPr>
        <p:spPr>
          <a:xfrm>
            <a:off x="386715" y="840800"/>
            <a:ext cx="11418570" cy="5129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</a:t>
            </a:r>
            <a:r>
              <a:rPr kumimoji="0" lang="en-US" altLang="zh-CN" sz="280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/>
              </a:rPr>
              <a:t>xamples</a:t>
            </a:r>
            <a:endParaRPr kumimoji="0" lang="en-CN" sz="2800" i="0" u="none" strike="noStrike" cap="none" spc="0" normalizeH="0" baseline="0" dirty="0" err="1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Helvetica Light"/>
            </a:endParaRPr>
          </a:p>
        </p:txBody>
      </p:sp>
      <p:graphicFrame>
        <p:nvGraphicFramePr>
          <p:cNvPr id="5" name="Tableau 1">
            <a:extLst>
              <a:ext uri="{FF2B5EF4-FFF2-40B4-BE49-F238E27FC236}">
                <a16:creationId xmlns:a16="http://schemas.microsoft.com/office/drawing/2014/main" id="{9A2E2E3D-165D-D2B9-797C-DD37A0EFFE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1322804"/>
              </p:ext>
            </p:extLst>
          </p:nvPr>
        </p:nvGraphicFramePr>
        <p:xfrm>
          <a:off x="1990622" y="1654976"/>
          <a:ext cx="8399611" cy="3812100"/>
        </p:xfrm>
        <a:graphic>
          <a:graphicData uri="http://schemas.openxmlformats.org/drawingml/2006/table">
            <a:tbl>
              <a:tblPr bandRow="1"/>
              <a:tblGrid>
                <a:gridCol w="8399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850">
                <a:tc>
                  <a:txBody>
                    <a:bodyPr/>
                    <a:lstStyle/>
                    <a:p>
                      <a:pPr defTabSz="914400"/>
                      <a:r>
                        <a:rPr sz="2600" dirty="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'Single quoted string'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50">
                <a:tc>
                  <a:txBody>
                    <a:bodyPr/>
                    <a:lstStyle/>
                    <a:p>
                      <a:pPr defTabSz="914400"/>
                      <a:r>
                        <a:rPr sz="2600" dirty="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"Double quoted string"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50">
                <a:tc>
                  <a:txBody>
                    <a:bodyPr/>
                    <a:lstStyle/>
                    <a:p>
                      <a:pPr defTabSz="914400"/>
                      <a:r>
                        <a:rPr sz="26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'''First line
Second line'''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9417">
                <a:tc>
                  <a:txBody>
                    <a:bodyPr/>
                    <a:lstStyle/>
                    <a:p>
                      <a:pPr defTabSz="914400"/>
                      <a:r>
                        <a:rPr sz="2600" dirty="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"""First Line
Second Line
Third Line"""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70569-9B60-9E2E-2C57-678F9183FD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8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1080747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868DE1-D40D-8AB8-4A2C-050E8204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84832"/>
            <a:ext cx="10406063" cy="665262"/>
          </a:xfrm>
        </p:spPr>
        <p:txBody>
          <a:bodyPr/>
          <a:lstStyle/>
          <a:p>
            <a:r>
              <a:rPr lang="en-CN" dirty="0"/>
              <a:t>Strings</a:t>
            </a:r>
          </a:p>
        </p:txBody>
      </p:sp>
      <p:sp>
        <p:nvSpPr>
          <p:cNvPr id="6" name="When you define a string, you need to be careful with the starting and ending quotes.…">
            <a:extLst>
              <a:ext uri="{FF2B5EF4-FFF2-40B4-BE49-F238E27FC236}">
                <a16:creationId xmlns:a16="http://schemas.microsoft.com/office/drawing/2014/main" id="{AAF3FB3C-3F56-84EF-F465-4494349905B9}"/>
              </a:ext>
            </a:extLst>
          </p:cNvPr>
          <p:cNvSpPr txBox="1">
            <a:spLocks/>
          </p:cNvSpPr>
          <p:nvPr/>
        </p:nvSpPr>
        <p:spPr>
          <a:xfrm>
            <a:off x="641446" y="1592281"/>
            <a:ext cx="10815448" cy="2194411"/>
          </a:xfrm>
          <a:prstGeom prst="rect">
            <a:avLst/>
          </a:prstGeom>
        </p:spPr>
        <p:txBody>
          <a:bodyPr/>
          <a:lstStyle>
            <a:lvl1pPr marL="31252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8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2505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3758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5011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62640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87516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18769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0022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1275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dirty="0"/>
              <a:t>When you define a string, you need to be careful with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starting and ending quotes</a:t>
            </a:r>
            <a:r>
              <a:rPr lang="en-US" dirty="0"/>
              <a:t>.</a:t>
            </a:r>
          </a:p>
          <a:p>
            <a:r>
              <a:rPr lang="en-US" dirty="0"/>
              <a:t>An</a:t>
            </a:r>
            <a:r>
              <a:rPr lang="zh-CN" altLang="en-US" dirty="0"/>
              <a:t> </a:t>
            </a:r>
            <a:r>
              <a:rPr lang="en-US" dirty="0"/>
              <a:t>extra quote in the string will lead to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Syntax Error </a:t>
            </a:r>
            <a:r>
              <a:rPr lang="en-US" dirty="0"/>
              <a:t>since it is ambiguous which quote is the ending one. </a:t>
            </a:r>
          </a:p>
        </p:txBody>
      </p:sp>
      <p:sp>
        <p:nvSpPr>
          <p:cNvPr id="7" name="Unbalanced Quotes">
            <a:extLst>
              <a:ext uri="{FF2B5EF4-FFF2-40B4-BE49-F238E27FC236}">
                <a16:creationId xmlns:a16="http://schemas.microsoft.com/office/drawing/2014/main" id="{D32302C7-0AD9-7CF3-87ED-E218CBE78D9A}"/>
              </a:ext>
            </a:extLst>
          </p:cNvPr>
          <p:cNvSpPr txBox="1"/>
          <p:nvPr/>
        </p:nvSpPr>
        <p:spPr>
          <a:xfrm>
            <a:off x="641446" y="866523"/>
            <a:ext cx="10815448" cy="533479"/>
          </a:xfrm>
          <a:prstGeom prst="rect">
            <a:avLst/>
          </a:prstGeom>
          <a:solidFill>
            <a:srgbClr val="E9DCF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200">
                <a:solidFill>
                  <a:schemeClr val="accent6">
                    <a:lumOff val="-21524"/>
                  </a:schemeClr>
                </a:solidFill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r>
              <a:rPr sz="2800" dirty="0"/>
              <a:t>Unbalanced Quotes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17FD0E-91B2-ABC2-9F1D-2AE04C154EBF}"/>
              </a:ext>
            </a:extLst>
          </p:cNvPr>
          <p:cNvSpPr txBox="1"/>
          <p:nvPr/>
        </p:nvSpPr>
        <p:spPr>
          <a:xfrm>
            <a:off x="892969" y="3786692"/>
            <a:ext cx="2146151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Example: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779B7C-2B85-8650-FD02-50A709892E6A}"/>
              </a:ext>
            </a:extLst>
          </p:cNvPr>
          <p:cNvSpPr txBox="1"/>
          <p:nvPr/>
        </p:nvSpPr>
        <p:spPr>
          <a:xfrm>
            <a:off x="737580" y="4449762"/>
            <a:ext cx="10149841" cy="1292662"/>
          </a:xfrm>
          <a:prstGeom prst="rect">
            <a:avLst/>
          </a:prstGeom>
          <a:solidFill>
            <a:schemeClr val="tx2">
              <a:lumMod val="20000"/>
              <a:lumOff val="80000"/>
              <a:alpha val="50359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lvl="3" indent="685800" algn="l">
              <a:buSzTx/>
              <a:buFontTx/>
              <a:buNone/>
              <a:defRPr sz="2600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  <a:sym typeface="Menlo Regular"/>
              </a:rPr>
              <a:t>&gt;&gt;&gt;'I'm a string'</a:t>
            </a:r>
          </a:p>
          <a:p>
            <a:pPr marL="0" lvl="3" indent="685800" algn="l">
              <a:buSzTx/>
              <a:buFontTx/>
              <a:buNone/>
              <a:defRPr sz="2600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  <a:sym typeface="Menlo Regular"/>
              </a:rPr>
              <a:t>&gt;&gt;&gt;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  <a:sym typeface="Menlo Regular"/>
              </a:rPr>
              <a:t>SyntaxError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  <a:sym typeface="Menlo Regular"/>
              </a:rPr>
              <a:t>: unterminated string literal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  <a:sym typeface="Menlo Regular"/>
              </a:rPr>
            </a:br>
            <a:r>
              <a:rPr lang="zh-CN" altLang="en-US" dirty="0">
                <a:solidFill>
                  <a:schemeClr val="tx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  <a:sym typeface="Menlo Regular"/>
              </a:rPr>
              <a:t>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  <a:sym typeface="Menlo Regular"/>
              </a:rPr>
              <a:t> (detected at line 1)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2CA15BD-6DE5-E40C-D215-8ADC40072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9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78575102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5329433-C900-E60C-8B8E-D6D438BEE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84832"/>
            <a:ext cx="10406063" cy="665262"/>
          </a:xfrm>
        </p:spPr>
        <p:txBody>
          <a:bodyPr/>
          <a:lstStyle/>
          <a:p>
            <a:r>
              <a:rPr lang="en-CN" dirty="0"/>
              <a:t>Strings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1B9A3A-59ED-A77B-941C-4470AA2A3C0E}"/>
              </a:ext>
            </a:extLst>
          </p:cNvPr>
          <p:cNvGrpSpPr/>
          <p:nvPr/>
        </p:nvGrpSpPr>
        <p:grpSpPr>
          <a:xfrm>
            <a:off x="193193" y="750094"/>
            <a:ext cx="11643368" cy="2584777"/>
            <a:chOff x="785177" y="1269282"/>
            <a:chExt cx="4275411" cy="25847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1F3E53-D026-330A-F32C-F5266F794E20}"/>
                </a:ext>
              </a:extLst>
            </p:cNvPr>
            <p:cNvSpPr/>
            <p:nvPr/>
          </p:nvSpPr>
          <p:spPr>
            <a:xfrm>
              <a:off x="796901" y="1468574"/>
              <a:ext cx="4263687" cy="23854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5F2A89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E9F093-DA29-6747-7B6E-F1AE3BB5D4A3}"/>
                </a:ext>
              </a:extLst>
            </p:cNvPr>
            <p:cNvSpPr txBox="1"/>
            <p:nvPr/>
          </p:nvSpPr>
          <p:spPr>
            <a:xfrm>
              <a:off x="785177" y="1269282"/>
              <a:ext cx="4274634" cy="461665"/>
            </a:xfrm>
            <a:prstGeom prst="rect">
              <a:avLst/>
            </a:prstGeom>
            <a:gradFill>
              <a:gsLst>
                <a:gs pos="78985">
                  <a:srgbClr val="B295DD">
                    <a:alpha val="69017"/>
                  </a:srgbClr>
                </a:gs>
                <a:gs pos="55000">
                  <a:srgbClr val="C0A8E6">
                    <a:alpha val="61783"/>
                  </a:srgbClr>
                </a:gs>
                <a:gs pos="28000">
                  <a:srgbClr val="DACAF5">
                    <a:alpha val="65880"/>
                  </a:srgbClr>
                </a:gs>
                <a:gs pos="100000">
                  <a:srgbClr val="A685D6">
                    <a:alpha val="52296"/>
                  </a:srgbClr>
                </a:gs>
              </a:gsLst>
              <a:lin ang="10800000" scaled="0"/>
            </a:gradFill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Workaround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1: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Mixing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quotes</a:t>
              </a:r>
              <a:endParaRPr lang="en-CN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CF8B7FD-420D-C72E-5C7A-D494D5A192B4}"/>
                </a:ext>
              </a:extLst>
            </p:cNvPr>
            <p:cNvSpPr txBox="1"/>
            <p:nvPr/>
          </p:nvSpPr>
          <p:spPr>
            <a:xfrm>
              <a:off x="1082541" y="2656755"/>
              <a:ext cx="3695078" cy="934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  <a:buClr>
                  <a:srgbClr val="4A297B"/>
                </a:buClr>
              </a:pP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&gt;&gt;&gt;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'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Try 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"additional quote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'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endParaRPr lang="en-US" altLang="zh-CN" sz="24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  <a:p>
              <a:pPr algn="l">
                <a:lnSpc>
                  <a:spcPct val="120000"/>
                </a:lnSpc>
                <a:buClr>
                  <a:srgbClr val="4A297B"/>
                </a:buClr>
              </a:pP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&gt;&gt;&gt;	"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triple single '''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quotes "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D781AAA-5711-5EA3-DB76-84A2FDC03103}"/>
              </a:ext>
            </a:extLst>
          </p:cNvPr>
          <p:cNvSpPr txBox="1"/>
          <p:nvPr/>
        </p:nvSpPr>
        <p:spPr>
          <a:xfrm>
            <a:off x="455743" y="1208594"/>
            <a:ext cx="10578270" cy="9346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 algn="l">
              <a:lnSpc>
                <a:spcPct val="120000"/>
              </a:lnSpc>
              <a:buClr>
                <a:srgbClr val="4A297B"/>
              </a:buClr>
              <a:buFont typeface="Wingdings" pitchFamily="2" charset="2"/>
              <a:buChar char="§"/>
            </a:pPr>
            <a:r>
              <a:rPr lang="en-US" altLang="zh-CN" sz="24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If your string contains a particular quote, you have to choose another quote for string delimiters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FF85BA-9AB9-980E-D2F8-2DC7741D8987}"/>
              </a:ext>
            </a:extLst>
          </p:cNvPr>
          <p:cNvGrpSpPr/>
          <p:nvPr/>
        </p:nvGrpSpPr>
        <p:grpSpPr>
          <a:xfrm>
            <a:off x="193193" y="3534163"/>
            <a:ext cx="11643368" cy="2584777"/>
            <a:chOff x="785177" y="1269282"/>
            <a:chExt cx="4275411" cy="258477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3A08C8-B9AB-7A0C-1871-FA31956EE253}"/>
                </a:ext>
              </a:extLst>
            </p:cNvPr>
            <p:cNvSpPr/>
            <p:nvPr/>
          </p:nvSpPr>
          <p:spPr>
            <a:xfrm>
              <a:off x="796901" y="1468574"/>
              <a:ext cx="4263687" cy="23854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solidFill>
                  <a:srgbClr val="5F2A89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AE4D3A-733A-DE16-DD88-56E310B7AAE6}"/>
                </a:ext>
              </a:extLst>
            </p:cNvPr>
            <p:cNvSpPr txBox="1"/>
            <p:nvPr/>
          </p:nvSpPr>
          <p:spPr>
            <a:xfrm>
              <a:off x="785177" y="1269282"/>
              <a:ext cx="4274634" cy="461665"/>
            </a:xfrm>
            <a:prstGeom prst="rect">
              <a:avLst/>
            </a:prstGeom>
            <a:gradFill>
              <a:gsLst>
                <a:gs pos="78985">
                  <a:srgbClr val="B295DD">
                    <a:alpha val="69017"/>
                  </a:srgbClr>
                </a:gs>
                <a:gs pos="55000">
                  <a:srgbClr val="C0A8E6">
                    <a:alpha val="61783"/>
                  </a:srgbClr>
                </a:gs>
                <a:gs pos="28000">
                  <a:srgbClr val="DACAF5">
                    <a:alpha val="65880"/>
                  </a:srgbClr>
                </a:gs>
                <a:gs pos="100000">
                  <a:srgbClr val="A685D6">
                    <a:alpha val="52296"/>
                  </a:srgbClr>
                </a:gs>
              </a:gsLst>
              <a:lin ang="10800000" scaled="0"/>
            </a:gradFill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Workaround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2: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Escape sequence</a:t>
              </a:r>
              <a:endParaRPr lang="en-CN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7B175DC-7925-CFBF-C7AD-33F797010899}"/>
                </a:ext>
              </a:extLst>
            </p:cNvPr>
            <p:cNvSpPr txBox="1"/>
            <p:nvPr/>
          </p:nvSpPr>
          <p:spPr>
            <a:xfrm>
              <a:off x="1082541" y="2656755"/>
              <a:ext cx="3695078" cy="934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  <a:buClr>
                  <a:srgbClr val="4A297B"/>
                </a:buClr>
              </a:pP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&gt;&gt;&gt;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'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Try 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\'additional quote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'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endParaRPr lang="en-US" altLang="zh-CN" sz="24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  <a:p>
              <a:pPr algn="l">
                <a:lnSpc>
                  <a:spcPct val="120000"/>
                </a:lnSpc>
                <a:buClr>
                  <a:srgbClr val="4A297B"/>
                </a:buClr>
              </a:pP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&gt;&gt;&gt;	'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triple single \'\'\'</a:t>
              </a:r>
              <a:r>
                <a:rPr lang="zh-CN" altLang="en-US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 </a:t>
              </a: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quotes '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2DBDD1E-F2C9-B7DD-F3F6-A8CE4E0FC94F}"/>
              </a:ext>
            </a:extLst>
          </p:cNvPr>
          <p:cNvSpPr txBox="1"/>
          <p:nvPr/>
        </p:nvSpPr>
        <p:spPr>
          <a:xfrm>
            <a:off x="443075" y="3995828"/>
            <a:ext cx="11305850" cy="10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lnSpc>
                <a:spcPct val="120000"/>
              </a:lnSpc>
              <a:buClr>
                <a:srgbClr val="4A297B"/>
              </a:buClr>
              <a:defRPr sz="240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marL="342900" lvl="1" indent="-342900" algn="l">
              <a:buFont typeface="Wingdings" pitchFamily="2" charset="2"/>
              <a:buChar char="§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Escape sequence can be used to obtain quote character in a string </a:t>
            </a:r>
          </a:p>
          <a:p>
            <a:pPr marL="342900" lvl="1" indent="-342900" algn="l">
              <a:buFont typeface="Wingdings" pitchFamily="2" charset="2"/>
              <a:buChar char="§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Escape sequence starts with a backslash symbol </a:t>
            </a:r>
            <a:r>
              <a:rPr lang="en-US" sz="2400" dirty="0">
                <a:solidFill>
                  <a:srgbClr val="C00000"/>
                </a:solidFill>
              </a:rPr>
              <a:t>\ </a:t>
            </a:r>
          </a:p>
          <a:p>
            <a:pPr marL="285750" indent="-285750">
              <a:buFont typeface="Wingdings" pitchFamily="2" charset="2"/>
              <a:buChar char="§"/>
            </a:pPr>
            <a:endParaRPr lang="en-CN" sz="1600" dirty="0" err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84A6A00-861B-EEA9-6A66-F433CFD91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10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306608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cape Sequence">
            <a:extLst>
              <a:ext uri="{FF2B5EF4-FFF2-40B4-BE49-F238E27FC236}">
                <a16:creationId xmlns:a16="http://schemas.microsoft.com/office/drawing/2014/main" id="{76740D64-3493-BCE3-991B-428FD371BF24}"/>
              </a:ext>
            </a:extLst>
          </p:cNvPr>
          <p:cNvSpPr txBox="1"/>
          <p:nvPr/>
        </p:nvSpPr>
        <p:spPr>
          <a:xfrm>
            <a:off x="858647" y="780872"/>
            <a:ext cx="10474706" cy="533479"/>
          </a:xfrm>
          <a:prstGeom prst="rect">
            <a:avLst/>
          </a:prstGeom>
          <a:solidFill>
            <a:srgbClr val="E9DCF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chemeClr val="accent6">
                    <a:lumOff val="-21524"/>
                  </a:schemeClr>
                </a:solidFill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r>
              <a:rPr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Escape Sequence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0B74BA-B3F6-D91E-E112-6C80879F7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9" y="84832"/>
            <a:ext cx="10406063" cy="665262"/>
          </a:xfrm>
        </p:spPr>
        <p:txBody>
          <a:bodyPr/>
          <a:lstStyle/>
          <a:p>
            <a:r>
              <a:rPr lang="en-CN" dirty="0"/>
              <a:t>Strings</a:t>
            </a:r>
          </a:p>
        </p:txBody>
      </p:sp>
      <p:graphicFrame>
        <p:nvGraphicFramePr>
          <p:cNvPr id="10" name="Tableau 1">
            <a:extLst>
              <a:ext uri="{FF2B5EF4-FFF2-40B4-BE49-F238E27FC236}">
                <a16:creationId xmlns:a16="http://schemas.microsoft.com/office/drawing/2014/main" id="{B0DE2131-443A-927C-511A-8CC815304D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4364425"/>
              </p:ext>
            </p:extLst>
          </p:nvPr>
        </p:nvGraphicFramePr>
        <p:xfrm>
          <a:off x="858647" y="1452282"/>
          <a:ext cx="10474705" cy="4109420"/>
        </p:xfrm>
        <a:graphic>
          <a:graphicData uri="http://schemas.openxmlformats.org/drawingml/2006/table">
            <a:tbl>
              <a:tblPr bandRow="1"/>
              <a:tblGrid>
                <a:gridCol w="3192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2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1884">
                <a:tc>
                  <a:txBody>
                    <a:bodyPr/>
                    <a:lstStyle/>
                    <a:p>
                      <a:pPr defTabSz="914400"/>
                      <a:r>
                        <a:rPr sz="2400" b="0" i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Helvetica Neue Light" panose="02000403000000020004" pitchFamily="2" charset="0"/>
                          <a:cs typeface="Courier New" panose="02070309020205020404" pitchFamily="49" charset="0"/>
                          <a:sym typeface="Menlo Regular"/>
                        </a:rPr>
                        <a:t>\\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  <a:cs typeface="Helvetica Neue" panose="02000503000000020004" pitchFamily="2" charset="0"/>
                          <a:sym typeface="Avenir Book"/>
                        </a:rPr>
                        <a:t>Backslash (\) 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884">
                <a:tc>
                  <a:txBody>
                    <a:bodyPr/>
                    <a:lstStyle/>
                    <a:p>
                      <a:pPr defTabSz="914400"/>
                      <a:r>
                        <a:rPr sz="2400" b="0" i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Helvetica Neue Light" panose="02000403000000020004" pitchFamily="2" charset="0"/>
                          <a:cs typeface="Courier New" panose="02070309020205020404" pitchFamily="49" charset="0"/>
                          <a:sym typeface="Menlo Regular"/>
                        </a:rPr>
                        <a:t>\'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  <a:cs typeface="Helvetica Neue" panose="02000503000000020004" pitchFamily="2" charset="0"/>
                          <a:sym typeface="Avenir Book"/>
                        </a:rPr>
                        <a:t>Single quote (') 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884">
                <a:tc>
                  <a:txBody>
                    <a:bodyPr/>
                    <a:lstStyle/>
                    <a:p>
                      <a:pPr defTabSz="914400"/>
                      <a:r>
                        <a:rPr sz="2400" b="0" i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Helvetica Neue Light" panose="02000403000000020004" pitchFamily="2" charset="0"/>
                          <a:cs typeface="Courier New" panose="02070309020205020404" pitchFamily="49" charset="0"/>
                          <a:sym typeface="Menlo Regular"/>
                        </a:rPr>
                        <a:t>\"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400" b="0" i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  <a:cs typeface="Helvetica Neue" panose="02000503000000020004" pitchFamily="2" charset="0"/>
                          <a:sym typeface="Avenir Book"/>
                        </a:rPr>
                        <a:t>Double quote (") 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884">
                <a:tc>
                  <a:txBody>
                    <a:bodyPr/>
                    <a:lstStyle/>
                    <a:p>
                      <a:pPr defTabSz="914400"/>
                      <a:r>
                        <a:rPr sz="2400" b="0" i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Helvetica Neue Light" panose="02000403000000020004" pitchFamily="2" charset="0"/>
                          <a:cs typeface="Courier New" panose="02070309020205020404" pitchFamily="49" charset="0"/>
                          <a:sym typeface="Menlo Regular"/>
                        </a:rPr>
                        <a:t>\n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  <a:cs typeface="Helvetica Neue" panose="02000503000000020004" pitchFamily="2" charset="0"/>
                          <a:sym typeface="Avenir Book"/>
                        </a:rPr>
                        <a:t>ASCII Linefeed (LF)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884">
                <a:tc>
                  <a:txBody>
                    <a:bodyPr/>
                    <a:lstStyle/>
                    <a:p>
                      <a:pPr defTabSz="914400"/>
                      <a:r>
                        <a:rPr sz="2400" b="0" i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ea typeface="Helvetica Neue Light" panose="02000403000000020004" pitchFamily="2" charset="0"/>
                          <a:cs typeface="Courier New" panose="02070309020205020404" pitchFamily="49" charset="0"/>
                          <a:sym typeface="Menlo Regular"/>
                        </a:rPr>
                        <a:t>\t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  <a:cs typeface="Helvetica Neue" panose="02000503000000020004" pitchFamily="2" charset="0"/>
                          <a:sym typeface="Avenir Book"/>
                        </a:rPr>
                        <a:t>ASCII Horizontal Tab (TAB) 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B941C7E-587C-0908-0EB3-F7DA26173D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11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84425161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5EA2-CA97-99E4-8809-203B29E8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Numeric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endParaRPr lang="en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B2A472-1A18-47CB-EE37-88429CF16027}"/>
              </a:ext>
            </a:extLst>
          </p:cNvPr>
          <p:cNvGrpSpPr/>
          <p:nvPr/>
        </p:nvGrpSpPr>
        <p:grpSpPr>
          <a:xfrm>
            <a:off x="177229" y="840007"/>
            <a:ext cx="5826413" cy="3699720"/>
            <a:chOff x="785177" y="1269282"/>
            <a:chExt cx="4315668" cy="369972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A12753-8F37-2A0F-B5C0-05EA045AD95F}"/>
                </a:ext>
              </a:extLst>
            </p:cNvPr>
            <p:cNvSpPr/>
            <p:nvPr/>
          </p:nvSpPr>
          <p:spPr>
            <a:xfrm>
              <a:off x="796901" y="1468574"/>
              <a:ext cx="4263687" cy="35004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5F2A89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6C41511-CB5B-BE2A-764A-7C9E96C124BE}"/>
                </a:ext>
              </a:extLst>
            </p:cNvPr>
            <p:cNvSpPr txBox="1"/>
            <p:nvPr/>
          </p:nvSpPr>
          <p:spPr>
            <a:xfrm>
              <a:off x="785177" y="1269282"/>
              <a:ext cx="4274634" cy="461665"/>
            </a:xfrm>
            <a:prstGeom prst="rect">
              <a:avLst/>
            </a:prstGeom>
            <a:gradFill>
              <a:gsLst>
                <a:gs pos="78985">
                  <a:srgbClr val="B295DD">
                    <a:alpha val="69017"/>
                  </a:srgbClr>
                </a:gs>
                <a:gs pos="55000">
                  <a:srgbClr val="C0A8E6">
                    <a:alpha val="61783"/>
                  </a:srgbClr>
                </a:gs>
                <a:gs pos="28000">
                  <a:srgbClr val="DACAF5">
                    <a:alpha val="65880"/>
                  </a:srgbClr>
                </a:gs>
                <a:gs pos="100000">
                  <a:srgbClr val="A685D6">
                    <a:alpha val="52296"/>
                  </a:srgbClr>
                </a:gs>
              </a:gsLst>
              <a:lin ang="10800000" scaled="0"/>
            </a:gradFill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(integer)</a:t>
              </a:r>
              <a:endParaRPr lang="en-CN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91294B-3B9A-3BE8-9D5D-D76DDF934A36}"/>
                </a:ext>
              </a:extLst>
            </p:cNvPr>
            <p:cNvSpPr txBox="1"/>
            <p:nvPr/>
          </p:nvSpPr>
          <p:spPr>
            <a:xfrm>
              <a:off x="826211" y="1678988"/>
              <a:ext cx="4274634" cy="155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l">
                <a:lnSpc>
                  <a:spcPct val="120000"/>
                </a:lnSpc>
                <a:spcAft>
                  <a:spcPts val="1200"/>
                </a:spcAft>
                <a:buClr>
                  <a:srgbClr val="4A297B"/>
                </a:buClr>
                <a:buFont typeface="Wingdings" pitchFamily="2" charset="2"/>
                <a:buChar char="§"/>
              </a:pP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whole number, can be negative </a:t>
              </a:r>
            </a:p>
            <a:p>
              <a:pPr marL="342900" indent="-342900" algn="l">
                <a:lnSpc>
                  <a:spcPct val="120000"/>
                </a:lnSpc>
                <a:spcAft>
                  <a:spcPts val="1200"/>
                </a:spcAft>
                <a:buClr>
                  <a:srgbClr val="4A297B"/>
                </a:buClr>
                <a:buFont typeface="Wingdings" pitchFamily="2" charset="2"/>
                <a:buChar char="§"/>
              </a:pPr>
              <a:r>
                <a:rPr lang="en-US" altLang="zh-CN" sz="2400" dirty="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No size limit (as much as your computer can handle)!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B758173-7D1B-7850-AA1C-3D7334146B0B}"/>
              </a:ext>
            </a:extLst>
          </p:cNvPr>
          <p:cNvGrpSpPr/>
          <p:nvPr/>
        </p:nvGrpSpPr>
        <p:grpSpPr>
          <a:xfrm>
            <a:off x="6043212" y="840007"/>
            <a:ext cx="6148788" cy="3699720"/>
            <a:chOff x="785177" y="1269282"/>
            <a:chExt cx="4315668" cy="367376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489960-473B-4494-DCF7-5CFEC5029550}"/>
                </a:ext>
              </a:extLst>
            </p:cNvPr>
            <p:cNvSpPr/>
            <p:nvPr/>
          </p:nvSpPr>
          <p:spPr>
            <a:xfrm>
              <a:off x="796901" y="1468574"/>
              <a:ext cx="4263687" cy="34744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rgbClr val="5F2A89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CC54231-B9C6-7C21-5B31-B31BD99C76D4}"/>
                </a:ext>
              </a:extLst>
            </p:cNvPr>
            <p:cNvSpPr txBox="1"/>
            <p:nvPr/>
          </p:nvSpPr>
          <p:spPr>
            <a:xfrm>
              <a:off x="785177" y="1269282"/>
              <a:ext cx="4274634" cy="461665"/>
            </a:xfrm>
            <a:prstGeom prst="rect">
              <a:avLst/>
            </a:prstGeom>
            <a:gradFill>
              <a:gsLst>
                <a:gs pos="78985">
                  <a:srgbClr val="B295DD">
                    <a:alpha val="69017"/>
                  </a:srgbClr>
                </a:gs>
                <a:gs pos="55000">
                  <a:srgbClr val="C0A8E6">
                    <a:alpha val="61783"/>
                  </a:srgbClr>
                </a:gs>
                <a:gs pos="28000">
                  <a:srgbClr val="DACAF5">
                    <a:alpha val="65880"/>
                  </a:srgbClr>
                </a:gs>
                <a:gs pos="100000">
                  <a:srgbClr val="A685D6">
                    <a:alpha val="52296"/>
                  </a:srgbClr>
                </a:gs>
              </a:gsLst>
              <a:lin ang="10800000" scaled="0"/>
            </a:gradFill>
          </p:spPr>
          <p:txBody>
            <a:bodyPr wrap="square" rtlCol="0">
              <a:spAutoFit/>
            </a:bodyPr>
            <a:lstStyle/>
            <a:p>
              <a:pPr algn="l"/>
              <a:r>
                <a:rPr lang="en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r>
                <a:rPr lang="en-US" altLang="zh-CN" sz="2400" b="1" dirty="0" err="1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loat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(floating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point)</a:t>
              </a:r>
              <a:endParaRPr lang="en-CN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4B52842-EFEB-DB9E-9C19-47606BC5D18F}"/>
                </a:ext>
              </a:extLst>
            </p:cNvPr>
            <p:cNvSpPr txBox="1"/>
            <p:nvPr/>
          </p:nvSpPr>
          <p:spPr>
            <a:xfrm>
              <a:off x="826211" y="1678988"/>
              <a:ext cx="4274634" cy="1974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342900" indent="-342900" algn="l">
                <a:lnSpc>
                  <a:spcPct val="120000"/>
                </a:lnSpc>
                <a:spcAft>
                  <a:spcPts val="1200"/>
                </a:spcAft>
                <a:buClr>
                  <a:srgbClr val="4A297B"/>
                </a:buClr>
                <a:buFont typeface="Wingdings" pitchFamily="2" charset="2"/>
                <a:buChar char="§"/>
                <a:defRPr sz="2400">
                  <a:solidFill>
                    <a:srgbClr val="5F2A89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</a:defRPr>
              </a:lvl1pPr>
            </a:lstStyle>
            <a:p>
              <a:r>
                <a:rPr lang="en-US" altLang="zh-CN" dirty="0"/>
                <a:t>A floating point number represents a decimal fraction</a:t>
              </a:r>
            </a:p>
            <a:p>
              <a:r>
                <a:rPr lang="en-US" altLang="zh-CN" dirty="0"/>
                <a:t>It differs from integer with the presence of a decimal point 	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0957735-CCE0-702D-679A-6069CA378F15}"/>
              </a:ext>
            </a:extLst>
          </p:cNvPr>
          <p:cNvSpPr txBox="1"/>
          <p:nvPr/>
        </p:nvSpPr>
        <p:spPr>
          <a:xfrm>
            <a:off x="236096" y="3052565"/>
            <a:ext cx="6132429" cy="1359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1219" lvl="1" indent="-435609" algn="l" defTabSz="572516">
              <a:spcBef>
                <a:spcPts val="1100"/>
              </a:spcBef>
              <a:defRPr sz="2744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US" altLang="zh-CN" sz="24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Example:</a:t>
            </a:r>
          </a:p>
          <a:p>
            <a:pPr marL="871219" lvl="1" indent="-435609" algn="l" defTabSz="572516">
              <a:spcBef>
                <a:spcPts val="1100"/>
              </a:spcBef>
              <a:defRPr sz="2744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CN" sz="2000" dirty="0">
                <a:solidFill>
                  <a:schemeClr val="accent6">
                    <a:lumMod val="50000"/>
                  </a:schemeClr>
                </a:solidFill>
              </a:rPr>
              <a:t>24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              </a:t>
            </a:r>
            <a:r>
              <a:rPr lang="en-CN" sz="2000" dirty="0">
                <a:solidFill>
                  <a:schemeClr val="accent6">
                    <a:lumMod val="50000"/>
                  </a:schemeClr>
                </a:solidFill>
              </a:rPr>
              <a:t>-61 </a:t>
            </a:r>
          </a:p>
          <a:p>
            <a:pPr marL="871219" lvl="1" indent="-435609" algn="l" defTabSz="572516">
              <a:spcBef>
                <a:spcPts val="1100"/>
              </a:spcBef>
              <a:defRPr sz="2744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CN" sz="2000" dirty="0">
                <a:solidFill>
                  <a:schemeClr val="accent6">
                    <a:lumMod val="50000"/>
                  </a:schemeClr>
                </a:solidFill>
              </a:rPr>
              <a:t>16 * 88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         </a:t>
            </a:r>
            <a:r>
              <a:rPr lang="en-CN" sz="2000" dirty="0">
                <a:solidFill>
                  <a:schemeClr val="accent6">
                    <a:lumMod val="50000"/>
                  </a:schemeClr>
                </a:solidFill>
              </a:rPr>
              <a:t>1337 ** 20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9B4D37-54B4-D452-DDCB-F9C7E1B1F16C}"/>
              </a:ext>
            </a:extLst>
          </p:cNvPr>
          <p:cNvSpPr txBox="1"/>
          <p:nvPr/>
        </p:nvSpPr>
        <p:spPr>
          <a:xfrm>
            <a:off x="6043212" y="3350470"/>
            <a:ext cx="6132429" cy="1309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1219" lvl="1" indent="-435609" algn="l" defTabSz="572516">
              <a:spcBef>
                <a:spcPts val="1100"/>
              </a:spcBef>
              <a:defRPr sz="2744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US" altLang="zh-CN" sz="24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Example:</a:t>
            </a:r>
          </a:p>
          <a:p>
            <a:pPr marL="853439" lvl="1" indent="-426719" algn="l" defTabSz="560831">
              <a:spcBef>
                <a:spcPts val="1100"/>
              </a:spcBef>
              <a:defRPr sz="2688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US" sz="2000" dirty="0"/>
              <a:t>-5.5555		</a:t>
            </a:r>
            <a:r>
              <a:rPr lang="zh-CN" altLang="en-US" sz="2000" dirty="0">
                <a:latin typeface="Avenir Book"/>
                <a:ea typeface="Avenir Book"/>
                <a:cs typeface="Avenir Book"/>
                <a:sym typeface="Avenir Book"/>
              </a:rPr>
              <a:t>  </a:t>
            </a:r>
            <a:r>
              <a:rPr lang="en-US" sz="2000" dirty="0"/>
              <a:t>14.0</a:t>
            </a:r>
            <a:r>
              <a:rPr lang="en-US" sz="2000" dirty="0">
                <a:latin typeface="Avenir Book"/>
                <a:ea typeface="Avenir Book"/>
                <a:cs typeface="Avenir Book"/>
                <a:sym typeface="Avenir Book"/>
              </a:rPr>
              <a:t> 		</a:t>
            </a:r>
            <a:r>
              <a:rPr lang="zh-CN" altLang="en-US" sz="2000" dirty="0">
                <a:latin typeface="Avenir Book"/>
                <a:ea typeface="Avenir Book"/>
                <a:cs typeface="Avenir Book"/>
                <a:sym typeface="Avenir Book"/>
              </a:rPr>
              <a:t> </a:t>
            </a:r>
            <a:r>
              <a:rPr lang="en-US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 Book"/>
              </a:rPr>
              <a:t>1.2</a:t>
            </a:r>
            <a:r>
              <a:rPr lang="zh-CN" altLang="en-US" sz="2000" dirty="0">
                <a:latin typeface="Menlo" panose="020B0609030804020204" pitchFamily="49" charset="0"/>
                <a:cs typeface="Menlo" panose="020B0609030804020204" pitchFamily="49" charset="0"/>
                <a:sym typeface="Avenir Book"/>
              </a:rPr>
              <a:t> * </a:t>
            </a:r>
            <a:r>
              <a:rPr lang="en-US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 Book"/>
              </a:rPr>
              <a:t>10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 Book"/>
              </a:rPr>
              <a:t>	</a:t>
            </a:r>
            <a:r>
              <a:rPr lang="zh-CN" altLang="en-US" sz="2000" dirty="0">
                <a:latin typeface="Menlo" panose="020B0609030804020204" pitchFamily="49" charset="0"/>
                <a:ea typeface="Avenir Book"/>
                <a:cs typeface="Menlo" panose="020B0609030804020204" pitchFamily="49" charset="0"/>
                <a:sym typeface="Avenir Book"/>
              </a:rPr>
              <a:t> 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Avenir Book"/>
            </a:endParaRPr>
          </a:p>
          <a:p>
            <a:pPr algn="l">
              <a:lnSpc>
                <a:spcPct val="120000"/>
              </a:lnSpc>
              <a:spcAft>
                <a:spcPts val="1200"/>
              </a:spcAft>
              <a:buClr>
                <a:srgbClr val="4A297B"/>
              </a:buClr>
            </a:pPr>
            <a:endParaRPr lang="en-US" altLang="zh-CN" sz="2400" dirty="0">
              <a:solidFill>
                <a:srgbClr val="5F2A89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CB8DA-4175-425D-05B1-C7736A581708}"/>
              </a:ext>
            </a:extLst>
          </p:cNvPr>
          <p:cNvSpPr txBox="1"/>
          <p:nvPr/>
        </p:nvSpPr>
        <p:spPr>
          <a:xfrm>
            <a:off x="177229" y="4522680"/>
            <a:ext cx="11742244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Scientific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notation: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y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ou can input float numbers using scientific notation </a:t>
            </a:r>
            <a:br>
              <a:rPr lang="en-US" sz="28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</a:b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                            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using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Avenir Book Oblique"/>
              </a:rPr>
              <a:t>e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for decimal exponentiation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802685-BF2E-105D-959E-2AC91D744645}"/>
              </a:ext>
            </a:extLst>
          </p:cNvPr>
          <p:cNvSpPr txBox="1"/>
          <p:nvPr/>
        </p:nvSpPr>
        <p:spPr>
          <a:xfrm>
            <a:off x="2985793" y="5584121"/>
            <a:ext cx="8882165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1" algn="l">
              <a:defRPr sz="28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2e+3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venir Book"/>
                <a:ea typeface="Avenir Book"/>
                <a:cs typeface="Avenir Book"/>
                <a:sym typeface="Avenir Book"/>
              </a:rPr>
              <a:t> 				is 2*10</a:t>
            </a:r>
            <a:r>
              <a:rPr lang="en-US" sz="2000" baseline="31999" dirty="0">
                <a:solidFill>
                  <a:schemeClr val="accent6">
                    <a:lumMod val="75000"/>
                  </a:schemeClr>
                </a:solidFill>
                <a:latin typeface="Avenir Book"/>
                <a:ea typeface="Avenir Book"/>
                <a:cs typeface="Avenir Book"/>
                <a:sym typeface="Avenir Book"/>
              </a:rPr>
              <a:t>3</a:t>
            </a:r>
          </a:p>
          <a:p>
            <a:pPr lvl="1" algn="l">
              <a:defRPr sz="28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4e-5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venir Book"/>
                <a:ea typeface="Avenir Book"/>
                <a:cs typeface="Avenir Book"/>
                <a:sym typeface="Avenir Book"/>
              </a:rPr>
              <a:t> 				is 4*10</a:t>
            </a:r>
            <a:r>
              <a:rPr lang="en-US" sz="2000" baseline="31999" dirty="0">
                <a:solidFill>
                  <a:schemeClr val="accent6">
                    <a:lumMod val="75000"/>
                  </a:schemeClr>
                </a:solidFill>
                <a:latin typeface="Avenir Book"/>
                <a:ea typeface="Avenir Book"/>
                <a:cs typeface="Avenir Book"/>
                <a:sym typeface="Avenir Book"/>
              </a:rPr>
              <a:t>-5</a:t>
            </a:r>
          </a:p>
          <a:p>
            <a:pPr lvl="1" algn="l">
              <a:defRPr sz="28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123.456e100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venir Book"/>
                <a:ea typeface="Avenir Book"/>
                <a:cs typeface="Avenir Book"/>
                <a:sym typeface="Avenir Book"/>
              </a:rPr>
              <a:t> 	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Avenir Book"/>
                <a:ea typeface="Avenir Book"/>
                <a:cs typeface="Avenir Book"/>
                <a:sym typeface="Avenir Book"/>
              </a:rPr>
              <a:t>    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venir Book"/>
                <a:ea typeface="Avenir Book"/>
                <a:cs typeface="Avenir Book"/>
                <a:sym typeface="Avenir Book"/>
              </a:rPr>
              <a:t>is 123.456*10</a:t>
            </a:r>
            <a:r>
              <a:rPr lang="en-US" sz="2000" baseline="31999" dirty="0">
                <a:solidFill>
                  <a:schemeClr val="accent6">
                    <a:lumMod val="75000"/>
                  </a:schemeClr>
                </a:solidFill>
                <a:latin typeface="Avenir Book"/>
                <a:ea typeface="Avenir Book"/>
                <a:cs typeface="Avenir Book"/>
                <a:sym typeface="Avenir Book"/>
              </a:rPr>
              <a:t>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90A70E-2C29-E637-A4D7-0A158B2E984C}"/>
              </a:ext>
            </a:extLst>
          </p:cNvPr>
          <p:cNvSpPr txBox="1"/>
          <p:nvPr/>
        </p:nvSpPr>
        <p:spPr>
          <a:xfrm>
            <a:off x="1204856" y="5574049"/>
            <a:ext cx="1780937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Examples: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74936A-4253-12C4-9FA1-C162201FB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8206501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0394EA-BF63-3F09-CA35-B96F02050720}"/>
              </a:ext>
            </a:extLst>
          </p:cNvPr>
          <p:cNvSpPr/>
          <p:nvPr/>
        </p:nvSpPr>
        <p:spPr>
          <a:xfrm>
            <a:off x="290280" y="3346883"/>
            <a:ext cx="11611440" cy="15586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5F2A89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3B6AE4-A393-E745-BCBE-E13AD57D9EA9}"/>
              </a:ext>
            </a:extLst>
          </p:cNvPr>
          <p:cNvSpPr/>
          <p:nvPr/>
        </p:nvSpPr>
        <p:spPr>
          <a:xfrm>
            <a:off x="290280" y="2312105"/>
            <a:ext cx="11611440" cy="9304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5F2A89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492CC9-BCB3-66EE-D233-5B10E1D684FE}"/>
              </a:ext>
            </a:extLst>
          </p:cNvPr>
          <p:cNvSpPr/>
          <p:nvPr/>
        </p:nvSpPr>
        <p:spPr>
          <a:xfrm>
            <a:off x="290280" y="713230"/>
            <a:ext cx="11611440" cy="1406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5F2A89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46BA8-E794-03FA-6942-671ACCB8B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float</a:t>
            </a: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A1B940-13A5-CEAD-73E6-CF70212F5EA2}"/>
              </a:ext>
            </a:extLst>
          </p:cNvPr>
          <p:cNvSpPr txBox="1"/>
          <p:nvPr/>
        </p:nvSpPr>
        <p:spPr>
          <a:xfrm>
            <a:off x="2642544" y="724513"/>
            <a:ext cx="7792374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A float is also coded with binary digits</a:t>
            </a:r>
          </a:p>
          <a:p>
            <a:pPr algn="l">
              <a:lnSpc>
                <a:spcPct val="150000"/>
              </a:lnSpc>
            </a:pP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It actually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uses some negative powers of 2. 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endParaRPr kumimoji="0" lang="en-CN" sz="2800" b="1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3E4B8-4C05-3711-10D7-C684CA9C2F20}"/>
              </a:ext>
            </a:extLst>
          </p:cNvPr>
          <p:cNvSpPr txBox="1"/>
          <p:nvPr/>
        </p:nvSpPr>
        <p:spPr>
          <a:xfrm>
            <a:off x="290280" y="2319210"/>
            <a:ext cx="11500101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Type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0.1+0.2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into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your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shell,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see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what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will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you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get?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0.3</a:t>
            </a:r>
            <a:r>
              <a:rPr lang="zh-CN" altLang="en-US" sz="2800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?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br>
              <a:rPr lang="en-US" altLang="zh-CN" sz="2800" dirty="0">
                <a:solidFill>
                  <a:srgbClr val="5F2A89"/>
                </a:solidFill>
              </a:rPr>
            </a:br>
            <a:r>
              <a:rPr lang="en-US" altLang="zh-CN" sz="2800" dirty="0">
                <a:solidFill>
                  <a:srgbClr val="5F2A89"/>
                </a:solidFill>
              </a:rPr>
              <a:t>				You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will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get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0.30000000000000004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CA917A-AD96-9F80-39A1-DF75EF86DE74}"/>
                  </a:ext>
                </a:extLst>
              </p:cNvPr>
              <p:cNvSpPr txBox="1"/>
              <p:nvPr/>
            </p:nvSpPr>
            <p:spPr>
              <a:xfrm>
                <a:off x="290280" y="3126823"/>
                <a:ext cx="10475625" cy="23439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395604" indent="-395604" algn="l" defTabSz="519937">
                  <a:spcBef>
                    <a:spcPts val="1000"/>
                  </a:spcBef>
                  <a:defRPr sz="3204"/>
                </a:pPr>
                <a:r>
                  <a:rPr lang="en-US" altLang="zh-CN" sz="2800" dirty="0">
                    <a:solidFill>
                      <a:schemeClr val="accent6">
                        <a:lumMod val="75000"/>
                      </a:schemeClr>
                    </a:solidFill>
                  </a:rPr>
                  <a:t>R</a:t>
                </a: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epresentation of 0.</a:t>
                </a:r>
                <a:r>
                  <a:rPr lang="en-US" altLang="zh-CN" sz="2800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as a float</a:t>
                </a:r>
                <a:r>
                  <a:rPr lang="zh-CN" alt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requires a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infinite</a:t>
                </a: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number of bits:</a:t>
                </a:r>
              </a:p>
              <a:p>
                <a:pPr lvl="5" indent="1017269" algn="l" defTabSz="519937">
                  <a:spcBef>
                    <a:spcPts val="1000"/>
                  </a:spcBef>
                  <a:defRPr sz="2759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0.</a:t>
                </a:r>
                <a:r>
                  <a:rPr lang="en-US" altLang="zh-CN" sz="2800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= </a:t>
                </a:r>
                <a:r>
                  <a:rPr lang="en-US" altLang="zh-CN" sz="2800" dirty="0">
                    <a:solidFill>
                      <a:schemeClr val="accent6">
                        <a:lumMod val="75000"/>
                      </a:schemeClr>
                    </a:solidFill>
                  </a:rPr>
                  <a:t>0.25</a:t>
                </a: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+ 0.03125 + 0.015625 + 0.001953125 + …</a:t>
                </a:r>
              </a:p>
              <a:p>
                <a:pPr lvl="5" indent="1017269" algn="l" defTabSz="519937">
                  <a:spcBef>
                    <a:spcPts val="1000"/>
                  </a:spcBef>
                  <a:defRPr sz="2759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     =</a:t>
                </a:r>
                <a:r>
                  <a:rPr lang="ar-AE" sz="28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8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ar-AE" sz="28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ar-AE" sz="28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8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ar-AE" sz="28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ar-AE" sz="28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8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ar-AE" sz="28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ar-AE" sz="28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28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ar-AE" sz="28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zh-CN" altLang="en-US" sz="28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28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800" dirty="0">
                    <a:solidFill>
                      <a:schemeClr val="accent6">
                        <a:lumMod val="75000"/>
                      </a:schemeClr>
                    </a:solidFill>
                  </a:rPr>
                  <a:t>…</a:t>
                </a:r>
                <a:endParaRPr lang="en-US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4" indent="1017269" algn="l" defTabSz="519937">
                  <a:spcBef>
                    <a:spcPts val="1000"/>
                  </a:spcBef>
                  <a:defRPr sz="2759">
                    <a:latin typeface="Avenir"/>
                    <a:ea typeface="Avenir"/>
                    <a:cs typeface="Avenir"/>
                    <a:sym typeface="Avenir Roman"/>
                  </a:defRPr>
                </a:pPr>
                <a:r>
                  <a:rPr lang="en-US" altLang="zh-CN" sz="2800" dirty="0">
                    <a:solidFill>
                      <a:schemeClr val="accent6">
                        <a:lumMod val="75000"/>
                      </a:schemeClr>
                    </a:solidFill>
                  </a:rPr>
                  <a:t>F</a:t>
                </a: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</a:rPr>
                  <a:t>loats are thus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truncated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CA917A-AD96-9F80-39A1-DF75EF86D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80" y="3126823"/>
                <a:ext cx="10475625" cy="2343975"/>
              </a:xfrm>
              <a:prstGeom prst="rect">
                <a:avLst/>
              </a:prstGeom>
              <a:blipFill>
                <a:blip r:embed="rId3"/>
                <a:stretch>
                  <a:fillRect l="-1697" r="-1212" b="-702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F60A988-AF62-4E3C-FFBA-888F7BBC5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854" y="5470798"/>
            <a:ext cx="8860099" cy="1116233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EEADFB2-6A28-4C1C-1755-36D8B3138A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3308566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461D635-9789-569A-D330-D9F17674C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415" y="0"/>
            <a:ext cx="10406063" cy="789060"/>
          </a:xfrm>
        </p:spPr>
        <p:txBody>
          <a:bodyPr/>
          <a:lstStyle/>
          <a:p>
            <a:r>
              <a:rPr lang="en-CN" altLang="zh-CN" dirty="0"/>
              <a:t>Mixing</a:t>
            </a:r>
            <a:r>
              <a:rPr lang="zh-CN" altLang="en-US" dirty="0"/>
              <a:t> </a:t>
            </a:r>
            <a:r>
              <a:rPr lang="en-US" altLang="zh-CN" dirty="0"/>
              <a:t>numeric</a:t>
            </a:r>
            <a:r>
              <a:rPr lang="zh-CN" altLang="en-US" dirty="0"/>
              <a:t> </a:t>
            </a:r>
            <a:r>
              <a:rPr lang="en-US" altLang="zh-CN" dirty="0"/>
              <a:t>types</a:t>
            </a:r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6E07A-A43A-1A26-B16E-BAB8927C1278}"/>
              </a:ext>
            </a:extLst>
          </p:cNvPr>
          <p:cNvSpPr txBox="1"/>
          <p:nvPr/>
        </p:nvSpPr>
        <p:spPr>
          <a:xfrm>
            <a:off x="497754" y="789060"/>
            <a:ext cx="11289383" cy="22057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indent="-457200" algn="l">
              <a:lnSpc>
                <a:spcPts val="3200"/>
              </a:lnSpc>
              <a:spcAft>
                <a:spcPts val="1200"/>
              </a:spcAft>
              <a:buFont typeface="Wingdings" pitchFamily="2" charset="2"/>
              <a:buChar char="§"/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Python is able to mix numeric types during arithmetic operations. </a:t>
            </a:r>
          </a:p>
          <a:p>
            <a:pPr marL="457200" indent="-457200" algn="l">
              <a:lnSpc>
                <a:spcPts val="3200"/>
              </a:lnSpc>
              <a:spcAft>
                <a:spcPts val="1200"/>
              </a:spcAft>
              <a:buFont typeface="Wingdings" pitchFamily="2" charset="2"/>
              <a:buChar char="§"/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The operand with the "narrower</a:t>
            </a:r>
            <a:r>
              <a:rPr lang="en-US" altLang="zh-CN" sz="2800" dirty="0">
                <a:solidFill>
                  <a:srgbClr val="5F2A89"/>
                </a:solidFill>
              </a:rPr>
              <a:t>"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type will be widened to that of the other: </a:t>
            </a:r>
          </a:p>
          <a:p>
            <a:pPr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32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𝑖𝑛𝑡 ⊂ 𝑓𝑙𝑜𝑎𝑡</a:t>
            </a:r>
          </a:p>
        </p:txBody>
      </p:sp>
      <p:graphicFrame>
        <p:nvGraphicFramePr>
          <p:cNvPr id="8" name="Tableau 1">
            <a:extLst>
              <a:ext uri="{FF2B5EF4-FFF2-40B4-BE49-F238E27FC236}">
                <a16:creationId xmlns:a16="http://schemas.microsoft.com/office/drawing/2014/main" id="{BA7BDD4B-1B25-FE6A-A707-71D6FF93CC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8772207"/>
              </p:ext>
            </p:extLst>
          </p:nvPr>
        </p:nvGraphicFramePr>
        <p:xfrm>
          <a:off x="1750636" y="3193722"/>
          <a:ext cx="8690728" cy="2715545"/>
        </p:xfrm>
        <a:graphic>
          <a:graphicData uri="http://schemas.openxmlformats.org/drawingml/2006/table">
            <a:tbl>
              <a:tblPr bandRow="1"/>
              <a:tblGrid>
                <a:gridCol w="1712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2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7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7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3109">
                <a:tc>
                  <a:txBody>
                    <a:bodyPr/>
                    <a:lstStyle/>
                    <a:p>
                      <a:pPr algn="l" defTabSz="914400"/>
                      <a:r>
                        <a:rPr sz="20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200">
                          <a:latin typeface="Avenir Book"/>
                          <a:ea typeface="Avenir Book"/>
                          <a:cs typeface="Avenir Book"/>
                          <a:sym typeface="Avenir Book"/>
                        </a:rPr>
                        <a:t>Integer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0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 ** 3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200" dirty="0">
                          <a:latin typeface="Avenir Book"/>
                          <a:ea typeface="Avenir Book"/>
                          <a:cs typeface="Avenir Book"/>
                          <a:sym typeface="Avenir Book"/>
                        </a:rPr>
                        <a:t>Integer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109">
                <a:tc>
                  <a:txBody>
                    <a:bodyPr/>
                    <a:lstStyle/>
                    <a:p>
                      <a:pPr algn="l" defTabSz="914400"/>
                      <a:r>
                        <a:rPr sz="20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3.0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200" dirty="0">
                          <a:latin typeface="Avenir Book"/>
                          <a:ea typeface="Avenir Book"/>
                          <a:cs typeface="Avenir Book"/>
                          <a:sym typeface="Avenir Book"/>
                        </a:rPr>
                        <a:t>Float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0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 ** 3.0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200" dirty="0">
                          <a:latin typeface="Avenir Book"/>
                          <a:ea typeface="Avenir Book"/>
                          <a:cs typeface="Avenir Book"/>
                          <a:sym typeface="Avenir Book"/>
                        </a:rPr>
                        <a:t>Float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109">
                <a:tc>
                  <a:txBody>
                    <a:bodyPr/>
                    <a:lstStyle/>
                    <a:p>
                      <a:pPr algn="l" defTabSz="914400"/>
                      <a:r>
                        <a:rPr sz="20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 + 3.0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200" dirty="0">
                          <a:latin typeface="Avenir Book"/>
                          <a:ea typeface="Avenir Book"/>
                          <a:cs typeface="Avenir Book"/>
                          <a:sym typeface="Avenir Book"/>
                        </a:rPr>
                        <a:t>Float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0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 ** -3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200" dirty="0">
                          <a:latin typeface="Avenir Book"/>
                          <a:ea typeface="Avenir Book"/>
                          <a:cs typeface="Avenir Book"/>
                          <a:sym typeface="Avenir Book"/>
                        </a:rPr>
                        <a:t>Float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109">
                <a:tc>
                  <a:txBody>
                    <a:bodyPr/>
                    <a:lstStyle/>
                    <a:p>
                      <a:pPr algn="l" defTabSz="914400"/>
                      <a:r>
                        <a:rPr sz="20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 * 3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200" dirty="0">
                          <a:latin typeface="Avenir Book"/>
                          <a:ea typeface="Avenir Book"/>
                          <a:cs typeface="Avenir Book"/>
                          <a:sym typeface="Avenir Book"/>
                        </a:rPr>
                        <a:t>Integer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0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 * 3.0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200" dirty="0">
                          <a:latin typeface="Avenir Book"/>
                          <a:ea typeface="Avenir Book"/>
                          <a:cs typeface="Avenir Book"/>
                          <a:sym typeface="Avenir Book"/>
                        </a:rPr>
                        <a:t>Float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109">
                <a:tc>
                  <a:txBody>
                    <a:bodyPr/>
                    <a:lstStyle/>
                    <a:p>
                      <a:pPr algn="l" defTabSz="914400"/>
                      <a:r>
                        <a:rPr sz="20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 * -3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200" dirty="0">
                          <a:latin typeface="Avenir Book"/>
                          <a:ea typeface="Avenir Book"/>
                          <a:cs typeface="Avenir Book"/>
                          <a:sym typeface="Avenir Book"/>
                        </a:rPr>
                        <a:t>Integer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0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 / 3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2200" dirty="0">
                          <a:latin typeface="Avenir Book"/>
                          <a:ea typeface="Avenir Book"/>
                          <a:cs typeface="Avenir Book"/>
                          <a:sym typeface="Avenir Book"/>
                        </a:rPr>
                        <a:t>Float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4613E-E078-1E6F-5630-4B7879B8F7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14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66819437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E52C5-E0E8-3DC5-2EC9-C63914711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r>
              <a:rPr lang="zh-CN" altLang="en-US" dirty="0"/>
              <a:t> </a:t>
            </a:r>
            <a:r>
              <a:rPr lang="en-US" altLang="zh-CN" dirty="0"/>
              <a:t>Conversion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373C3F-6570-8287-A032-D0ACE27CD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15</a:t>
            </a:fld>
            <a:endParaRPr lang="en-C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61A04-2A66-FCFF-8762-A812E1920D7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724" y="836155"/>
            <a:ext cx="11198627" cy="1659619"/>
          </a:xfrm>
          <a:solidFill>
            <a:srgbClr val="EEEFF1"/>
          </a:solidFill>
        </p:spPr>
        <p:txBody>
          <a:bodyPr/>
          <a:lstStyle/>
          <a:p>
            <a:r>
              <a:rPr lang="en-US" dirty="0"/>
              <a:t>Python provides several built-in functions that can convert Data types into other types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are: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int(),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float(),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str()</a:t>
            </a:r>
            <a:endParaRPr lang="en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Tableau 1">
            <a:extLst>
              <a:ext uri="{FF2B5EF4-FFF2-40B4-BE49-F238E27FC236}">
                <a16:creationId xmlns:a16="http://schemas.microsoft.com/office/drawing/2014/main" id="{2D4D6C3B-BD44-689A-E589-B816FEB4AC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4933622"/>
              </p:ext>
            </p:extLst>
          </p:nvPr>
        </p:nvGraphicFramePr>
        <p:xfrm>
          <a:off x="2474472" y="2755390"/>
          <a:ext cx="9100756" cy="3917938"/>
        </p:xfrm>
        <a:graphic>
          <a:graphicData uri="http://schemas.openxmlformats.org/drawingml/2006/table">
            <a:tbl>
              <a:tblPr/>
              <a:tblGrid>
                <a:gridCol w="4128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1888">
                  <a:extLst>
                    <a:ext uri="{9D8B030D-6E8A-4147-A177-3AD203B41FA5}">
                      <a16:colId xmlns:a16="http://schemas.microsoft.com/office/drawing/2014/main" val="2889002983"/>
                    </a:ext>
                  </a:extLst>
                </a:gridCol>
              </a:tblGrid>
              <a:tr h="231888">
                <a:tc gridSpan="2">
                  <a:txBody>
                    <a:bodyPr/>
                    <a:lstStyle/>
                    <a:p>
                      <a:pPr algn="l" defTabSz="914400"/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Convert</a:t>
                      </a:r>
                      <a:r>
                        <a:rPr lang="zh-CN" alt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a</a:t>
                      </a:r>
                      <a:r>
                        <a:rPr lang="zh-CN" alt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string</a:t>
                      </a:r>
                      <a:r>
                        <a:rPr lang="zh-CN" alt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or</a:t>
                      </a:r>
                      <a:r>
                        <a:rPr lang="zh-CN" alt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a</a:t>
                      </a:r>
                      <a:r>
                        <a:rPr lang="zh-CN" alt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float</a:t>
                      </a:r>
                      <a:r>
                        <a:rPr lang="zh-CN" alt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into</a:t>
                      </a:r>
                      <a:r>
                        <a:rPr lang="zh-CN" alt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an</a:t>
                      </a:r>
                      <a:r>
                        <a:rPr lang="zh-CN" alt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integer</a:t>
                      </a:r>
                      <a:endParaRPr sz="2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sz="2400" dirty="0"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584">
                <a:tc>
                  <a:txBody>
                    <a:bodyPr/>
                    <a:lstStyle/>
                    <a:p>
                      <a:pPr algn="l" defTabSz="914400"/>
                      <a:r>
                        <a:rPr sz="24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&gt;&gt;&gt;int("123")</a:t>
                      </a:r>
                      <a:endParaRPr lang="en-US" sz="2400" dirty="0"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  <a:p>
                      <a:pPr algn="l" defTabSz="914400"/>
                      <a:r>
                        <a:rPr lang="zh-CN" altLang="en-US" sz="20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  </a:t>
                      </a:r>
                      <a:r>
                        <a:rPr lang="en-US" altLang="zh-CN" sz="20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123</a:t>
                      </a:r>
                      <a:r>
                        <a:rPr lang="zh-CN" altLang="en-US" sz="20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endParaRPr lang="en-US" altLang="zh-CN" sz="2000" dirty="0"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</a:txBody>
                  <a:tcPr marL="5080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24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&gt;&gt;&gt;int(456.78)</a:t>
                      </a:r>
                    </a:p>
                    <a:p>
                      <a:pPr algn="l" defTabSz="914400"/>
                      <a:r>
                        <a:rPr lang="zh-CN" altLang="en-US" sz="24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  </a:t>
                      </a:r>
                      <a:r>
                        <a:rPr lang="en-US" altLang="zh-CN" sz="20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456</a:t>
                      </a:r>
                      <a:endParaRPr sz="2400" dirty="0"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</a:txBody>
                  <a:tcPr marL="5080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22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Convert a string or an</a:t>
                      </a:r>
                      <a:r>
                        <a:rPr lang="zh-CN" alt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int</a:t>
                      </a:r>
                      <a:r>
                        <a:rPr lang="zh-CN" alt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into a</a:t>
                      </a:r>
                      <a:r>
                        <a:rPr lang="zh-CN" alt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float</a:t>
                      </a:r>
                      <a:endParaRPr lang="en-US" sz="2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sz="2400" dirty="0"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9618">
                <a:tc>
                  <a:txBody>
                    <a:bodyPr/>
                    <a:lstStyle/>
                    <a:p>
                      <a:pPr algn="l" defTabSz="914400"/>
                      <a:r>
                        <a:rPr sz="24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&gt;&gt;&gt;float("123.456")</a:t>
                      </a:r>
                      <a:endParaRPr lang="en-US" sz="2400" dirty="0"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  <a:p>
                      <a:pPr algn="l" defTabSz="914400"/>
                      <a:r>
                        <a:rPr lang="zh-CN" altLang="en-US" sz="24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  </a:t>
                      </a:r>
                      <a:r>
                        <a:rPr lang="en-US" altLang="zh-CN" sz="20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123.456</a:t>
                      </a:r>
                      <a:endParaRPr sz="2400" dirty="0"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24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&gt;&gt;&gt;float(5)</a:t>
                      </a:r>
                    </a:p>
                    <a:p>
                      <a:pPr algn="l" defTabSz="914400"/>
                      <a:r>
                        <a:rPr lang="zh-CN" altLang="en-US" sz="20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   </a:t>
                      </a:r>
                      <a:r>
                        <a:rPr lang="en-US" altLang="zh-CN" sz="20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5.0</a:t>
                      </a:r>
                      <a:endParaRPr sz="2000" dirty="0"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17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Convert an int or a float into an a</a:t>
                      </a:r>
                      <a:r>
                        <a:rPr lang="zh-CN" alt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string</a:t>
                      </a:r>
                      <a:endParaRPr lang="en-US" sz="2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tc hMerge="1">
                  <a:txBody>
                    <a:bodyPr/>
                    <a:lstStyle/>
                    <a:p>
                      <a:pPr defTabSz="914400"/>
                      <a:endParaRPr sz="2400" dirty="0"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583">
                <a:tc>
                  <a:txBody>
                    <a:bodyPr/>
                    <a:lstStyle/>
                    <a:p>
                      <a:pPr algn="l" defTabSz="914400"/>
                      <a:r>
                        <a:rPr sz="24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&gt;&gt;&gt;str(123.456)</a:t>
                      </a:r>
                      <a:endParaRPr lang="en-US" sz="2400" dirty="0"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  <a:p>
                      <a:pPr algn="l" defTabSz="914400"/>
                      <a:r>
                        <a:rPr lang="zh-CN" altLang="en-US" sz="24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  </a:t>
                      </a:r>
                      <a:r>
                        <a:rPr lang="en-US" altLang="zh-CN" sz="20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'123.456'</a:t>
                      </a:r>
                      <a:endParaRPr lang="en-US" sz="2000" dirty="0"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24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&gt;&gt;&gt;str(5)</a:t>
                      </a:r>
                    </a:p>
                    <a:p>
                      <a:pPr algn="l" defTabSz="914400"/>
                      <a:r>
                        <a:rPr lang="zh-CN" altLang="en-US" sz="24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    </a:t>
                      </a:r>
                      <a:r>
                        <a:rPr lang="en-US" altLang="zh-CN" sz="2000" dirty="0">
                          <a:latin typeface="Courier New" panose="02070309020205020404" pitchFamily="49" charset="0"/>
                          <a:ea typeface="Menlo Regular"/>
                          <a:cs typeface="Courier New" panose="02070309020205020404" pitchFamily="49" charset="0"/>
                          <a:sym typeface="Menlo Regular"/>
                        </a:rPr>
                        <a:t>'5'</a:t>
                      </a:r>
                      <a:endParaRPr lang="en-US" sz="2400" dirty="0">
                        <a:latin typeface="Courier New" panose="02070309020205020404" pitchFamily="49" charset="0"/>
                        <a:ea typeface="Menlo Regular"/>
                        <a:cs typeface="Courier New" panose="02070309020205020404" pitchFamily="49" charset="0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08DAF79-5A74-2A11-7B67-5F25D0211B07}"/>
              </a:ext>
            </a:extLst>
          </p:cNvPr>
          <p:cNvSpPr txBox="1"/>
          <p:nvPr/>
        </p:nvSpPr>
        <p:spPr>
          <a:xfrm>
            <a:off x="1269398" y="2725247"/>
            <a:ext cx="1176604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enlo Regular"/>
                <a:cs typeface="Courier New" panose="02070309020205020404" pitchFamily="49" charset="0"/>
                <a:sym typeface="Menlo Regular"/>
              </a:rPr>
              <a:t>int()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B97C49-6004-A938-293B-56B6C315DD6C}"/>
              </a:ext>
            </a:extLst>
          </p:cNvPr>
          <p:cNvSpPr txBox="1"/>
          <p:nvPr/>
        </p:nvSpPr>
        <p:spPr>
          <a:xfrm>
            <a:off x="868263" y="4028802"/>
            <a:ext cx="1606209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enlo Regular"/>
                <a:cs typeface="Courier New" panose="02070309020205020404" pitchFamily="49" charset="0"/>
                <a:sym typeface="Menlo Regular"/>
              </a:rPr>
              <a:t>float()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776EF1-3A5A-F85D-76AA-92C33E16A864}"/>
              </a:ext>
            </a:extLst>
          </p:cNvPr>
          <p:cNvSpPr txBox="1"/>
          <p:nvPr/>
        </p:nvSpPr>
        <p:spPr>
          <a:xfrm>
            <a:off x="1297868" y="5251674"/>
            <a:ext cx="1176604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enlo Regular"/>
                <a:cs typeface="Courier New" panose="02070309020205020404" pitchFamily="49" charset="0"/>
                <a:sym typeface="Menlo Regular"/>
              </a:rPr>
              <a:t>str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enlo Regular"/>
                <a:cs typeface="Courier New" panose="02070309020205020404" pitchFamily="49" charset="0"/>
                <a:sym typeface="Menlo Regula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1231496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63C8B-680D-9E62-A208-52A11C771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</a:t>
            </a:r>
            <a:r>
              <a:rPr lang="en-US" dirty="0" err="1"/>
              <a:t>ool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 err="1"/>
              <a:t>NoneType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DE045C-6157-646C-BA32-02EC23349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16</a:t>
            </a:fld>
            <a:endParaRPr lang="en-C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42B76-7BB6-B85A-5B1D-831D6BDE2B6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0418" y="1517251"/>
            <a:ext cx="10406063" cy="1247464"/>
          </a:xfrm>
        </p:spPr>
        <p:txBody>
          <a:bodyPr/>
          <a:lstStyle/>
          <a:p>
            <a:pPr lvl="1"/>
            <a:r>
              <a:rPr lang="en-US" altLang="zh-CN" dirty="0">
                <a:effectLst/>
                <a:latin typeface="Helvetica Light" panose="020B0403020202020204" pitchFamily="34" charset="0"/>
              </a:rPr>
              <a:t>only</a:t>
            </a:r>
            <a:r>
              <a:rPr lang="zh-CN" altLang="en-US" dirty="0">
                <a:effectLst/>
                <a:latin typeface="Helvetica Light" panose="020B0403020202020204" pitchFamily="34" charset="0"/>
              </a:rPr>
              <a:t> </a:t>
            </a:r>
            <a:r>
              <a:rPr lang="en-US" altLang="zh-CN" dirty="0">
                <a:effectLst/>
                <a:latin typeface="Helvetica Light" panose="020B0403020202020204" pitchFamily="34" charset="0"/>
              </a:rPr>
              <a:t>has</a:t>
            </a:r>
            <a:r>
              <a:rPr lang="zh-CN" altLang="en-US" dirty="0">
                <a:effectLst/>
                <a:latin typeface="Helvetica Light" panose="020B0403020202020204" pitchFamily="34" charset="0"/>
              </a:rPr>
              <a:t> </a:t>
            </a:r>
            <a:r>
              <a:rPr lang="en-US" altLang="zh-CN" dirty="0">
                <a:latin typeface="Helvetica Light" panose="020B0403020202020204" pitchFamily="34" charset="0"/>
              </a:rPr>
              <a:t>two</a:t>
            </a:r>
            <a:r>
              <a:rPr lang="zh-CN" altLang="en-US" dirty="0">
                <a:latin typeface="Helvetica Light" panose="020B0403020202020204" pitchFamily="34" charset="0"/>
              </a:rPr>
              <a:t> </a:t>
            </a:r>
            <a:r>
              <a:rPr lang="en-US" altLang="zh-CN" dirty="0">
                <a:latin typeface="Helvetica Light" panose="020B0403020202020204" pitchFamily="34" charset="0"/>
              </a:rPr>
              <a:t>Boolean</a:t>
            </a:r>
            <a:r>
              <a:rPr lang="zh-CN" altLang="en-US" dirty="0">
                <a:latin typeface="Helvetica Light" panose="020B0403020202020204" pitchFamily="34" charset="0"/>
              </a:rPr>
              <a:t> </a:t>
            </a:r>
            <a:r>
              <a:rPr lang="en-US" altLang="zh-CN" dirty="0">
                <a:latin typeface="Helvetica Light" panose="020B0403020202020204" pitchFamily="34" charset="0"/>
              </a:rPr>
              <a:t>values:</a:t>
            </a:r>
            <a:r>
              <a:rPr lang="zh-CN" altLang="en-US" dirty="0">
                <a:latin typeface="Helvetica Light" panose="020B0403020202020204" pitchFamily="34" charset="0"/>
              </a:rPr>
              <a:t>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zh-CN" altLang="en-US" dirty="0">
                <a:latin typeface="Helvetica Light" panose="020B0403020202020204" pitchFamily="34" charset="0"/>
              </a:rPr>
              <a:t> </a:t>
            </a:r>
            <a:r>
              <a:rPr lang="en-US" altLang="zh-CN" dirty="0">
                <a:latin typeface="Helvetica Light" panose="020B0403020202020204" pitchFamily="34" charset="0"/>
              </a:rPr>
              <a:t>and</a:t>
            </a:r>
            <a:r>
              <a:rPr lang="zh-CN" altLang="en-US" dirty="0">
                <a:latin typeface="Helvetica Light" panose="020B0403020202020204" pitchFamily="34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lvl="1"/>
            <a:r>
              <a:rPr lang="en-US" dirty="0"/>
              <a:t>Boolean values often come from comparisons:</a:t>
            </a:r>
            <a:endParaRPr lang="en-CN" dirty="0"/>
          </a:p>
        </p:txBody>
      </p:sp>
      <p:sp>
        <p:nvSpPr>
          <p:cNvPr id="6" name="Escape Sequence">
            <a:extLst>
              <a:ext uri="{FF2B5EF4-FFF2-40B4-BE49-F238E27FC236}">
                <a16:creationId xmlns:a16="http://schemas.microsoft.com/office/drawing/2014/main" id="{6DAABD7C-BDAE-49E1-EDA0-8B363CAE5A3E}"/>
              </a:ext>
            </a:extLst>
          </p:cNvPr>
          <p:cNvSpPr txBox="1"/>
          <p:nvPr/>
        </p:nvSpPr>
        <p:spPr>
          <a:xfrm>
            <a:off x="557432" y="866933"/>
            <a:ext cx="11017796" cy="533479"/>
          </a:xfrm>
          <a:prstGeom prst="rect">
            <a:avLst/>
          </a:prstGeom>
          <a:solidFill>
            <a:srgbClr val="F3EC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200">
                <a:solidFill>
                  <a:schemeClr val="accent6">
                    <a:lumOff val="-21524"/>
                  </a:schemeClr>
                </a:solidFill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bool-- </a:t>
            </a: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represents whether something is true or false.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15B130-9E1F-2A7A-A39C-D257F9248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252535"/>
              </p:ext>
            </p:extLst>
          </p:nvPr>
        </p:nvGraphicFramePr>
        <p:xfrm>
          <a:off x="1483361" y="2680242"/>
          <a:ext cx="2389392" cy="914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389392">
                  <a:extLst>
                    <a:ext uri="{9D8B030D-6E8A-4147-A177-3AD203B41FA5}">
                      <a16:colId xmlns:a16="http://schemas.microsoft.com/office/drawing/2014/main" val="421082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&gt;&gt;&gt;5</a:t>
                      </a:r>
                      <a:r>
                        <a:rPr lang="zh-CN" altLang="en-US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  <a:r>
                        <a:rPr lang="zh-CN" altLang="en-US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CN" sz="24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9058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altLang="zh-CN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CN" sz="2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>
                        <a:alpha val="4736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214631"/>
                  </a:ext>
                </a:extLst>
              </a:tr>
            </a:tbl>
          </a:graphicData>
        </a:graphic>
      </p:graphicFrame>
      <p:sp>
        <p:nvSpPr>
          <p:cNvPr id="9" name="Escape Sequence">
            <a:extLst>
              <a:ext uri="{FF2B5EF4-FFF2-40B4-BE49-F238E27FC236}">
                <a16:creationId xmlns:a16="http://schemas.microsoft.com/office/drawing/2014/main" id="{D03FD272-171E-0882-72A8-1729AB3C7936}"/>
              </a:ext>
            </a:extLst>
          </p:cNvPr>
          <p:cNvSpPr txBox="1"/>
          <p:nvPr/>
        </p:nvSpPr>
        <p:spPr>
          <a:xfrm>
            <a:off x="557432" y="3826546"/>
            <a:ext cx="11017796" cy="533479"/>
          </a:xfrm>
          <a:prstGeom prst="rect">
            <a:avLst/>
          </a:prstGeom>
          <a:solidFill>
            <a:srgbClr val="F3EC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200">
                <a:solidFill>
                  <a:schemeClr val="accent6">
                    <a:lumOff val="-21524"/>
                  </a:schemeClr>
                </a:solidFill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pPr algn="l"/>
            <a:r>
              <a:rPr lang="en-US" altLang="zh-CN" sz="28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NoneType</a:t>
            </a:r>
            <a:r>
              <a:rPr lang="zh-CN" alt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</a:t>
            </a:r>
            <a:r>
              <a:rPr lang="en-US" sz="2800" dirty="0">
                <a:latin typeface="Helvetica" pitchFamily="2" charset="0"/>
              </a:rPr>
              <a:t>represents the </a:t>
            </a:r>
            <a:r>
              <a:rPr lang="en-US" sz="2800" dirty="0">
                <a:solidFill>
                  <a:srgbClr val="C00000"/>
                </a:solidFill>
                <a:latin typeface="Helvetica" pitchFamily="2" charset="0"/>
              </a:rPr>
              <a:t>absence</a:t>
            </a:r>
            <a:r>
              <a:rPr lang="en-US" sz="2800" dirty="0">
                <a:latin typeface="Helvetica" pitchFamily="2" charset="0"/>
              </a:rPr>
              <a:t> of a value</a:t>
            </a:r>
            <a:r>
              <a:rPr lang="en-US" sz="2800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186984A-3FFE-B7A7-ACB1-3A61E576AECA}"/>
              </a:ext>
            </a:extLst>
          </p:cNvPr>
          <p:cNvSpPr txBox="1">
            <a:spLocks/>
          </p:cNvSpPr>
          <p:nvPr/>
        </p:nvSpPr>
        <p:spPr>
          <a:xfrm>
            <a:off x="680418" y="4486596"/>
            <a:ext cx="11357389" cy="1407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 fontScale="92500"/>
          </a:bodyPr>
          <a:lstStyle>
            <a:lvl1pPr marL="312528" marR="0" indent="-312528" algn="l" defTabSz="410751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75000"/>
              <a:buFont typeface="System Font Regular"/>
              <a:buChar char="●"/>
              <a:tabLst/>
              <a:defRPr sz="28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1pPr>
            <a:lvl2pPr marL="625056" marR="0" indent="-312528" algn="l" defTabSz="410751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75000"/>
              <a:buFont typeface="Arial Unicode MS" panose="020B0604020202020204" pitchFamily="34" charset="-128"/>
              <a:buChar char="✧"/>
              <a:tabLst/>
              <a:defRPr sz="28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2pPr>
            <a:lvl3pPr marL="967956" marR="0" indent="-342900" algn="l" defTabSz="410751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75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3pPr>
            <a:lvl4pPr marL="125011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4pPr>
            <a:lvl5pPr marL="1562640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5pPr>
            <a:lvl6pPr marL="187516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18769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0022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1275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lvl="1"/>
            <a:r>
              <a:rPr lang="en-US" altLang="zh-CN" dirty="0">
                <a:latin typeface="Helvetica Light" panose="020B0403020202020204" pitchFamily="34" charset="0"/>
              </a:rPr>
              <a:t>only</a:t>
            </a:r>
            <a:r>
              <a:rPr lang="zh-CN" altLang="en-US" dirty="0">
                <a:latin typeface="Helvetica Light" panose="020B0403020202020204" pitchFamily="34" charset="0"/>
              </a:rPr>
              <a:t> </a:t>
            </a:r>
            <a:r>
              <a:rPr lang="en-US" altLang="zh-CN" dirty="0">
                <a:latin typeface="Helvetica Light" panose="020B0403020202020204" pitchFamily="34" charset="0"/>
              </a:rPr>
              <a:t>has</a:t>
            </a:r>
            <a:r>
              <a:rPr lang="zh-CN" altLang="en-US" dirty="0">
                <a:latin typeface="Helvetica Light" panose="020B0403020202020204" pitchFamily="34" charset="0"/>
              </a:rPr>
              <a:t> </a:t>
            </a:r>
            <a:r>
              <a:rPr lang="en-US" altLang="zh-CN" dirty="0">
                <a:latin typeface="Helvetica Light" panose="020B0403020202020204" pitchFamily="34" charset="0"/>
              </a:rPr>
              <a:t>one</a:t>
            </a:r>
            <a:r>
              <a:rPr lang="zh-CN" altLang="en-US" dirty="0">
                <a:latin typeface="Helvetica Light" panose="020B0403020202020204" pitchFamily="34" charset="0"/>
              </a:rPr>
              <a:t> </a:t>
            </a:r>
            <a:r>
              <a:rPr lang="en-US" altLang="zh-CN" dirty="0">
                <a:latin typeface="Helvetica Light" panose="020B0403020202020204" pitchFamily="34" charset="0"/>
              </a:rPr>
              <a:t>value:</a:t>
            </a:r>
            <a:r>
              <a:rPr lang="zh-CN" altLang="en-US" dirty="0">
                <a:latin typeface="Helvetica Light" panose="020B0403020202020204" pitchFamily="34" charset="0"/>
              </a:rPr>
              <a:t>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pPr lvl="1"/>
            <a:r>
              <a:rPr lang="en-US" altLang="zh-CN" dirty="0">
                <a:latin typeface="Helvetica Light" panose="020B0403020202020204" pitchFamily="34" charset="0"/>
              </a:rPr>
              <a:t>if a function does not return a value, the resulting value will be</a:t>
            </a:r>
            <a:r>
              <a:rPr lang="zh-CN" altLang="en-US" dirty="0">
                <a:latin typeface="Helvetica Light" panose="020B0403020202020204" pitchFamily="34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zh-CN" altLang="en-US" dirty="0">
                <a:latin typeface="Helvetica Light" panose="020B0403020202020204" pitchFamily="34" charset="0"/>
              </a:rPr>
              <a:t> </a:t>
            </a:r>
            <a:endParaRPr lang="en-US" altLang="zh-CN" dirty="0">
              <a:latin typeface="Helvetica Light" panose="020B0403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949A384-BF91-9450-3058-3AEE2DDC6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60280"/>
              </p:ext>
            </p:extLst>
          </p:nvPr>
        </p:nvGraphicFramePr>
        <p:xfrm>
          <a:off x="5153511" y="2617284"/>
          <a:ext cx="2571675" cy="914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571675">
                  <a:extLst>
                    <a:ext uri="{9D8B030D-6E8A-4147-A177-3AD203B41FA5}">
                      <a16:colId xmlns:a16="http://schemas.microsoft.com/office/drawing/2014/main" val="421082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r>
                        <a:rPr lang="zh-CN" altLang="en-US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zh-CN" altLang="en-US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</a:t>
                      </a:r>
                      <a:endParaRPr lang="en-CN" sz="24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9058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altLang="zh-CN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CN" sz="2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>
                        <a:alpha val="4736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21463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9327D23-582A-7E8C-4AEB-F02A5090212E}"/>
              </a:ext>
            </a:extLst>
          </p:cNvPr>
          <p:cNvSpPr txBox="1"/>
          <p:nvPr/>
        </p:nvSpPr>
        <p:spPr>
          <a:xfrm>
            <a:off x="6632786" y="5840522"/>
            <a:ext cx="5559214" cy="666849"/>
          </a:xfrm>
          <a:prstGeom prst="rect">
            <a:avLst/>
          </a:prstGeom>
          <a:noFill/>
          <a:ln w="19050" cap="flat">
            <a:solidFill>
              <a:schemeClr val="accent5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not 0, False, or an empty string.</a:t>
            </a:r>
            <a:endParaRPr kumimoji="0" lang="en-CN" sz="44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C8C25C5-BD7D-31D9-A208-5E26AAA2E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59979"/>
              </p:ext>
            </p:extLst>
          </p:nvPr>
        </p:nvGraphicFramePr>
        <p:xfrm>
          <a:off x="1483360" y="5533867"/>
          <a:ext cx="4612639" cy="12801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612639">
                  <a:extLst>
                    <a:ext uri="{9D8B030D-6E8A-4147-A177-3AD203B41FA5}">
                      <a16:colId xmlns:a16="http://schemas.microsoft.com/office/drawing/2014/main" val="421082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&gt;&gt;&gt;type(print('Hello!'))None</a:t>
                      </a:r>
                      <a:endParaRPr lang="en-CN" sz="24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9058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altLang="zh-CN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CN" sz="2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>
                        <a:alpha val="4736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214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63318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D4715-E891-1102-3556-2095F1216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object</a:t>
            </a:r>
            <a:r>
              <a:rPr lang="zh-CN" altLang="en-US" dirty="0"/>
              <a:t> 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26ABF-7C0D-654B-4DF0-4E7A27AF52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097826" y="900701"/>
            <a:ext cx="10406063" cy="2401897"/>
          </a:xfrm>
        </p:spPr>
        <p:txBody>
          <a:bodyPr>
            <a:normAutofit/>
          </a:bodyPr>
          <a:lstStyle/>
          <a:p>
            <a:pPr marL="351155" indent="-351155" defTabSz="461518">
              <a:spcBef>
                <a:spcPts val="900"/>
              </a:spcBef>
              <a:defRPr sz="2844"/>
            </a:pPr>
            <a:r>
              <a:rPr lang="en-US" sz="2800" dirty="0"/>
              <a:t>We can use the built-in function </a:t>
            </a:r>
            <a:r>
              <a:rPr lang="en-US" sz="2800" b="1" dirty="0">
                <a:highlight>
                  <a:srgbClr val="F3ECFF"/>
                </a:highlight>
                <a:latin typeface="Courier New" panose="02070309020205020404" pitchFamily="49" charset="0"/>
                <a:ea typeface="Avenir Book Oblique"/>
                <a:cs typeface="Courier New" panose="02070309020205020404" pitchFamily="49" charset="0"/>
                <a:sym typeface="Avenir Book Oblique"/>
              </a:rPr>
              <a:t>type</a:t>
            </a:r>
            <a:r>
              <a:rPr lang="en-US" altLang="zh-CN" sz="2800" b="1" dirty="0">
                <a:highlight>
                  <a:srgbClr val="F3ECFF"/>
                </a:highlight>
                <a:latin typeface="Courier New" panose="02070309020205020404" pitchFamily="49" charset="0"/>
                <a:ea typeface="Avenir Book Oblique"/>
                <a:cs typeface="Courier New" panose="02070309020205020404" pitchFamily="49" charset="0"/>
                <a:sym typeface="Avenir Book Oblique"/>
              </a:rPr>
              <a:t>()</a:t>
            </a:r>
            <a:endParaRPr lang="en-US" sz="2800" b="1" dirty="0">
              <a:highlight>
                <a:srgbClr val="F3ECFF"/>
              </a:highlight>
              <a:latin typeface="Courier New" panose="02070309020205020404" pitchFamily="49" charset="0"/>
              <a:ea typeface="Avenir Book Oblique"/>
              <a:cs typeface="Courier New" panose="02070309020205020404" pitchFamily="49" charset="0"/>
              <a:sym typeface="Avenir Book Oblique"/>
            </a:endParaRPr>
          </a:p>
          <a:p>
            <a:pPr marL="351155" indent="-351155" defTabSz="461518">
              <a:spcBef>
                <a:spcPts val="900"/>
              </a:spcBef>
              <a:defRPr sz="2844"/>
            </a:pPr>
            <a:r>
              <a:rPr lang="en-US" sz="2800" dirty="0"/>
              <a:t>It displays in the shell what type the value is</a:t>
            </a:r>
          </a:p>
          <a:p>
            <a:pPr marL="0" indent="0"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Examples:</a:t>
            </a:r>
            <a:endParaRPr lang="en-CN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99373-DC59-FBF9-DAA4-27FC9351EE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17</a:t>
            </a:fld>
            <a:endParaRPr lang="en-C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F549A4-92F7-D25D-450F-D14C2A473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184757"/>
              </p:ext>
            </p:extLst>
          </p:nvPr>
        </p:nvGraphicFramePr>
        <p:xfrm>
          <a:off x="3034852" y="2665655"/>
          <a:ext cx="6122296" cy="381268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61148">
                  <a:extLst>
                    <a:ext uri="{9D8B030D-6E8A-4147-A177-3AD203B41FA5}">
                      <a16:colId xmlns:a16="http://schemas.microsoft.com/office/drawing/2014/main" val="3623558872"/>
                    </a:ext>
                  </a:extLst>
                </a:gridCol>
                <a:gridCol w="3061148">
                  <a:extLst>
                    <a:ext uri="{9D8B030D-6E8A-4147-A177-3AD203B41FA5}">
                      <a16:colId xmlns:a16="http://schemas.microsoft.com/office/drawing/2014/main" val="1960547928"/>
                    </a:ext>
                  </a:extLst>
                </a:gridCol>
              </a:tblGrid>
              <a:tr h="635448">
                <a:tc>
                  <a:txBody>
                    <a:bodyPr/>
                    <a:lstStyle/>
                    <a:p>
                      <a:r>
                        <a:rPr lang="en-US" altLang="zh-CN" sz="2400" b="0" i="0" dirty="0">
                          <a:latin typeface="Courier New" panose="02070309020205020404" pitchFamily="49" charset="0"/>
                          <a:ea typeface="Menlo" panose="020B0609030804020204" pitchFamily="49" charset="0"/>
                          <a:cs typeface="Courier New" panose="02070309020205020404" pitchFamily="49" charset="0"/>
                        </a:rPr>
                        <a:t>type(5)</a:t>
                      </a:r>
                      <a:endParaRPr lang="en-CN" sz="2400" b="0" i="0" dirty="0">
                        <a:latin typeface="Courier New" panose="02070309020205020404" pitchFamily="49" charset="0"/>
                        <a:ea typeface="Menlo" panose="020B060903080402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dirty="0">
                          <a:latin typeface="Courier New" panose="02070309020205020404" pitchFamily="49" charset="0"/>
                          <a:ea typeface="Menlo" panose="020B0609030804020204" pitchFamily="49" charset="0"/>
                          <a:cs typeface="Courier New" panose="02070309020205020404" pitchFamily="49" charset="0"/>
                        </a:rPr>
                        <a:t>int</a:t>
                      </a:r>
                      <a:endParaRPr lang="en-CN" sz="2400" b="0" i="0" dirty="0">
                        <a:latin typeface="Courier New" panose="02070309020205020404" pitchFamily="49" charset="0"/>
                        <a:ea typeface="Menlo" panose="020B060903080402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4935431"/>
                  </a:ext>
                </a:extLst>
              </a:tr>
              <a:tr h="635448">
                <a:tc>
                  <a:txBody>
                    <a:bodyPr/>
                    <a:lstStyle/>
                    <a:p>
                      <a:r>
                        <a:rPr lang="en-US" altLang="zh-CN" sz="2400" b="0" i="0" dirty="0">
                          <a:latin typeface="Courier New" panose="02070309020205020404" pitchFamily="49" charset="0"/>
                          <a:ea typeface="Menlo" panose="020B0609030804020204" pitchFamily="49" charset="0"/>
                          <a:cs typeface="Courier New" panose="02070309020205020404" pitchFamily="49" charset="0"/>
                        </a:rPr>
                        <a:t>type(2.0)</a:t>
                      </a:r>
                      <a:endParaRPr lang="en-CN" sz="2400" b="0" i="0" dirty="0">
                        <a:latin typeface="Courier New" panose="02070309020205020404" pitchFamily="49" charset="0"/>
                        <a:ea typeface="Menlo" panose="020B060903080402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0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i="0" dirty="0">
                          <a:latin typeface="Courier New" panose="02070309020205020404" pitchFamily="49" charset="0"/>
                          <a:ea typeface="Menlo" panose="020B0609030804020204" pitchFamily="49" charset="0"/>
                          <a:cs typeface="Courier New" panose="02070309020205020404" pitchFamily="49" charset="0"/>
                        </a:rPr>
                        <a:t>float</a:t>
                      </a:r>
                      <a:endParaRPr lang="en-CN" sz="2400" b="0" i="0" dirty="0">
                        <a:latin typeface="Courier New" panose="02070309020205020404" pitchFamily="49" charset="0"/>
                        <a:ea typeface="Menlo" panose="020B060903080402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976830"/>
                  </a:ext>
                </a:extLst>
              </a:tr>
              <a:tr h="635448">
                <a:tc>
                  <a:txBody>
                    <a:bodyPr/>
                    <a:lstStyle/>
                    <a:p>
                      <a:r>
                        <a:rPr lang="en-US" altLang="zh-CN" sz="2400" b="0" i="0" dirty="0">
                          <a:latin typeface="Courier New" panose="02070309020205020404" pitchFamily="49" charset="0"/>
                          <a:ea typeface="Menlo" panose="020B0609030804020204" pitchFamily="49" charset="0"/>
                          <a:cs typeface="Courier New" panose="02070309020205020404" pitchFamily="49" charset="0"/>
                        </a:rPr>
                        <a:t>type('ICP')</a:t>
                      </a:r>
                      <a:endParaRPr lang="en-CN" sz="2400" b="0" i="0" dirty="0">
                        <a:latin typeface="Courier New" panose="02070309020205020404" pitchFamily="49" charset="0"/>
                        <a:ea typeface="Menlo" panose="020B060903080402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0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i="0" dirty="0">
                          <a:latin typeface="Courier New" panose="02070309020205020404" pitchFamily="49" charset="0"/>
                          <a:ea typeface="Menlo" panose="020B0609030804020204" pitchFamily="49" charset="0"/>
                          <a:cs typeface="Courier New" panose="02070309020205020404" pitchFamily="49" charset="0"/>
                        </a:rPr>
                        <a:t>str</a:t>
                      </a:r>
                      <a:endParaRPr lang="en-CN" sz="2400" b="0" i="0" dirty="0">
                        <a:latin typeface="Courier New" panose="02070309020205020404" pitchFamily="49" charset="0"/>
                        <a:ea typeface="Menlo" panose="020B060903080402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7060955"/>
                  </a:ext>
                </a:extLst>
              </a:tr>
              <a:tr h="635448">
                <a:tc>
                  <a:txBody>
                    <a:bodyPr/>
                    <a:lstStyle/>
                    <a:p>
                      <a:r>
                        <a:rPr lang="en-US" altLang="zh-CN" sz="2400" b="0" i="0" dirty="0">
                          <a:latin typeface="Courier New" panose="02070309020205020404" pitchFamily="49" charset="0"/>
                          <a:ea typeface="Menlo" panose="020B0609030804020204" pitchFamily="49" charset="0"/>
                          <a:cs typeface="Courier New" panose="02070309020205020404" pitchFamily="49" charset="0"/>
                        </a:rPr>
                        <a:t>type(True)</a:t>
                      </a:r>
                      <a:endParaRPr lang="en-CN" sz="2400" b="0" i="0" dirty="0">
                        <a:latin typeface="Courier New" panose="02070309020205020404" pitchFamily="49" charset="0"/>
                        <a:ea typeface="Menlo" panose="020B060903080402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0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i="0" dirty="0">
                          <a:latin typeface="Courier New" panose="02070309020205020404" pitchFamily="49" charset="0"/>
                          <a:ea typeface="Menlo" panose="020B0609030804020204" pitchFamily="49" charset="0"/>
                          <a:cs typeface="Courier New" panose="02070309020205020404" pitchFamily="49" charset="0"/>
                        </a:rPr>
                        <a:t>bool</a:t>
                      </a:r>
                      <a:endParaRPr lang="en-CN" sz="2400" b="0" i="0" dirty="0">
                        <a:latin typeface="Courier New" panose="02070309020205020404" pitchFamily="49" charset="0"/>
                        <a:ea typeface="Menlo" panose="020B060903080402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353543"/>
                  </a:ext>
                </a:extLst>
              </a:tr>
              <a:tr h="635448">
                <a:tc>
                  <a:txBody>
                    <a:bodyPr/>
                    <a:lstStyle/>
                    <a:p>
                      <a:r>
                        <a:rPr lang="en-US" altLang="zh-CN" sz="2400" b="0" i="0" dirty="0">
                          <a:latin typeface="Courier New" panose="02070309020205020404" pitchFamily="49" charset="0"/>
                          <a:ea typeface="Menlo" panose="020B0609030804020204" pitchFamily="49" charset="0"/>
                          <a:cs typeface="Courier New" panose="02070309020205020404" pitchFamily="49" charset="0"/>
                        </a:rPr>
                        <a:t>type(print(1))</a:t>
                      </a:r>
                      <a:endParaRPr lang="en-CN" sz="2400" b="0" i="0" dirty="0">
                        <a:latin typeface="Courier New" panose="02070309020205020404" pitchFamily="49" charset="0"/>
                        <a:ea typeface="Menlo" panose="020B060903080402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0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i="0" dirty="0" err="1">
                          <a:latin typeface="Courier New" panose="02070309020205020404" pitchFamily="49" charset="0"/>
                          <a:ea typeface="Menlo" panose="020B0609030804020204" pitchFamily="49" charset="0"/>
                          <a:cs typeface="Courier New" panose="02070309020205020404" pitchFamily="49" charset="0"/>
                        </a:rPr>
                        <a:t>NoneType</a:t>
                      </a:r>
                      <a:endParaRPr lang="en-CN" sz="2400" b="0" i="0" dirty="0">
                        <a:latin typeface="Courier New" panose="02070309020205020404" pitchFamily="49" charset="0"/>
                        <a:ea typeface="Menlo" panose="020B060903080402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455310"/>
                  </a:ext>
                </a:extLst>
              </a:tr>
              <a:tr h="635448">
                <a:tc>
                  <a:txBody>
                    <a:bodyPr/>
                    <a:lstStyle/>
                    <a:p>
                      <a:r>
                        <a:rPr lang="en-US" altLang="zh-CN" sz="2400" b="0" i="0" dirty="0">
                          <a:latin typeface="Courier New" panose="02070309020205020404" pitchFamily="49" charset="0"/>
                          <a:ea typeface="Menlo" panose="020B0609030804020204" pitchFamily="49" charset="0"/>
                          <a:cs typeface="Courier New" panose="02070309020205020404" pitchFamily="49" charset="0"/>
                        </a:rPr>
                        <a:t>type(None)</a:t>
                      </a:r>
                      <a:endParaRPr lang="en-CN" sz="2400" b="0" i="0" dirty="0">
                        <a:latin typeface="Courier New" panose="02070309020205020404" pitchFamily="49" charset="0"/>
                        <a:ea typeface="Menlo" panose="020B060903080402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0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i="0" dirty="0" err="1">
                          <a:latin typeface="Courier New" panose="02070309020205020404" pitchFamily="49" charset="0"/>
                          <a:ea typeface="Menlo" panose="020B0609030804020204" pitchFamily="49" charset="0"/>
                          <a:cs typeface="Courier New" panose="02070309020205020404" pitchFamily="49" charset="0"/>
                        </a:rPr>
                        <a:t>NoneType</a:t>
                      </a:r>
                      <a:endParaRPr lang="en-CN" sz="2400" b="0" i="0" dirty="0">
                        <a:latin typeface="Courier New" panose="02070309020205020404" pitchFamily="49" charset="0"/>
                        <a:ea typeface="Menlo" panose="020B060903080402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79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26371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4D99-A18D-E69D-38CC-D0DCBDE5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Try</a:t>
            </a:r>
            <a:r>
              <a:rPr lang="zh-CN" altLang="en-US" dirty="0"/>
              <a:t> </a:t>
            </a:r>
            <a:r>
              <a:rPr lang="en-US" altLang="zh-CN" dirty="0"/>
              <a:t>it!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47033-23FB-E0AF-413C-D96FD504CE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18</a:t>
            </a:fld>
            <a:endParaRPr lang="en-C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5466F-73CF-5E1C-0DBF-A2BA4BF0996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69492" y="1416946"/>
            <a:ext cx="2420421" cy="497785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>
                <a:effectLst/>
                <a:latin typeface="Courier New" panose="02070309020205020404" pitchFamily="49" charset="0"/>
              </a:rPr>
              <a:t>14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dirty="0">
                <a:effectLst/>
                <a:latin typeface="Courier New" panose="02070309020205020404" pitchFamily="49" charset="0"/>
              </a:rPr>
              <a:t>8.9</a:t>
            </a:r>
          </a:p>
          <a:p>
            <a:pPr>
              <a:buFont typeface="Wingdings" pitchFamily="2" charset="2"/>
              <a:buChar char="ü"/>
            </a:pPr>
            <a:r>
              <a:rPr lang="en-US" altLang="zh-CN" dirty="0">
                <a:latin typeface="Courier New" panose="02070309020205020404" pitchFamily="49" charset="0"/>
              </a:rPr>
              <a:t>-4</a:t>
            </a:r>
          </a:p>
          <a:p>
            <a:pPr>
              <a:buFont typeface="Wingdings" pitchFamily="2" charset="2"/>
              <a:buChar char="ü"/>
            </a:pPr>
            <a:r>
              <a:rPr lang="en-US" altLang="zh-CN" dirty="0">
                <a:latin typeface="Courier New" panose="02070309020205020404" pitchFamily="49" charset="0"/>
              </a:rPr>
              <a:t>-2.1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dirty="0">
                <a:effectLst/>
                <a:latin typeface="Courier New" panose="02070309020205020404" pitchFamily="49" charset="0"/>
              </a:rPr>
              <a:t>9.0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altLang="zh-CN" dirty="0">
                <a:latin typeface="Courier New" panose="02070309020205020404" pitchFamily="49" charset="0"/>
              </a:rPr>
              <a:t>3e2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dirty="0">
                <a:effectLst/>
                <a:latin typeface="Courier New" panose="02070309020205020404" pitchFamily="49" charset="0"/>
              </a:rPr>
              <a:t>True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dirty="0">
                <a:effectLst/>
                <a:latin typeface="Courier New" panose="02070309020205020404" pitchFamily="49" charset="0"/>
              </a:rPr>
              <a:t>False </a:t>
            </a:r>
            <a:endParaRPr lang="en-US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effectLst/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02BD5D-EF98-E87F-138B-0005B689640D}"/>
              </a:ext>
            </a:extLst>
          </p:cNvPr>
          <p:cNvSpPr txBox="1"/>
          <p:nvPr/>
        </p:nvSpPr>
        <p:spPr>
          <a:xfrm>
            <a:off x="211693" y="868306"/>
            <a:ext cx="5136021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1.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In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your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shell,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find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the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type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of: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57415AA-9693-4FDE-9916-2FE21C151F43}"/>
              </a:ext>
            </a:extLst>
          </p:cNvPr>
          <p:cNvSpPr txBox="1">
            <a:spLocks/>
          </p:cNvSpPr>
          <p:nvPr/>
        </p:nvSpPr>
        <p:spPr>
          <a:xfrm>
            <a:off x="6859250" y="1481492"/>
            <a:ext cx="3048543" cy="4977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>
            <a:lvl1pPr marL="312528" marR="0" indent="-312528" algn="l" defTabSz="410751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75000"/>
              <a:buFont typeface="System Font Regular"/>
              <a:buChar char="●"/>
              <a:tabLst/>
              <a:defRPr sz="28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1pPr>
            <a:lvl2pPr marL="625056" marR="0" indent="-312528" algn="l" defTabSz="410751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75000"/>
              <a:buFont typeface="Arial Unicode MS" panose="020B0604020202020204" pitchFamily="34" charset="-128"/>
              <a:buChar char="✧"/>
              <a:tabLst/>
              <a:defRPr sz="28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2pPr>
            <a:lvl3pPr marL="967956" marR="0" indent="-342900" algn="l" defTabSz="410751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75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3pPr>
            <a:lvl4pPr marL="125011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4pPr>
            <a:lvl5pPr marL="1562640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5pPr>
            <a:lvl6pPr marL="187516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18769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0022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1275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en-US" altLang="zh-CN" dirty="0">
                <a:latin typeface="Courier New" panose="02070309020205020404" pitchFamily="49" charset="0"/>
              </a:rPr>
              <a:t>float(</a:t>
            </a:r>
            <a:r>
              <a:rPr lang="en-US" dirty="0">
                <a:latin typeface="Courier New" panose="02070309020205020404" pitchFamily="49" charset="0"/>
              </a:rPr>
              <a:t>14</a:t>
            </a:r>
            <a:r>
              <a:rPr lang="en-US" altLang="zh-CN" dirty="0">
                <a:latin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altLang="zh-CN" dirty="0">
                <a:latin typeface="Courier New" panose="02070309020205020404" pitchFamily="49" charset="0"/>
              </a:rPr>
              <a:t>int(</a:t>
            </a:r>
            <a:r>
              <a:rPr lang="en-US" dirty="0">
                <a:latin typeface="Courier New" panose="02070309020205020404" pitchFamily="49" charset="0"/>
              </a:rPr>
              <a:t>8.9</a:t>
            </a:r>
            <a:r>
              <a:rPr lang="en-US" altLang="zh-CN" dirty="0">
                <a:latin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altLang="zh-CN" dirty="0">
                <a:latin typeface="Courier New" panose="02070309020205020404" pitchFamily="49" charset="0"/>
              </a:rPr>
              <a:t>str(1.234)</a:t>
            </a:r>
          </a:p>
          <a:p>
            <a:pPr>
              <a:buFont typeface="Wingdings" pitchFamily="2" charset="2"/>
              <a:buChar char="ü"/>
            </a:pPr>
            <a:r>
              <a:rPr lang="en-US" altLang="zh-CN" b="1" dirty="0">
                <a:latin typeface="Courier New" panose="02070309020205020404" pitchFamily="49" charset="0"/>
              </a:rPr>
              <a:t>int('12.3')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altLang="zh-CN" dirty="0">
                <a:latin typeface="Courier New" panose="02070309020205020404" pitchFamily="49" charset="0"/>
              </a:rPr>
              <a:t>int(True)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altLang="zh-CN" dirty="0">
                <a:latin typeface="Courier New" panose="02070309020205020404" pitchFamily="49" charset="0"/>
              </a:rPr>
              <a:t>int(False)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altLang="zh-CN" dirty="0">
                <a:latin typeface="Courier New" panose="02070309020205020404" pitchFamily="49" charset="0"/>
              </a:rPr>
              <a:t>float(True)</a:t>
            </a:r>
            <a:r>
              <a:rPr lang="en-US" dirty="0">
                <a:latin typeface="Courier New" panose="02070309020205020404" pitchFamily="49" charset="0"/>
              </a:rPr>
              <a:t> </a:t>
            </a:r>
          </a:p>
          <a:p>
            <a:pPr>
              <a:buFont typeface="Wingdings" pitchFamily="2" charset="2"/>
              <a:buChar char="ü"/>
            </a:pPr>
            <a:r>
              <a:rPr lang="en-US" altLang="zh-CN" dirty="0">
                <a:latin typeface="Courier New" panose="02070309020205020404" pitchFamily="49" charset="0"/>
              </a:rPr>
              <a:t>float(False)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FBE890-3B10-8ED1-512E-A3EF210798D1}"/>
              </a:ext>
            </a:extLst>
          </p:cNvPr>
          <p:cNvSpPr txBox="1"/>
          <p:nvPr/>
        </p:nvSpPr>
        <p:spPr>
          <a:xfrm>
            <a:off x="6439207" y="932852"/>
            <a:ext cx="3260508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2.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Find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the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value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of: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8E7C90-667D-B0CB-451A-BDF7FB59BCA1}"/>
              </a:ext>
            </a:extLst>
          </p:cNvPr>
          <p:cNvSpPr txBox="1"/>
          <p:nvPr/>
        </p:nvSpPr>
        <p:spPr>
          <a:xfrm>
            <a:off x="10148459" y="3239022"/>
            <a:ext cx="1150573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altLang="zh-CN" sz="2800" dirty="0">
                <a:solidFill>
                  <a:srgbClr val="C00000"/>
                </a:solidFill>
              </a:rPr>
              <a:t>Error</a:t>
            </a:r>
            <a:endParaRPr kumimoji="0" lang="en-CN" sz="28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17C56-962C-6AD7-13D9-02BEE23AE9D3}"/>
              </a:ext>
            </a:extLst>
          </p:cNvPr>
          <p:cNvSpPr txBox="1"/>
          <p:nvPr/>
        </p:nvSpPr>
        <p:spPr>
          <a:xfrm>
            <a:off x="3259383" y="4327337"/>
            <a:ext cx="1150573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altLang="zh-CN" sz="2800" dirty="0">
                <a:solidFill>
                  <a:srgbClr val="C00000"/>
                </a:solidFill>
              </a:rPr>
              <a:t>float</a:t>
            </a:r>
            <a:endParaRPr kumimoji="0" lang="en-CN" sz="28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1426652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67A8-E7A4-603B-36AF-8F23B27F6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65" y="9075"/>
            <a:ext cx="10406063" cy="665262"/>
          </a:xfrm>
        </p:spPr>
        <p:txBody>
          <a:bodyPr/>
          <a:lstStyle/>
          <a:p>
            <a:r>
              <a:rPr lang="en-US" altLang="zh-CN" dirty="0"/>
              <a:t>Operators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10AB76-FB64-04B1-6F27-38A229B000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19</a:t>
            </a:fld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88F58-F1BB-3B39-5DB0-7212C2A49A02}"/>
              </a:ext>
            </a:extLst>
          </p:cNvPr>
          <p:cNvSpPr txBox="1"/>
          <p:nvPr/>
        </p:nvSpPr>
        <p:spPr>
          <a:xfrm>
            <a:off x="2711473" y="1672284"/>
            <a:ext cx="2893807" cy="5100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457200" indent="-457200" algn="l">
              <a:lnSpc>
                <a:spcPct val="130000"/>
              </a:lnSpc>
              <a:spcAft>
                <a:spcPts val="1200"/>
              </a:spcAft>
              <a:buFont typeface="System Font Regular"/>
              <a:buChar char="☞"/>
            </a:pPr>
            <a:r>
              <a:rPr lang="en-US" altLang="zh-CN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zh-CN" altLang="en-US" sz="2800" dirty="0">
                <a:solidFill>
                  <a:srgbClr val="5F2A89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</a:t>
            </a:r>
            <a:r>
              <a:rPr lang="zh-CN" altLang="en-US" sz="2800" dirty="0">
                <a:solidFill>
                  <a:srgbClr val="5F2A89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</a:t>
            </a:r>
          </a:p>
          <a:p>
            <a:pPr marL="457200" indent="-457200" algn="l">
              <a:lnSpc>
                <a:spcPct val="130000"/>
              </a:lnSpc>
              <a:spcAft>
                <a:spcPts val="1200"/>
              </a:spcAft>
              <a:buFont typeface="System Font Regular"/>
              <a:buChar char="☞"/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i</a:t>
            </a:r>
            <a:r>
              <a:rPr lang="zh-CN" altLang="en-US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–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j</a:t>
            </a:r>
          </a:p>
          <a:p>
            <a:pPr marL="457200" indent="-457200" algn="l">
              <a:lnSpc>
                <a:spcPct val="130000"/>
              </a:lnSpc>
              <a:spcAft>
                <a:spcPts val="1200"/>
              </a:spcAft>
              <a:buFont typeface="System Font Regular"/>
              <a:buChar char="☞"/>
            </a:pPr>
            <a:r>
              <a:rPr lang="en-US" altLang="zh-CN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zh-CN" altLang="en-US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* </a:t>
            </a:r>
            <a:r>
              <a:rPr lang="en-US" altLang="zh-CN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</a:t>
            </a:r>
          </a:p>
          <a:p>
            <a:pPr marL="457200" indent="-457200" algn="l">
              <a:lnSpc>
                <a:spcPct val="130000"/>
              </a:lnSpc>
              <a:spcAft>
                <a:spcPts val="1200"/>
              </a:spcAft>
              <a:buFont typeface="System Font Regular"/>
              <a:buChar char="☞"/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i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/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j</a:t>
            </a:r>
          </a:p>
          <a:p>
            <a:pPr marL="457200" indent="-457200" algn="l">
              <a:lnSpc>
                <a:spcPct val="130000"/>
              </a:lnSpc>
              <a:spcAft>
                <a:spcPts val="1200"/>
              </a:spcAft>
              <a:buFont typeface="System Font Regular"/>
              <a:buChar char="☞"/>
            </a:pPr>
            <a:r>
              <a:rPr lang="en-US" altLang="zh-CN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zh-CN" altLang="en-US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</a:t>
            </a:r>
            <a:r>
              <a:rPr lang="zh-CN" altLang="en-US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</a:t>
            </a:r>
          </a:p>
          <a:p>
            <a:pPr marL="457200" indent="-457200" algn="l">
              <a:lnSpc>
                <a:spcPct val="130000"/>
              </a:lnSpc>
              <a:spcAft>
                <a:spcPts val="1200"/>
              </a:spcAft>
              <a:buFont typeface="System Font Regular"/>
              <a:buChar char="☞"/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i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</a:t>
            </a:r>
            <a:r>
              <a:rPr lang="zh-CN" altLang="en-US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</a:t>
            </a:r>
          </a:p>
          <a:p>
            <a:pPr marL="457200" indent="-457200" algn="l">
              <a:lnSpc>
                <a:spcPct val="130000"/>
              </a:lnSpc>
              <a:spcAft>
                <a:spcPts val="1200"/>
              </a:spcAft>
              <a:buFont typeface="System Font Regular"/>
              <a:buChar char="☞"/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i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**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j</a:t>
            </a:r>
            <a:endParaRPr kumimoji="0" lang="en-CN" sz="2800" b="0" i="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05FB2-896B-CBFE-9F1B-C953E73E0486}"/>
              </a:ext>
            </a:extLst>
          </p:cNvPr>
          <p:cNvSpPr txBox="1"/>
          <p:nvPr/>
        </p:nvSpPr>
        <p:spPr>
          <a:xfrm>
            <a:off x="589097" y="642517"/>
            <a:ext cx="10986131" cy="1231106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altLang="zh-CN" sz="2400" dirty="0">
                <a:solidFill>
                  <a:srgbClr val="5F2A89"/>
                </a:solidFill>
              </a:rPr>
              <a:t>In</a:t>
            </a:r>
            <a:r>
              <a:rPr lang="zh-CN" altLang="en-US" sz="2400" dirty="0">
                <a:solidFill>
                  <a:srgbClr val="5F2A89"/>
                </a:solidFill>
              </a:rPr>
              <a:t> </a:t>
            </a:r>
            <a:r>
              <a:rPr lang="en-US" altLang="zh-CN" sz="2400" dirty="0">
                <a:solidFill>
                  <a:srgbClr val="5F2A89"/>
                </a:solidFill>
              </a:rPr>
              <a:t>the</a:t>
            </a:r>
            <a:r>
              <a:rPr lang="zh-CN" altLang="en-US" sz="2400" dirty="0">
                <a:solidFill>
                  <a:srgbClr val="5F2A89"/>
                </a:solidFill>
              </a:rPr>
              <a:t> </a:t>
            </a:r>
            <a:r>
              <a:rPr lang="en-US" altLang="zh-CN" sz="2400" dirty="0">
                <a:solidFill>
                  <a:srgbClr val="5F2A89"/>
                </a:solidFill>
              </a:rPr>
              <a:t>following</a:t>
            </a:r>
            <a:r>
              <a:rPr lang="zh-CN" altLang="en-US" sz="2400" dirty="0">
                <a:solidFill>
                  <a:srgbClr val="5F2A89"/>
                </a:solidFill>
              </a:rPr>
              <a:t> </a:t>
            </a:r>
            <a:r>
              <a:rPr lang="en-US" altLang="zh-CN" sz="2400" dirty="0">
                <a:solidFill>
                  <a:srgbClr val="5F2A89"/>
                </a:solidFill>
              </a:rPr>
              <a:t>o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perations</a:t>
            </a:r>
            <a:r>
              <a:rPr lang="en-US" altLang="zh-CN" sz="2800" dirty="0">
                <a:solidFill>
                  <a:srgbClr val="5F2A89"/>
                </a:solidFill>
              </a:rPr>
              <a:t>:</a:t>
            </a:r>
          </a:p>
          <a:p>
            <a:pPr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both operands,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F3ECFF"/>
                </a:highlight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i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and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F3ECFF"/>
                </a:highlight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j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, can be either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F3ECFF"/>
                </a:highlight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int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or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F3ECFF"/>
                </a:highlight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float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F8F8C-0EE0-F8E2-DA1E-79FE4835BC16}"/>
              </a:ext>
            </a:extLst>
          </p:cNvPr>
          <p:cNvSpPr txBox="1"/>
          <p:nvPr/>
        </p:nvSpPr>
        <p:spPr>
          <a:xfrm>
            <a:off x="742574" y="1765983"/>
            <a:ext cx="1441100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Addition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CEAD41-435C-E1D4-BE60-553C03ED54AF}"/>
              </a:ext>
            </a:extLst>
          </p:cNvPr>
          <p:cNvSpPr txBox="1"/>
          <p:nvPr/>
        </p:nvSpPr>
        <p:spPr>
          <a:xfrm>
            <a:off x="395586" y="2545007"/>
            <a:ext cx="1942840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Subtraction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88449F-CDCA-1EFA-191F-A9221C154433}"/>
              </a:ext>
            </a:extLst>
          </p:cNvPr>
          <p:cNvSpPr txBox="1"/>
          <p:nvPr/>
        </p:nvSpPr>
        <p:spPr>
          <a:xfrm>
            <a:off x="233094" y="3198624"/>
            <a:ext cx="2223366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Multiplication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C941A-C06C-C554-1CDB-EB8A6BF7A3F7}"/>
              </a:ext>
            </a:extLst>
          </p:cNvPr>
          <p:cNvSpPr txBox="1"/>
          <p:nvPr/>
        </p:nvSpPr>
        <p:spPr>
          <a:xfrm>
            <a:off x="602826" y="3889301"/>
            <a:ext cx="1362552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Division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132AFA-DF05-96FE-C7EB-DD1741B702D7}"/>
              </a:ext>
            </a:extLst>
          </p:cNvPr>
          <p:cNvSpPr txBox="1"/>
          <p:nvPr/>
        </p:nvSpPr>
        <p:spPr>
          <a:xfrm>
            <a:off x="-7970" y="4572250"/>
            <a:ext cx="2561599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Integer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d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ivision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B1D4D8-A208-B439-E584-872A1FFBB173}"/>
              </a:ext>
            </a:extLst>
          </p:cNvPr>
          <p:cNvSpPr txBox="1"/>
          <p:nvPr/>
        </p:nvSpPr>
        <p:spPr>
          <a:xfrm>
            <a:off x="577313" y="5292751"/>
            <a:ext cx="1303242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Modulo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F8C79D-D695-1366-3D53-32B870D09B57}"/>
              </a:ext>
            </a:extLst>
          </p:cNvPr>
          <p:cNvSpPr txBox="1"/>
          <p:nvPr/>
        </p:nvSpPr>
        <p:spPr>
          <a:xfrm>
            <a:off x="87596" y="5955870"/>
            <a:ext cx="2483052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Exponentiation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6E416A-5DE0-FC81-58E5-8E1BCED8ABA2}"/>
              </a:ext>
            </a:extLst>
          </p:cNvPr>
          <p:cNvCxnSpPr>
            <a:cxnSpLocks/>
          </p:cNvCxnSpPr>
          <p:nvPr/>
        </p:nvCxnSpPr>
        <p:spPr>
          <a:xfrm>
            <a:off x="4528971" y="4190451"/>
            <a:ext cx="419547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AF55A2E-8D31-4C1C-4E82-66716C3D506A}"/>
              </a:ext>
            </a:extLst>
          </p:cNvPr>
          <p:cNvSpPr txBox="1"/>
          <p:nvPr/>
        </p:nvSpPr>
        <p:spPr>
          <a:xfrm>
            <a:off x="5038248" y="3921824"/>
            <a:ext cx="2858155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always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return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a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float</a:t>
            </a:r>
            <a:endParaRPr kumimoji="0" lang="en-CN" sz="2400" b="0" i="0" u="none" strike="noStrike" cap="none" spc="0" normalizeH="0" baseline="0" dirty="0" err="1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2550E3-846E-D39E-4EDD-6D3FD8206CF0}"/>
              </a:ext>
            </a:extLst>
          </p:cNvPr>
          <p:cNvSpPr txBox="1"/>
          <p:nvPr/>
        </p:nvSpPr>
        <p:spPr>
          <a:xfrm>
            <a:off x="5038248" y="4647542"/>
            <a:ext cx="7040389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return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the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nearest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integer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on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the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left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of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the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division</a:t>
            </a:r>
            <a:endParaRPr kumimoji="0" lang="en-CN" sz="2400" b="0" i="0" u="none" strike="noStrike" cap="none" spc="0" normalizeH="0" baseline="0" dirty="0" err="1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B91615-2CF5-7F76-72B3-D53FAB5F22BD}"/>
              </a:ext>
            </a:extLst>
          </p:cNvPr>
          <p:cNvCxnSpPr>
            <a:cxnSpLocks/>
          </p:cNvCxnSpPr>
          <p:nvPr/>
        </p:nvCxnSpPr>
        <p:spPr>
          <a:xfrm>
            <a:off x="4575669" y="4889574"/>
            <a:ext cx="482164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55D0D3-1747-EF90-BC13-62DD8E5CC54F}"/>
              </a:ext>
            </a:extLst>
          </p:cNvPr>
          <p:cNvCxnSpPr>
            <a:cxnSpLocks/>
          </p:cNvCxnSpPr>
          <p:nvPr/>
        </p:nvCxnSpPr>
        <p:spPr>
          <a:xfrm>
            <a:off x="4337070" y="5583018"/>
            <a:ext cx="417810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EB9F63A-372F-D4DB-75FF-18EE7245F280}"/>
              </a:ext>
            </a:extLst>
          </p:cNvPr>
          <p:cNvSpPr txBox="1"/>
          <p:nvPr/>
        </p:nvSpPr>
        <p:spPr>
          <a:xfrm>
            <a:off x="4816751" y="5327688"/>
            <a:ext cx="4950073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return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the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remainder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of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the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division</a:t>
            </a:r>
            <a:endParaRPr kumimoji="0" lang="en-CN" sz="2400" b="0" i="0" u="none" strike="noStrike" cap="none" spc="0" normalizeH="0" baseline="0" dirty="0" err="1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A768D1-082B-08B5-9361-E17C195690B5}"/>
              </a:ext>
            </a:extLst>
          </p:cNvPr>
          <p:cNvSpPr txBox="1"/>
          <p:nvPr/>
        </p:nvSpPr>
        <p:spPr>
          <a:xfrm>
            <a:off x="4701618" y="2827319"/>
            <a:ext cx="7377019" cy="666849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sz="2800" dirty="0">
                <a:solidFill>
                  <a:srgbClr val="C00000"/>
                </a:solidFill>
                <a:latin typeface="Helvetica" pitchFamily="2" charset="0"/>
              </a:rPr>
              <a:t>If either operand is a float, the result is a float.</a:t>
            </a:r>
            <a:endParaRPr kumimoji="0" lang="en-CN" sz="3200" b="0" i="0" u="none" strike="noStrike" cap="none" spc="0" normalizeH="0" baseline="0" dirty="0" err="1">
              <a:ln>
                <a:noFill/>
              </a:ln>
              <a:solidFill>
                <a:srgbClr val="C00000"/>
              </a:solidFill>
              <a:effectLst/>
              <a:uFillTx/>
              <a:latin typeface="Helvetica" pitchFamily="2" charset="0"/>
              <a:sym typeface="Helvetica Ligh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B59765-6FE2-04F1-4B49-96908C1C2B0E}"/>
              </a:ext>
            </a:extLst>
          </p:cNvPr>
          <p:cNvSpPr txBox="1"/>
          <p:nvPr/>
        </p:nvSpPr>
        <p:spPr>
          <a:xfrm>
            <a:off x="4442910" y="5679609"/>
            <a:ext cx="5452413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400" dirty="0"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(i//j)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zh-CN" sz="2400" dirty="0"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j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remainder</a:t>
            </a:r>
            <a:endParaRPr lang="en-CN" sz="2400" dirty="0">
              <a:latin typeface="Courier New" panose="02070309020205020404" pitchFamily="49" charset="0"/>
              <a:ea typeface="Menlo" panose="020B06090308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663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9E3F-5BBC-862E-A8C8-403DDC41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Operators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E445FD-2722-A51A-C1FF-92CCE554FB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20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667033-65C4-7759-ADDA-E0AC62539A87}"/>
              </a:ext>
            </a:extLst>
          </p:cNvPr>
          <p:cNvSpPr txBox="1"/>
          <p:nvPr/>
        </p:nvSpPr>
        <p:spPr>
          <a:xfrm>
            <a:off x="324396" y="782836"/>
            <a:ext cx="4873129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Addition</a:t>
            </a:r>
            <a:r>
              <a:rPr lang="en-US" altLang="zh-CN" sz="2800" b="1" dirty="0">
                <a:solidFill>
                  <a:srgbClr val="5F2A89"/>
                </a:solidFill>
              </a:rPr>
              <a:t>/Subtraction</a:t>
            </a:r>
            <a:r>
              <a:rPr lang="zh-CN" altLang="en-US" sz="2800" b="1" dirty="0">
                <a:solidFill>
                  <a:srgbClr val="5F2A89"/>
                </a:solidFill>
              </a:rPr>
              <a:t> </a:t>
            </a:r>
            <a:r>
              <a:rPr lang="en-US" altLang="zh-CN" sz="2800" b="1" dirty="0">
                <a:solidFill>
                  <a:srgbClr val="5F2A89"/>
                </a:solidFill>
              </a:rPr>
              <a:t>(</a:t>
            </a:r>
            <a:r>
              <a:rPr lang="en-US" altLang="zh-CN" sz="2800" b="1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+/-</a:t>
            </a:r>
            <a:r>
              <a:rPr lang="en-US" altLang="zh-CN" sz="2800" b="1" dirty="0">
                <a:solidFill>
                  <a:srgbClr val="5F2A89"/>
                </a:solidFill>
              </a:rPr>
              <a:t>)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：</a:t>
            </a: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8BAEC0-5F27-5253-EA2E-4CBDB3EE1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496374"/>
              </p:ext>
            </p:extLst>
          </p:nvPr>
        </p:nvGraphicFramePr>
        <p:xfrm>
          <a:off x="324396" y="1180960"/>
          <a:ext cx="5151246" cy="22480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75623">
                  <a:extLst>
                    <a:ext uri="{9D8B030D-6E8A-4147-A177-3AD203B41FA5}">
                      <a16:colId xmlns:a16="http://schemas.microsoft.com/office/drawing/2014/main" val="2119213837"/>
                    </a:ext>
                  </a:extLst>
                </a:gridCol>
                <a:gridCol w="2575623">
                  <a:extLst>
                    <a:ext uri="{9D8B030D-6E8A-4147-A177-3AD203B41FA5}">
                      <a16:colId xmlns:a16="http://schemas.microsoft.com/office/drawing/2014/main" val="1638123248"/>
                    </a:ext>
                  </a:extLst>
                </a:gridCol>
              </a:tblGrid>
              <a:tr h="74934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3.0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5.0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4247638"/>
                  </a:ext>
                </a:extLst>
              </a:tr>
              <a:tr h="74934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3.1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6.0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–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9.0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839894"/>
                  </a:ext>
                </a:extLst>
              </a:tr>
              <a:tr h="74934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–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7.3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–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4.3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3.0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83915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58D36E7-E556-ADAD-1260-4AB4EAA43A8A}"/>
              </a:ext>
            </a:extLst>
          </p:cNvPr>
          <p:cNvSpPr txBox="1"/>
          <p:nvPr/>
        </p:nvSpPr>
        <p:spPr>
          <a:xfrm>
            <a:off x="292123" y="3855537"/>
            <a:ext cx="1981312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Division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(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/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951847-DE6D-EB80-4459-22B244442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620969"/>
              </p:ext>
            </p:extLst>
          </p:nvPr>
        </p:nvGraphicFramePr>
        <p:xfrm>
          <a:off x="324396" y="4522386"/>
          <a:ext cx="5046358" cy="16740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23179">
                  <a:extLst>
                    <a:ext uri="{9D8B030D-6E8A-4147-A177-3AD203B41FA5}">
                      <a16:colId xmlns:a16="http://schemas.microsoft.com/office/drawing/2014/main" val="2119213837"/>
                    </a:ext>
                  </a:extLst>
                </a:gridCol>
                <a:gridCol w="2523179">
                  <a:extLst>
                    <a:ext uri="{9D8B030D-6E8A-4147-A177-3AD203B41FA5}">
                      <a16:colId xmlns:a16="http://schemas.microsoft.com/office/drawing/2014/main" val="1638123248"/>
                    </a:ext>
                  </a:extLst>
                </a:gridCol>
              </a:tblGrid>
              <a:tr h="83701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2.5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4.0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4247638"/>
                  </a:ext>
                </a:extLst>
              </a:tr>
              <a:tr h="83701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8.32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1.3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6.4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83989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7C26DD1-B4D9-DA64-55F8-B3CE521AB26D}"/>
              </a:ext>
            </a:extLst>
          </p:cNvPr>
          <p:cNvSpPr txBox="1"/>
          <p:nvPr/>
        </p:nvSpPr>
        <p:spPr>
          <a:xfrm>
            <a:off x="6127712" y="782836"/>
            <a:ext cx="3483326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Integer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Division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(</a:t>
            </a:r>
            <a:r>
              <a:rPr lang="en-US" altLang="zh-CN" sz="2800" b="1" dirty="0">
                <a:solidFill>
                  <a:srgbClr val="5F2A89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F112B00-1000-939F-57FA-E17837F24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98143"/>
              </p:ext>
            </p:extLst>
          </p:nvPr>
        </p:nvGraphicFramePr>
        <p:xfrm>
          <a:off x="6127712" y="1223078"/>
          <a:ext cx="4963424" cy="1402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688508">
                  <a:extLst>
                    <a:ext uri="{9D8B030D-6E8A-4147-A177-3AD203B41FA5}">
                      <a16:colId xmlns:a16="http://schemas.microsoft.com/office/drawing/2014/main" val="2119213837"/>
                    </a:ext>
                  </a:extLst>
                </a:gridCol>
                <a:gridCol w="2274916">
                  <a:extLst>
                    <a:ext uri="{9D8B030D-6E8A-4147-A177-3AD203B41FA5}">
                      <a16:colId xmlns:a16="http://schemas.microsoft.com/office/drawing/2014/main" val="1638123248"/>
                    </a:ext>
                  </a:extLst>
                </a:gridCol>
              </a:tblGrid>
              <a:tr h="64137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-5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-3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4247638"/>
                  </a:ext>
                </a:extLst>
              </a:tr>
              <a:tr h="64137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8.32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1.3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6.0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&gt;&gt;&gt;10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0.25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4.0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83989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56C9C16-F7D9-3E05-74EF-AF8669777FE1}"/>
              </a:ext>
            </a:extLst>
          </p:cNvPr>
          <p:cNvSpPr txBox="1"/>
          <p:nvPr/>
        </p:nvSpPr>
        <p:spPr>
          <a:xfrm>
            <a:off x="6043572" y="2768427"/>
            <a:ext cx="3319820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Modulo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Division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(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%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2FB461D-8979-F172-22E8-EF3FB7A92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090374"/>
              </p:ext>
            </p:extLst>
          </p:nvPr>
        </p:nvGraphicFramePr>
        <p:xfrm>
          <a:off x="6043572" y="3204974"/>
          <a:ext cx="5047564" cy="1402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34083">
                  <a:extLst>
                    <a:ext uri="{9D8B030D-6E8A-4147-A177-3AD203B41FA5}">
                      <a16:colId xmlns:a16="http://schemas.microsoft.com/office/drawing/2014/main" val="2119213837"/>
                    </a:ext>
                  </a:extLst>
                </a:gridCol>
                <a:gridCol w="2313481">
                  <a:extLst>
                    <a:ext uri="{9D8B030D-6E8A-4147-A177-3AD203B41FA5}">
                      <a16:colId xmlns:a16="http://schemas.microsoft.com/office/drawing/2014/main" val="1638123248"/>
                    </a:ext>
                  </a:extLst>
                </a:gridCol>
              </a:tblGrid>
              <a:tr h="68312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-5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4247638"/>
                  </a:ext>
                </a:extLst>
              </a:tr>
              <a:tr h="68312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8.32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1.3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0.52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&gt;&gt;&gt;10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0.25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83989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27938AF-7DFC-D443-BB6C-691D6788F6C5}"/>
              </a:ext>
            </a:extLst>
          </p:cNvPr>
          <p:cNvSpPr txBox="1"/>
          <p:nvPr/>
        </p:nvSpPr>
        <p:spPr>
          <a:xfrm>
            <a:off x="6043572" y="4836492"/>
            <a:ext cx="3358292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Exponentiation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(</a:t>
            </a:r>
            <a:r>
              <a:rPr lang="zh-CN" altLang="en-US" sz="2800" b="1" dirty="0">
                <a:solidFill>
                  <a:srgbClr val="5F2A89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)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D6AE87-D8A0-64D9-DC25-86C677F2E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143619"/>
              </p:ext>
            </p:extLst>
          </p:nvPr>
        </p:nvGraphicFramePr>
        <p:xfrm>
          <a:off x="6043571" y="5273039"/>
          <a:ext cx="5553173" cy="1402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261334">
                  <a:extLst>
                    <a:ext uri="{9D8B030D-6E8A-4147-A177-3AD203B41FA5}">
                      <a16:colId xmlns:a16="http://schemas.microsoft.com/office/drawing/2014/main" val="2119213837"/>
                    </a:ext>
                  </a:extLst>
                </a:gridCol>
                <a:gridCol w="3291839">
                  <a:extLst>
                    <a:ext uri="{9D8B030D-6E8A-4147-A177-3AD203B41FA5}">
                      <a16:colId xmlns:a16="http://schemas.microsoft.com/office/drawing/2014/main" val="1638123248"/>
                    </a:ext>
                  </a:extLst>
                </a:gridCol>
              </a:tblGrid>
              <a:tr h="68312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**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**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4.0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4247638"/>
                  </a:ext>
                </a:extLst>
              </a:tr>
              <a:tr h="68312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1.2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**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1.44</a:t>
                      </a:r>
                      <a:endParaRPr lang="en-CN" sz="20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&gt;&gt;&gt;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3.2</a:t>
                      </a:r>
                      <a:r>
                        <a:rPr lang="zh-CN" altLang="en-US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** </a:t>
                      </a:r>
                      <a:r>
                        <a:rPr lang="en-US" altLang="zh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1.2</a:t>
                      </a:r>
                    </a:p>
                    <a:p>
                      <a:pPr algn="l"/>
                      <a:r>
                        <a:rPr lang="en-CN" sz="20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4.038127004673237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839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45446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2E6B-97CF-3D91-2A4B-25EB042D7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Expression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C11AAB-3FBD-35C8-99FC-AA6B47904B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21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FD5BA5-B497-75CF-EDBE-9E57CA36E684}"/>
              </a:ext>
            </a:extLst>
          </p:cNvPr>
          <p:cNvSpPr txBox="1"/>
          <p:nvPr/>
        </p:nvSpPr>
        <p:spPr>
          <a:xfrm>
            <a:off x="653694" y="789060"/>
            <a:ext cx="897200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800" dirty="0">
                <a:solidFill>
                  <a:srgbClr val="5F2A89"/>
                </a:solidFill>
                <a:effectLst/>
                <a:latin typeface="Helvetica Light" panose="020B0403020202020204" pitchFamily="34" charset="0"/>
              </a:rPr>
              <a:t>Combine </a:t>
            </a:r>
            <a:r>
              <a:rPr lang="en-US" sz="2800" b="1" dirty="0">
                <a:solidFill>
                  <a:srgbClr val="5F2A89"/>
                </a:solidFill>
                <a:effectLst/>
                <a:latin typeface="HELVETICA LIGHT" panose="020B0403020202020204" pitchFamily="34" charset="0"/>
              </a:rPr>
              <a:t>objects and operators </a:t>
            </a:r>
            <a:r>
              <a:rPr lang="en-US" sz="2800" dirty="0">
                <a:solidFill>
                  <a:srgbClr val="5F2A89"/>
                </a:solidFill>
                <a:effectLst/>
                <a:latin typeface="Helvetica Light" panose="020B0403020202020204" pitchFamily="34" charset="0"/>
              </a:rPr>
              <a:t>to form expressions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</a:rPr>
              <a:t>.</a:t>
            </a:r>
            <a:endParaRPr lang="en-US" sz="2800" dirty="0">
              <a:solidFill>
                <a:srgbClr val="5F2A89"/>
              </a:solidFill>
              <a:effectLst/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AA407-EB19-6808-4DE1-B69464F4B44B}"/>
              </a:ext>
            </a:extLst>
          </p:cNvPr>
          <p:cNvSpPr txBox="1"/>
          <p:nvPr/>
        </p:nvSpPr>
        <p:spPr>
          <a:xfrm>
            <a:off x="1731981" y="1322539"/>
            <a:ext cx="1208664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3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+2</a:t>
            </a: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3/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2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A8B619-9401-4123-7E93-333C052393C8}"/>
              </a:ext>
            </a:extLst>
          </p:cNvPr>
          <p:cNvSpPr txBox="1"/>
          <p:nvPr/>
        </p:nvSpPr>
        <p:spPr>
          <a:xfrm>
            <a:off x="750716" y="2553645"/>
            <a:ext cx="8972007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285750" indent="-285750">
              <a:buFont typeface="Wingdings" pitchFamily="2" charset="2"/>
              <a:buChar char="§"/>
              <a:defRPr sz="2800">
                <a:solidFill>
                  <a:srgbClr val="5F2A89"/>
                </a:solidFill>
                <a:latin typeface="Helvetica Light" panose="020B0403020202020204" pitchFamily="34" charset="0"/>
              </a:defRPr>
            </a:lvl1pPr>
          </a:lstStyle>
          <a:p>
            <a:pPr algn="l"/>
            <a:r>
              <a:rPr lang="en-US" dirty="0"/>
              <a:t>An expression has a </a:t>
            </a:r>
            <a:r>
              <a:rPr lang="en-US" b="1" dirty="0"/>
              <a:t>value</a:t>
            </a:r>
            <a:r>
              <a:rPr lang="en-US" dirty="0"/>
              <a:t>, which has a</a:t>
            </a:r>
            <a:r>
              <a:rPr lang="zh-CN" altLang="en-US" dirty="0"/>
              <a:t> </a:t>
            </a:r>
            <a:r>
              <a:rPr lang="en-US" altLang="zh-CN" dirty="0"/>
              <a:t>type.</a:t>
            </a:r>
            <a:br>
              <a:rPr lang="en-US" dirty="0"/>
            </a:br>
            <a:endParaRPr lang="en-US" dirty="0"/>
          </a:p>
          <a:p>
            <a:pPr algn="l"/>
            <a:endParaRPr lang="en-CN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008A21-E066-41C7-57D2-8C8A6330C602}"/>
              </a:ext>
            </a:extLst>
          </p:cNvPr>
          <p:cNvSpPr txBox="1"/>
          <p:nvPr/>
        </p:nvSpPr>
        <p:spPr>
          <a:xfrm>
            <a:off x="1731981" y="3251272"/>
            <a:ext cx="6283771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3+2</a:t>
            </a:r>
            <a:r>
              <a:rPr lang="en-US" sz="2800" dirty="0">
                <a:solidFill>
                  <a:srgbClr val="5F2A89"/>
                </a:solidFill>
              </a:rPr>
              <a:t> has value </a:t>
            </a:r>
            <a:r>
              <a:rPr lang="en-US" sz="28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</a:t>
            </a:r>
            <a:r>
              <a:rPr lang="en-US" sz="2800" dirty="0">
                <a:solidFill>
                  <a:srgbClr val="5F2A89"/>
                </a:solidFill>
              </a:rPr>
              <a:t>and type </a:t>
            </a:r>
            <a:r>
              <a:rPr lang="en-US" sz="28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3/2</a:t>
            </a:r>
            <a:r>
              <a:rPr lang="en-US" sz="2800" dirty="0">
                <a:solidFill>
                  <a:srgbClr val="5F2A89"/>
                </a:solidFill>
              </a:rPr>
              <a:t> has value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1.5</a:t>
            </a:r>
            <a:r>
              <a:rPr lang="en-US" sz="2800" dirty="0">
                <a:solidFill>
                  <a:srgbClr val="5F2A89"/>
                </a:solidFill>
              </a:rPr>
              <a:t> and type </a:t>
            </a:r>
            <a:r>
              <a:rPr lang="en-US" sz="28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4B9DF-AFBD-D8F6-5DF1-B47FA6E34403}"/>
              </a:ext>
            </a:extLst>
          </p:cNvPr>
          <p:cNvSpPr txBox="1"/>
          <p:nvPr/>
        </p:nvSpPr>
        <p:spPr>
          <a:xfrm>
            <a:off x="750716" y="4645208"/>
            <a:ext cx="9469049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285750" indent="-285750" algn="l">
              <a:buFont typeface="Wingdings" pitchFamily="2" charset="2"/>
              <a:buChar char="§"/>
              <a:defRPr sz="2800">
                <a:solidFill>
                  <a:srgbClr val="5F2A89"/>
                </a:solidFill>
                <a:latin typeface="Helvetica Light" panose="020B0403020202020204" pitchFamily="34" charset="0"/>
              </a:defRPr>
            </a:lvl1pPr>
          </a:lstStyle>
          <a:p>
            <a:r>
              <a:rPr lang="en-US" dirty="0"/>
              <a:t>Python evaluates expressions and stores the value. </a:t>
            </a:r>
            <a:br>
              <a:rPr lang="en-US" dirty="0"/>
            </a:br>
            <a:r>
              <a:rPr lang="en-US" dirty="0"/>
              <a:t>It doesn’t</a:t>
            </a:r>
            <a:r>
              <a:rPr lang="zh-CN" altLang="en-US" dirty="0"/>
              <a:t> </a:t>
            </a:r>
            <a:r>
              <a:rPr lang="en-US" dirty="0"/>
              <a:t>store expressions!</a:t>
            </a:r>
          </a:p>
          <a:p>
            <a:endParaRPr lang="en-CN" dirty="0" err="1"/>
          </a:p>
        </p:txBody>
      </p:sp>
    </p:spTree>
    <p:extLst>
      <p:ext uri="{BB962C8B-B14F-4D97-AF65-F5344CB8AC3E}">
        <p14:creationId xmlns:p14="http://schemas.microsoft.com/office/powerpoint/2010/main" val="116557160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2E4A-BE8A-396C-5563-3CCEA6BDC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Operators</a:t>
            </a:r>
            <a:r>
              <a:rPr lang="zh-CN" altLang="en-US" dirty="0"/>
              <a:t> </a:t>
            </a:r>
            <a:r>
              <a:rPr lang="en-US" altLang="zh-CN" dirty="0"/>
              <a:t>Precedence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F47253-F8F2-4785-36D6-822A43D746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22</a:t>
            </a:fld>
            <a:endParaRPr lang="en-C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74FC1-B173-1520-660B-10D0B363B4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2969" y="750095"/>
            <a:ext cx="10406063" cy="1369162"/>
          </a:xfrm>
        </p:spPr>
        <p:txBody>
          <a:bodyPr/>
          <a:lstStyle/>
          <a:p>
            <a:r>
              <a:rPr lang="en-US" dirty="0">
                <a:effectLst/>
                <a:latin typeface="Helvetica Light" panose="020B0403020202020204" pitchFamily="34" charset="0"/>
              </a:rPr>
              <a:t>Parentheses tell Python to do these operations first</a:t>
            </a:r>
            <a:r>
              <a:rPr lang="en-US" altLang="zh-CN" dirty="0">
                <a:effectLst/>
                <a:latin typeface="Helvetica Light" panose="020B0403020202020204" pitchFamily="34" charset="0"/>
              </a:rPr>
              <a:t>.</a:t>
            </a:r>
          </a:p>
          <a:p>
            <a:pPr lvl="1"/>
            <a:r>
              <a:rPr lang="en-US" altLang="zh-CN" dirty="0">
                <a:latin typeface="Helvetica Light" panose="020B0403020202020204" pitchFamily="34" charset="0"/>
              </a:rPr>
              <a:t>Like</a:t>
            </a:r>
            <a:r>
              <a:rPr lang="zh-CN" altLang="en-US" dirty="0">
                <a:latin typeface="Helvetica Light" panose="020B0403020202020204" pitchFamily="34" charset="0"/>
              </a:rPr>
              <a:t> </a:t>
            </a:r>
            <a:r>
              <a:rPr lang="en-US" altLang="zh-CN" dirty="0">
                <a:latin typeface="Helvetica Light" panose="020B0403020202020204" pitchFamily="34" charset="0"/>
              </a:rPr>
              <a:t>math!</a:t>
            </a:r>
            <a:endParaRPr lang="en-US" dirty="0">
              <a:effectLst/>
              <a:latin typeface="Helvetica Light" panose="020B0403020202020204" pitchFamily="34" charset="0"/>
            </a:endParaRPr>
          </a:p>
          <a:p>
            <a:endParaRPr lang="en-CN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9DA02DC-EF09-35ED-AE73-82FAF67C5EC4}"/>
              </a:ext>
            </a:extLst>
          </p:cNvPr>
          <p:cNvSpPr txBox="1">
            <a:spLocks/>
          </p:cNvSpPr>
          <p:nvPr/>
        </p:nvSpPr>
        <p:spPr>
          <a:xfrm>
            <a:off x="892968" y="2040116"/>
            <a:ext cx="10406063" cy="1369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312528" indent="-312528" algn="l" defTabSz="410751" eaLnBrk="1" hangingPunct="1">
              <a:spcBef>
                <a:spcPts val="1200"/>
              </a:spcBef>
              <a:buSzPct val="75000"/>
              <a:buFont typeface="System Font Regular"/>
              <a:buChar char="●"/>
              <a:defRPr sz="280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625056" lvl="1" indent="-312528" algn="l" defTabSz="410751" eaLnBrk="1" hangingPunct="1">
              <a:spcBef>
                <a:spcPts val="1200"/>
              </a:spcBef>
              <a:buSzPct val="75000"/>
              <a:buFont typeface="Arial Unicode MS" panose="020B0604020202020204" pitchFamily="34" charset="-128"/>
              <a:buChar char="✧"/>
              <a:defRPr sz="280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2pPr>
            <a:lvl3pPr marL="967956" indent="-342900" algn="l" defTabSz="410751" eaLnBrk="1" hangingPunct="1">
              <a:spcBef>
                <a:spcPts val="1200"/>
              </a:spcBef>
              <a:buSzPct val="75000"/>
              <a:buFont typeface="Arial" panose="020B0604020202020204" pitchFamily="34" charset="0"/>
              <a:buChar char="•"/>
              <a:defRPr sz="240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3pPr>
            <a:lvl4pPr marL="1250112" indent="-312528" algn="l" defTabSz="410751" eaLnBrk="1" hangingPunct="1">
              <a:spcBef>
                <a:spcPts val="2953"/>
              </a:spcBef>
              <a:buSzPct val="75000"/>
              <a:buChar char="•"/>
              <a:defRPr sz="240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4pPr>
            <a:lvl5pPr marL="1562640" indent="-312528" algn="l" defTabSz="410751" eaLnBrk="1" hangingPunct="1">
              <a:spcBef>
                <a:spcPts val="2953"/>
              </a:spcBef>
              <a:buSzPct val="75000"/>
              <a:buChar char="•"/>
              <a:defRPr sz="2400">
                <a:solidFill>
                  <a:schemeClr val="accent6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5pPr>
            <a:lvl6pPr marL="1875168" indent="-312528" algn="l" defTabSz="410751" eaLnBrk="1" hangingPunct="1">
              <a:spcBef>
                <a:spcPts val="2953"/>
              </a:spcBef>
              <a:buSzPct val="75000"/>
              <a:buChar char="•"/>
              <a:defRPr sz="2531"/>
            </a:lvl6pPr>
            <a:lvl7pPr marL="2187696" indent="-312528" algn="l" defTabSz="410751" eaLnBrk="1" hangingPunct="1">
              <a:spcBef>
                <a:spcPts val="2953"/>
              </a:spcBef>
              <a:buSzPct val="75000"/>
              <a:buChar char="•"/>
              <a:defRPr sz="2531"/>
            </a:lvl7pPr>
            <a:lvl8pPr marL="2500224" indent="-312528" algn="l" defTabSz="410751" eaLnBrk="1" hangingPunct="1">
              <a:spcBef>
                <a:spcPts val="2953"/>
              </a:spcBef>
              <a:buSzPct val="75000"/>
              <a:buChar char="•"/>
              <a:defRPr sz="2531"/>
            </a:lvl8pPr>
            <a:lvl9pPr marL="2812752" indent="-312528" algn="l" defTabSz="410751" eaLnBrk="1" hangingPunct="1">
              <a:spcBef>
                <a:spcPts val="2953"/>
              </a:spcBef>
              <a:buSzPct val="75000"/>
              <a:buChar char="•"/>
              <a:defRPr sz="2531"/>
            </a:lvl9pPr>
          </a:lstStyle>
          <a:p>
            <a:r>
              <a:rPr lang="en-US" dirty="0"/>
              <a:t>Operator precedence without parentheses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expression: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12D643-ACEC-FC7F-4DB7-73C532346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728911"/>
              </p:ext>
            </p:extLst>
          </p:nvPr>
        </p:nvGraphicFramePr>
        <p:xfrm>
          <a:off x="2645186" y="2821516"/>
          <a:ext cx="7531548" cy="288146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765774">
                  <a:extLst>
                    <a:ext uri="{9D8B030D-6E8A-4147-A177-3AD203B41FA5}">
                      <a16:colId xmlns:a16="http://schemas.microsoft.com/office/drawing/2014/main" val="4232593753"/>
                    </a:ext>
                  </a:extLst>
                </a:gridCol>
                <a:gridCol w="3765774">
                  <a:extLst>
                    <a:ext uri="{9D8B030D-6E8A-4147-A177-3AD203B41FA5}">
                      <a16:colId xmlns:a16="http://schemas.microsoft.com/office/drawing/2014/main" val="2892456685"/>
                    </a:ext>
                  </a:extLst>
                </a:gridCol>
              </a:tblGrid>
              <a:tr h="806823">
                <a:tc>
                  <a:txBody>
                    <a:bodyPr/>
                    <a:lstStyle/>
                    <a:p>
                      <a:r>
                        <a:rPr lang="zh-CN" altLang="en-US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**</a:t>
                      </a:r>
                      <a:endParaRPr lang="en-CN" sz="28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N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3979660"/>
                  </a:ext>
                </a:extLst>
              </a:tr>
              <a:tr h="1037319">
                <a:tc>
                  <a:txBody>
                    <a:bodyPr/>
                    <a:lstStyle/>
                    <a:p>
                      <a:r>
                        <a:rPr lang="zh-CN" altLang="en-US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  </a:t>
                      </a:r>
                      <a:r>
                        <a:rPr lang="en-US" altLang="zh-CN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zh-CN" altLang="en-US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altLang="zh-CN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//</a:t>
                      </a:r>
                      <a:r>
                        <a:rPr lang="zh-CN" altLang="en-US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altLang="zh-CN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</a:t>
                      </a:r>
                      <a:endParaRPr lang="en-CN" sz="28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dirty="0">
                          <a:solidFill>
                            <a:srgbClr val="5F2A89"/>
                          </a:solidFill>
                          <a:latin typeface="Helvetica Light" panose="020B0403020202020204" pitchFamily="34" charset="0"/>
                        </a:rPr>
                        <a:t>executed left to right, </a:t>
                      </a:r>
                    </a:p>
                    <a:p>
                      <a:endParaRPr lang="en-CN" sz="2800" b="0" i="0" dirty="0">
                        <a:solidFill>
                          <a:srgbClr val="5F2A89"/>
                        </a:solidFill>
                        <a:latin typeface="Helvetica Light" panose="020B0403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494196"/>
                  </a:ext>
                </a:extLst>
              </a:tr>
              <a:tr h="1037319">
                <a:tc>
                  <a:txBody>
                    <a:bodyPr/>
                    <a:lstStyle/>
                    <a:p>
                      <a:r>
                        <a:rPr lang="zh-CN" altLang="en-US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zh-CN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zh-CN" altLang="en-US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altLang="zh-CN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r>
                        <a:rPr lang="zh-CN" altLang="en-US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endParaRPr lang="en-CN" sz="28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i="0" u="none" strike="noStrike" cap="none" spc="0" baseline="0" dirty="0">
                          <a:solidFill>
                            <a:srgbClr val="5F2A89"/>
                          </a:solidFill>
                          <a:effectLst/>
                          <a:uFillTx/>
                          <a:latin typeface="Helvetica Light" panose="020B0403020202020204" pitchFamily="34" charset="0"/>
                          <a:ea typeface="+mn-ea"/>
                          <a:cs typeface="+mn-cs"/>
                          <a:sym typeface="Helvetica Light"/>
                        </a:rPr>
                        <a:t>executed left to right, </a:t>
                      </a:r>
                    </a:p>
                    <a:p>
                      <a:endParaRPr lang="en-CN" sz="2800" b="0" i="0" dirty="0">
                        <a:solidFill>
                          <a:srgbClr val="5F2A89"/>
                        </a:solidFill>
                        <a:latin typeface="Helvetica Light" panose="020B0403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992706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A44DE6-BB28-C93F-1BA8-DFBB864733B5}"/>
              </a:ext>
            </a:extLst>
          </p:cNvPr>
          <p:cNvCxnSpPr/>
          <p:nvPr/>
        </p:nvCxnSpPr>
        <p:spPr>
          <a:xfrm>
            <a:off x="2377440" y="3141233"/>
            <a:ext cx="0" cy="2441986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BFE9A36-A837-8B3D-E399-BFC205A6E5EF}"/>
              </a:ext>
            </a:extLst>
          </p:cNvPr>
          <p:cNvSpPr txBox="1"/>
          <p:nvPr/>
        </p:nvSpPr>
        <p:spPr>
          <a:xfrm>
            <a:off x="1387737" y="3141233"/>
            <a:ext cx="862416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High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B57EC9-9B95-7A25-001D-2F7D37B96590}"/>
              </a:ext>
            </a:extLst>
          </p:cNvPr>
          <p:cNvSpPr txBox="1"/>
          <p:nvPr/>
        </p:nvSpPr>
        <p:spPr>
          <a:xfrm>
            <a:off x="1381152" y="5133568"/>
            <a:ext cx="763029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Low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0937315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72DBA-04A3-F938-E100-802F0A035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try</a:t>
            </a:r>
            <a:r>
              <a:rPr lang="zh-CN" altLang="en-US" dirty="0"/>
              <a:t> </a:t>
            </a:r>
            <a:r>
              <a:rPr lang="en-US" altLang="zh-CN" dirty="0"/>
              <a:t>it!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9C3168-62C5-8A6E-A1BA-42046ADF88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23</a:t>
            </a:fld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26347-041A-7B91-317E-5231C30B509C}"/>
              </a:ext>
            </a:extLst>
          </p:cNvPr>
          <p:cNvSpPr txBox="1"/>
          <p:nvPr/>
        </p:nvSpPr>
        <p:spPr>
          <a:xfrm>
            <a:off x="1635246" y="903391"/>
            <a:ext cx="7437934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In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your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shell,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fine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the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value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o</a:t>
            </a:r>
            <a:r>
              <a:rPr lang="en-US" altLang="zh-CN" sz="2800" dirty="0">
                <a:solidFill>
                  <a:srgbClr val="5F2A89"/>
                </a:solidFill>
              </a:rPr>
              <a:t>f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expression: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EA964-21F3-4352-2C93-57117A62480B}"/>
              </a:ext>
            </a:extLst>
          </p:cNvPr>
          <p:cNvSpPr txBox="1"/>
          <p:nvPr/>
        </p:nvSpPr>
        <p:spPr>
          <a:xfrm>
            <a:off x="2987389" y="1761877"/>
            <a:ext cx="3571491" cy="33342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solidFill>
                  <a:srgbClr val="5F2A8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(13-4) / (1*2)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solidFill>
                  <a:srgbClr val="5F2A8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int(1/2)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CN" sz="28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** 3 * 4</a:t>
            </a:r>
            <a:r>
              <a:rPr lang="en-US" sz="2800" dirty="0">
                <a:solidFill>
                  <a:srgbClr val="5F2A8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CN" sz="28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 / 5 * 2</a:t>
            </a:r>
            <a:endParaRPr lang="en-US" sz="2800" dirty="0">
              <a:solidFill>
                <a:srgbClr val="5F2A8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CN" sz="28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10 - 6 / 2 + 3</a:t>
            </a:r>
            <a:endParaRPr lang="en-US" sz="2800" dirty="0">
              <a:solidFill>
                <a:srgbClr val="5F2A8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30816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9379064-551E-E384-F025-86C8FCD043B2}"/>
              </a:ext>
            </a:extLst>
          </p:cNvPr>
          <p:cNvSpPr/>
          <p:nvPr/>
        </p:nvSpPr>
        <p:spPr>
          <a:xfrm>
            <a:off x="374550" y="4337942"/>
            <a:ext cx="11611440" cy="2520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5F2A89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92743A-5A62-0F3E-C3EB-D6F3B1630FE2}"/>
              </a:ext>
            </a:extLst>
          </p:cNvPr>
          <p:cNvSpPr/>
          <p:nvPr/>
        </p:nvSpPr>
        <p:spPr>
          <a:xfrm>
            <a:off x="374550" y="1755794"/>
            <a:ext cx="11611440" cy="23854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5F2A89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7BCE3-B007-0A9B-F9EA-B545CFCA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Operat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F354B9-D94B-4812-2373-1021F38D1B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24</a:t>
            </a:fld>
            <a:endParaRPr lang="en-CN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191B62C-7F47-FFF3-9FB6-F8F9048D034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77237" y="2410882"/>
            <a:ext cx="10406063" cy="695954"/>
          </a:xfrm>
        </p:spPr>
        <p:txBody>
          <a:bodyPr/>
          <a:lstStyle/>
          <a:p>
            <a:pPr lvl="1"/>
            <a:r>
              <a:rPr lang="en-US" dirty="0"/>
              <a:t>The </a:t>
            </a:r>
            <a:r>
              <a:rPr lang="en-US" b="1" dirty="0">
                <a:highlight>
                  <a:srgbClr val="F3E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dirty="0"/>
              <a:t> </a:t>
            </a:r>
            <a:r>
              <a:rPr lang="en-US" altLang="zh-CN" dirty="0"/>
              <a:t>o</a:t>
            </a:r>
            <a:r>
              <a:rPr lang="en-US" dirty="0"/>
              <a:t>perator joins two strings</a:t>
            </a:r>
            <a:endParaRPr lang="en-CN" dirty="0"/>
          </a:p>
        </p:txBody>
      </p:sp>
      <p:sp>
        <p:nvSpPr>
          <p:cNvPr id="6" name="Escape Sequence">
            <a:extLst>
              <a:ext uri="{FF2B5EF4-FFF2-40B4-BE49-F238E27FC236}">
                <a16:creationId xmlns:a16="http://schemas.microsoft.com/office/drawing/2014/main" id="{701B71DD-09DE-7FD5-8919-BC784479357D}"/>
              </a:ext>
            </a:extLst>
          </p:cNvPr>
          <p:cNvSpPr txBox="1"/>
          <p:nvPr/>
        </p:nvSpPr>
        <p:spPr>
          <a:xfrm>
            <a:off x="374550" y="866933"/>
            <a:ext cx="11630983" cy="533479"/>
          </a:xfrm>
          <a:prstGeom prst="rect">
            <a:avLst/>
          </a:prstGeom>
          <a:solidFill>
            <a:srgbClr val="F3EC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200">
                <a:solidFill>
                  <a:schemeClr val="accent6">
                    <a:lumOff val="-21524"/>
                  </a:schemeClr>
                </a:solidFill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r>
              <a:rPr lang="en-US" sz="2800" b="1" dirty="0">
                <a:solidFill>
                  <a:srgbClr val="5F2A89"/>
                </a:solidFill>
                <a:latin typeface="HELVETICA LIGHT" panose="020B0403020202020204" pitchFamily="34" charset="0"/>
              </a:rPr>
              <a:t>Strings support two basic operations: </a:t>
            </a:r>
            <a:r>
              <a:rPr lang="en-US" sz="2800" b="1" i="1" dirty="0">
                <a:solidFill>
                  <a:srgbClr val="5F2A89"/>
                </a:solidFill>
                <a:latin typeface="HELVETICA LIGHT" panose="020B0403020202020204" pitchFamily="34" charset="0"/>
              </a:rPr>
              <a:t>concatenation </a:t>
            </a:r>
            <a:r>
              <a:rPr lang="en-US" sz="2800" b="1" dirty="0">
                <a:solidFill>
                  <a:srgbClr val="5F2A89"/>
                </a:solidFill>
                <a:latin typeface="HELVETICA LIGHT" panose="020B0403020202020204" pitchFamily="34" charset="0"/>
              </a:rPr>
              <a:t>and </a:t>
            </a:r>
            <a:r>
              <a:rPr lang="en-US" sz="2800" b="1" i="1" dirty="0">
                <a:solidFill>
                  <a:srgbClr val="5F2A89"/>
                </a:solidFill>
                <a:latin typeface="HELVETICA LIGHT" panose="020B0403020202020204" pitchFamily="34" charset="0"/>
              </a:rPr>
              <a:t>repetition</a:t>
            </a:r>
            <a:r>
              <a:rPr lang="en-US" sz="2800" b="1" dirty="0">
                <a:solidFill>
                  <a:srgbClr val="5F2A89"/>
                </a:solidFill>
                <a:latin typeface="HELVETICA LIGHT" panose="020B0403020202020204" pitchFamily="34" charset="0"/>
              </a:rPr>
              <a:t>.</a:t>
            </a:r>
            <a:endParaRPr lang="en-US" sz="4400" b="1" dirty="0">
              <a:solidFill>
                <a:srgbClr val="5F2A89"/>
              </a:solidFill>
              <a:latin typeface="HELVETICA LIGHT" panose="020B0403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138E4-A390-94AD-BFF1-64C137CED35D}"/>
              </a:ext>
            </a:extLst>
          </p:cNvPr>
          <p:cNvSpPr txBox="1"/>
          <p:nvPr/>
        </p:nvSpPr>
        <p:spPr>
          <a:xfrm>
            <a:off x="374550" y="1744033"/>
            <a:ext cx="3441648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Aft>
                <a:spcPts val="1200"/>
              </a:spcAft>
              <a:buFont typeface="Wingdings" pitchFamily="2" charset="2"/>
              <a:buChar char="§"/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Concatenation: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F3ECFF"/>
                </a:highlight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+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E95E6-4D02-FC77-0565-B89BB4CA3C24}"/>
              </a:ext>
            </a:extLst>
          </p:cNvPr>
          <p:cNvSpPr txBox="1"/>
          <p:nvPr/>
        </p:nvSpPr>
        <p:spPr>
          <a:xfrm>
            <a:off x="2344366" y="2986638"/>
            <a:ext cx="3605154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&gt;&gt;&gt;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"Hello" + "ICP"</a:t>
            </a:r>
          </a:p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"HelloWorld"</a:t>
            </a:r>
            <a:endParaRPr kumimoji="0" lang="en-CN" sz="24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B9FEF-4614-FBC1-8850-9D9E4EFEE996}"/>
              </a:ext>
            </a:extLst>
          </p:cNvPr>
          <p:cNvSpPr txBox="1"/>
          <p:nvPr/>
        </p:nvSpPr>
        <p:spPr>
          <a:xfrm>
            <a:off x="6671534" y="3106836"/>
            <a:ext cx="4711226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&gt;&gt;&gt;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Age: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+"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str(18)</a:t>
            </a:r>
            <a:endParaRPr lang="en-US" sz="2400" dirty="0">
              <a:solidFill>
                <a:srgbClr val="5F2A8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Age: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endParaRPr kumimoji="0" lang="en-CN" sz="24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DE02E3-9FA5-F4C9-9AE8-5F527D8926D9}"/>
              </a:ext>
            </a:extLst>
          </p:cNvPr>
          <p:cNvSpPr txBox="1"/>
          <p:nvPr/>
        </p:nvSpPr>
        <p:spPr>
          <a:xfrm>
            <a:off x="374550" y="4289429"/>
            <a:ext cx="9249327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Aft>
                <a:spcPts val="1200"/>
              </a:spcAft>
              <a:buFont typeface="Wingdings" pitchFamily="2" charset="2"/>
              <a:buChar char="§"/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Repetition: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lang="zh-CN" altLang="en-US" sz="2800" b="1" i="0" dirty="0">
                <a:solidFill>
                  <a:srgbClr val="5F2A89"/>
                </a:solidFill>
                <a:highlight>
                  <a:srgbClr val="F3ECFF"/>
                </a:highlight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,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(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string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*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n,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800" b="1" dirty="0">
                <a:solidFill>
                  <a:schemeClr val="accent5"/>
                </a:solidFill>
                <a:highlight>
                  <a:srgbClr val="F3E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sz="28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must</a:t>
            </a:r>
            <a:r>
              <a:rPr lang="zh-CN" altLang="en-US" sz="28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lang="zh-CN" altLang="en-US" sz="28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</a:t>
            </a:r>
            <a:r>
              <a:rPr lang="zh-CN" altLang="en-US" sz="28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800" b="1" dirty="0">
                <a:solidFill>
                  <a:schemeClr val="accent5"/>
                </a:solidFill>
                <a:highlight>
                  <a:srgbClr val="F3E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800" dirty="0">
                <a:solidFill>
                  <a:srgbClr val="5F2A89"/>
                </a:solidFill>
              </a:rPr>
              <a:t>)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7575C70-2AD1-F053-07EF-F7A55A116B32}"/>
              </a:ext>
            </a:extLst>
          </p:cNvPr>
          <p:cNvSpPr txBox="1">
            <a:spLocks/>
          </p:cNvSpPr>
          <p:nvPr/>
        </p:nvSpPr>
        <p:spPr>
          <a:xfrm>
            <a:off x="892968" y="4956278"/>
            <a:ext cx="10406063" cy="695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312528" marR="0" indent="-312528" algn="l" defTabSz="410751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75000"/>
              <a:buFont typeface="System Font Regular"/>
              <a:buChar char="●"/>
              <a:tabLst/>
              <a:defRPr sz="28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1pPr>
            <a:lvl2pPr marL="625056" marR="0" indent="-312528" algn="l" defTabSz="410751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75000"/>
              <a:buFont typeface="Arial Unicode MS" panose="020B0604020202020204" pitchFamily="34" charset="-128"/>
              <a:buChar char="✧"/>
              <a:tabLst/>
              <a:defRPr sz="28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2pPr>
            <a:lvl3pPr marL="967956" marR="0" indent="-342900" algn="l" defTabSz="410751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75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3pPr>
            <a:lvl4pPr marL="125011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4pPr>
            <a:lvl5pPr marL="1562640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defRPr>
            </a:lvl5pPr>
            <a:lvl6pPr marL="187516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18769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0022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1275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lvl="1"/>
            <a:r>
              <a:rPr lang="en-US" dirty="0"/>
              <a:t>The </a:t>
            </a:r>
            <a:r>
              <a:rPr lang="zh-CN" altLang="en-US" b="1" dirty="0">
                <a:highlight>
                  <a:srgbClr val="F3EC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zh-CN" altLang="en-US" dirty="0"/>
              <a:t> </a:t>
            </a:r>
            <a:r>
              <a:rPr lang="en-US" altLang="zh-CN" dirty="0"/>
              <a:t>o</a:t>
            </a:r>
            <a:r>
              <a:rPr lang="en-US" dirty="0"/>
              <a:t>perator </a:t>
            </a:r>
            <a:r>
              <a:rPr lang="en-US" altLang="zh-CN" dirty="0"/>
              <a:t>repeat</a:t>
            </a:r>
            <a:r>
              <a:rPr lang="en-US" dirty="0"/>
              <a:t> </a:t>
            </a:r>
            <a:r>
              <a:rPr lang="en-US" altLang="zh-CN" dirty="0"/>
              <a:t>a</a:t>
            </a:r>
            <a:r>
              <a:rPr lang="en-US" dirty="0"/>
              <a:t> string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dirty="0"/>
              <a:t> </a:t>
            </a:r>
            <a:r>
              <a:rPr lang="en-US" altLang="zh-CN" dirty="0"/>
              <a:t>times.</a:t>
            </a:r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8860BB-43B8-307A-C321-8FAB3E4DBF80}"/>
              </a:ext>
            </a:extLst>
          </p:cNvPr>
          <p:cNvSpPr txBox="1"/>
          <p:nvPr/>
        </p:nvSpPr>
        <p:spPr>
          <a:xfrm>
            <a:off x="2344366" y="5523318"/>
            <a:ext cx="2130391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&gt;&gt;&gt;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dirty="0" err="1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altLang="zh-CN" sz="2400" dirty="0" err="1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iHiHi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endParaRPr kumimoji="0" lang="en-CN" sz="24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45AC71-5986-5614-472A-B84330F6B235}"/>
              </a:ext>
            </a:extLst>
          </p:cNvPr>
          <p:cNvSpPr txBox="1"/>
          <p:nvPr/>
        </p:nvSpPr>
        <p:spPr>
          <a:xfrm>
            <a:off x="5412890" y="5523318"/>
            <a:ext cx="2130391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&gt;&gt;&gt;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3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*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dirty="0" err="1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altLang="zh-CN" sz="2400" dirty="0" err="1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iHiHi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endParaRPr kumimoji="0" lang="en-CN" sz="24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742B38-41C0-109B-7422-70BD743BDFDB}"/>
              </a:ext>
            </a:extLst>
          </p:cNvPr>
          <p:cNvSpPr txBox="1"/>
          <p:nvPr/>
        </p:nvSpPr>
        <p:spPr>
          <a:xfrm>
            <a:off x="8684218" y="5454771"/>
            <a:ext cx="2499082" cy="1231106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&gt;&gt;&gt;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3.0</a:t>
            </a:r>
            <a:r>
              <a:rPr 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>
              <a:lnSpc>
                <a:spcPts val="3200"/>
              </a:lnSpc>
              <a:spcAft>
                <a:spcPts val="1200"/>
              </a:spcAft>
            </a:pPr>
            <a:r>
              <a:rPr lang="en-US" altLang="zh-CN" sz="2400" dirty="0" err="1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endParaRPr kumimoji="0" lang="en-CN" sz="24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11306873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9D37-0D64-44ED-1FE7-23B9FCE82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-125405"/>
            <a:ext cx="10406063" cy="789060"/>
          </a:xfrm>
        </p:spPr>
        <p:txBody>
          <a:bodyPr>
            <a:normAutofit/>
          </a:bodyPr>
          <a:lstStyle/>
          <a:p>
            <a:r>
              <a:rPr lang="en-US" dirty="0"/>
              <a:t>Operations Summary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424C0C-FF80-9EA5-436F-7D21275B0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25</a:t>
            </a:fld>
            <a:endParaRPr lang="en-CN"/>
          </a:p>
        </p:txBody>
      </p:sp>
      <p:sp>
        <p:nvSpPr>
          <p:cNvPr id="4" name="Operations Summary">
            <a:extLst>
              <a:ext uri="{FF2B5EF4-FFF2-40B4-BE49-F238E27FC236}">
                <a16:creationId xmlns:a16="http://schemas.microsoft.com/office/drawing/2014/main" id="{83A39D35-8FB8-2B79-D999-85A734DD0386}"/>
              </a:ext>
            </a:extLst>
          </p:cNvPr>
          <p:cNvSpPr txBox="1">
            <a:spLocks/>
          </p:cNvSpPr>
          <p:nvPr/>
        </p:nvSpPr>
        <p:spPr>
          <a:xfrm>
            <a:off x="952500" y="444500"/>
            <a:ext cx="11099800" cy="1328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 u="none" strike="noStrike" cap="none" spc="0" baseline="0">
                <a:solidFill>
                  <a:srgbClr val="532F92"/>
                </a:solidFill>
                <a:uFillTx/>
                <a:latin typeface="Comic Sans MS" panose="030F0902030302020204" pitchFamily="66" charset="0"/>
                <a:ea typeface="+mn-ea"/>
                <a:cs typeface="+mn-cs"/>
                <a:sym typeface="Helvetica Light"/>
              </a:defRPr>
            </a:lvl1pPr>
            <a:lvl2pPr marL="0" marR="0" indent="160729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21457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482186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642915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803643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964372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125101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285829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endParaRPr lang="en-US" dirty="0"/>
          </a:p>
        </p:txBody>
      </p:sp>
      <p:graphicFrame>
        <p:nvGraphicFramePr>
          <p:cNvPr id="5" name="Tableau 1">
            <a:extLst>
              <a:ext uri="{FF2B5EF4-FFF2-40B4-BE49-F238E27FC236}">
                <a16:creationId xmlns:a16="http://schemas.microsoft.com/office/drawing/2014/main" id="{414B3BE7-08F9-94F8-230F-E0A94AA75D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267469"/>
              </p:ext>
            </p:extLst>
          </p:nvPr>
        </p:nvGraphicFramePr>
        <p:xfrm>
          <a:off x="1723539" y="663655"/>
          <a:ext cx="8524987" cy="6081386"/>
        </p:xfrm>
        <a:graphic>
          <a:graphicData uri="http://schemas.openxmlformats.org/drawingml/2006/table">
            <a:tbl>
              <a:tblPr/>
              <a:tblGrid>
                <a:gridCol w="152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049">
                  <a:extLst>
                    <a:ext uri="{9D8B030D-6E8A-4147-A177-3AD203B41FA5}">
                      <a16:colId xmlns:a16="http://schemas.microsoft.com/office/drawing/2014/main" val="3649695297"/>
                    </a:ext>
                  </a:extLst>
                </a:gridCol>
                <a:gridCol w="4281543">
                  <a:extLst>
                    <a:ext uri="{9D8B030D-6E8A-4147-A177-3AD203B41FA5}">
                      <a16:colId xmlns:a16="http://schemas.microsoft.com/office/drawing/2014/main" val="3155344257"/>
                    </a:ext>
                  </a:extLst>
                </a:gridCol>
              </a:tblGrid>
              <a:tr h="419542">
                <a:tc gridSpan="3">
                  <a:txBody>
                    <a:bodyPr/>
                    <a:lstStyle/>
                    <a:p>
                      <a:pPr defTabSz="914400"/>
                      <a:r>
                        <a:rPr sz="2000" b="0" i="0" dirty="0">
                          <a:latin typeface="Helvetica" pitchFamily="2" charset="0"/>
                          <a:ea typeface="Avenir Medium"/>
                          <a:cs typeface="Avenir Medium"/>
                          <a:sym typeface="Avenir Medium"/>
                        </a:rPr>
                        <a:t>Operations on numeric values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DC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defTabSz="914400"/>
                      <a:endParaRPr sz="2000" dirty="0">
                        <a:latin typeface="Avenir Medium"/>
                        <a:ea typeface="Avenir Medium"/>
                        <a:cs typeface="Avenir Medium"/>
                        <a:sym typeface="Avenir Medium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E9D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42">
                <a:tc>
                  <a:txBody>
                    <a:bodyPr/>
                    <a:lstStyle/>
                    <a:p>
                      <a:pPr defTabSz="914400"/>
                      <a:r>
                        <a:rPr sz="2000" b="1" i="0" dirty="0">
                          <a:latin typeface="HELVETICA LIGHT" panose="020B0403020202020204" pitchFamily="34" charset="0"/>
                          <a:ea typeface="Avenir Medium"/>
                          <a:cs typeface="Avenir Medium"/>
                          <a:sym typeface="Avenir Medium"/>
                        </a:rPr>
                        <a:t>Symbol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sz="2000" b="1" i="0" dirty="0">
                          <a:latin typeface="HELVETICA LIGHT" panose="020B0403020202020204" pitchFamily="34" charset="0"/>
                          <a:ea typeface="Avenir Medium"/>
                          <a:cs typeface="Avenir Medium"/>
                          <a:sym typeface="Avenir Medium"/>
                        </a:rPr>
                        <a:t>Operation</a:t>
                      </a:r>
                      <a:endParaRPr sz="2000" b="1" i="0" dirty="0">
                        <a:latin typeface="HELVETICA LIGHT" panose="020B0403020202020204" pitchFamily="34" charset="0"/>
                        <a:ea typeface="Avenir Medium"/>
                        <a:cs typeface="Avenir Medium"/>
                        <a:sym typeface="Avenir Medium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endParaRPr sz="2000" b="0" i="0">
                        <a:latin typeface="Helvetica Light" panose="020B0403020202020204" pitchFamily="34" charset="0"/>
                        <a:ea typeface="Avenir Medium"/>
                        <a:cs typeface="Avenir Medium"/>
                        <a:sym typeface="Avenir Medium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542">
                <a:tc>
                  <a:txBody>
                    <a:bodyPr/>
                    <a:lstStyle/>
                    <a:p>
                      <a:pPr defTabSz="914400"/>
                      <a:r>
                        <a:rPr sz="2000" b="0" i="0" dirty="0">
                          <a:latin typeface="Helvetica Light" panose="020B0403020202020204" pitchFamily="34" charset="0"/>
                          <a:ea typeface="Menlo Regular"/>
                          <a:cs typeface="Menlo Regular"/>
                          <a:sym typeface="Menlo Regular"/>
                        </a:rPr>
                        <a:t>+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sz="2000" b="0" i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addition</a:t>
                      </a:r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053">
                <a:tc>
                  <a:txBody>
                    <a:bodyPr/>
                    <a:lstStyle/>
                    <a:p>
                      <a:pPr defTabSz="914400"/>
                      <a:r>
                        <a:rPr sz="2000" b="0" i="0">
                          <a:latin typeface="Helvetica Light" panose="020B0403020202020204" pitchFamily="34" charset="0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sz="2000" b="0" i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substraction</a:t>
                      </a:r>
                      <a:endParaRPr sz="2000" b="0" i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endParaRPr sz="2000" b="0" i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053">
                <a:tc>
                  <a:txBody>
                    <a:bodyPr/>
                    <a:lstStyle/>
                    <a:p>
                      <a:pPr defTabSz="914400"/>
                      <a:r>
                        <a:rPr sz="2000" b="0" i="0">
                          <a:latin typeface="Helvetica Light" panose="020B0403020202020204" pitchFamily="34" charset="0"/>
                          <a:ea typeface="Menlo Regular"/>
                          <a:cs typeface="Menlo Regular"/>
                          <a:sym typeface="Menlo Regular"/>
                        </a:rPr>
                        <a:t>*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sz="2000" b="0" i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multiplication</a:t>
                      </a:r>
                      <a:endParaRPr sz="2000" b="0" i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053">
                <a:tc>
                  <a:txBody>
                    <a:bodyPr/>
                    <a:lstStyle/>
                    <a:p>
                      <a:pPr defTabSz="914400"/>
                      <a:r>
                        <a:rPr sz="2000" b="0" i="0">
                          <a:latin typeface="Helvetica Light" panose="020B0403020202020204" pitchFamily="34" charset="0"/>
                          <a:ea typeface="Menlo Regular"/>
                          <a:cs typeface="Menlo Regular"/>
                          <a:sym typeface="Menlo Regular"/>
                        </a:rPr>
                        <a:t>/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sz="2000" b="0" i="0" dirty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division</a:t>
                      </a:r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2000" b="0" i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always returns a float (or complex)</a:t>
                      </a:r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053">
                <a:tc>
                  <a:txBody>
                    <a:bodyPr/>
                    <a:lstStyle/>
                    <a:p>
                      <a:pPr defTabSz="914400"/>
                      <a:r>
                        <a:rPr sz="2000" b="0" i="0">
                          <a:latin typeface="Helvetica Light" panose="020B0403020202020204" pitchFamily="34" charset="0"/>
                          <a:ea typeface="Menlo Regular"/>
                          <a:cs typeface="Menlo Regular"/>
                          <a:sym typeface="Menlo Regular"/>
                        </a:rPr>
                        <a:t>//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sz="2000" b="0" i="0" dirty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integer division</a:t>
                      </a:r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2000" b="0" i="0" dirty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cannot use complex</a:t>
                      </a:r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053">
                <a:tc>
                  <a:txBody>
                    <a:bodyPr/>
                    <a:lstStyle/>
                    <a:p>
                      <a:pPr defTabSz="914400"/>
                      <a:r>
                        <a:rPr sz="2000" b="0" i="0">
                          <a:latin typeface="Helvetica Light" panose="020B0403020202020204" pitchFamily="34" charset="0"/>
                          <a:ea typeface="Menlo Regular"/>
                          <a:cs typeface="Menlo Regular"/>
                          <a:sym typeface="Menlo Regular"/>
                        </a:rPr>
                        <a:t>%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sz="2000" b="0" i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modulo</a:t>
                      </a:r>
                      <a:endParaRPr sz="2000" b="0" i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2000" b="0" i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cannot use complex</a:t>
                      </a:r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1053">
                <a:tc>
                  <a:txBody>
                    <a:bodyPr/>
                    <a:lstStyle/>
                    <a:p>
                      <a:pPr defTabSz="914400"/>
                      <a:r>
                        <a:rPr sz="2000" b="0" i="0">
                          <a:latin typeface="Helvetica Light" panose="020B0403020202020204" pitchFamily="34" charset="0"/>
                          <a:ea typeface="Menlo Regular"/>
                          <a:cs typeface="Menlo Regular"/>
                          <a:sym typeface="Menlo Regular"/>
                        </a:rPr>
                        <a:t>**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sz="2000" b="0" i="0" dirty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exponentiation</a:t>
                      </a:r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1053">
                <a:tc gridSpan="3">
                  <a:txBody>
                    <a:bodyPr/>
                    <a:lstStyle/>
                    <a:p>
                      <a:pPr defTabSz="914400"/>
                      <a:r>
                        <a:rPr sz="2000" b="0" i="0" dirty="0">
                          <a:latin typeface="Helvetica" pitchFamily="2" charset="0"/>
                          <a:ea typeface="Avenir Medium"/>
                          <a:cs typeface="Avenir Medium"/>
                          <a:sym typeface="Avenir Medium"/>
                        </a:rPr>
                        <a:t>Operations on strings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DC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defTabSz="914400"/>
                      <a:endParaRPr sz="2000" dirty="0">
                        <a:latin typeface="Avenir Medium"/>
                        <a:ea typeface="Avenir Medium"/>
                        <a:cs typeface="Avenir Medium"/>
                        <a:sym typeface="Avenir Medium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E9D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1053">
                <a:tc>
                  <a:txBody>
                    <a:bodyPr/>
                    <a:lstStyle/>
                    <a:p>
                      <a:pPr defTabSz="914400"/>
                      <a:r>
                        <a:rPr sz="2000" b="1" i="0" dirty="0">
                          <a:latin typeface="HELVETICA LIGHT" panose="020B0403020202020204" pitchFamily="34" charset="0"/>
                          <a:ea typeface="Avenir Medium"/>
                          <a:cs typeface="Avenir Medium"/>
                          <a:sym typeface="Avenir Medium"/>
                        </a:rPr>
                        <a:t>Symbol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sz="2000" b="1" i="0" dirty="0">
                          <a:latin typeface="HELVETICA LIGHT" panose="020B0403020202020204" pitchFamily="34" charset="0"/>
                          <a:ea typeface="Avenir Medium"/>
                          <a:cs typeface="Avenir Medium"/>
                          <a:sym typeface="Avenir Medium"/>
                        </a:rPr>
                        <a:t>Operation</a:t>
                      </a:r>
                      <a:endParaRPr sz="2000" b="1" i="0" dirty="0">
                        <a:latin typeface="HELVETICA LIGHT" panose="020B0403020202020204" pitchFamily="34" charset="0"/>
                        <a:ea typeface="Avenir Medium"/>
                        <a:cs typeface="Avenir Medium"/>
                        <a:sym typeface="Avenir Medium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endParaRPr sz="2000" b="0" i="0" dirty="0">
                        <a:latin typeface="Helvetica Light" panose="020B0403020202020204" pitchFamily="34" charset="0"/>
                        <a:ea typeface="Avenir Medium"/>
                        <a:cs typeface="Avenir Medium"/>
                        <a:sym typeface="Avenir Medium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1053">
                <a:tc>
                  <a:txBody>
                    <a:bodyPr/>
                    <a:lstStyle/>
                    <a:p>
                      <a:pPr defTabSz="914400"/>
                      <a:r>
                        <a:rPr sz="2000" b="0" i="0">
                          <a:latin typeface="Helvetica Light" panose="020B0403020202020204" pitchFamily="34" charset="0"/>
                          <a:ea typeface="Menlo Regular"/>
                          <a:cs typeface="Menlo Regular"/>
                          <a:sym typeface="Menlo Regular"/>
                        </a:rPr>
                        <a:t>+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sz="2000" b="0" i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concatenation</a:t>
                      </a:r>
                      <a:endParaRPr sz="2000" b="0" i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2000" b="0" i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both operands must be a string </a:t>
                      </a:r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63283">
                <a:tc>
                  <a:txBody>
                    <a:bodyPr/>
                    <a:lstStyle/>
                    <a:p>
                      <a:pPr defTabSz="914400"/>
                      <a:r>
                        <a:rPr sz="2000" b="0" i="0" dirty="0">
                          <a:latin typeface="Helvetica Light" panose="020B0403020202020204" pitchFamily="34" charset="0"/>
                          <a:ea typeface="Menlo Regular"/>
                          <a:cs typeface="Menlo Regular"/>
                          <a:sym typeface="Menlo Regular"/>
                        </a:rPr>
                        <a:t>*</a:t>
                      </a: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sz="2000" b="0" i="0" dirty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repetition</a:t>
                      </a:r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lang="en-US" sz="2000" b="0" i="0" dirty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one operand must be a str, </a:t>
                      </a:r>
                      <a:br>
                        <a:rPr lang="en-US" sz="2000" b="0" i="0" dirty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</a:br>
                      <a:r>
                        <a:rPr lang="en-US" sz="2000" b="0" i="0" dirty="0">
                          <a:latin typeface="Helvetica Light" panose="020B0403020202020204" pitchFamily="34" charset="0"/>
                          <a:ea typeface="Avenir Book"/>
                          <a:cs typeface="Avenir Book"/>
                          <a:sym typeface="Avenir Book"/>
                        </a:rPr>
                        <a:t>the other an int</a:t>
                      </a:r>
                      <a:endParaRPr sz="2000" b="0" i="0" dirty="0">
                        <a:latin typeface="Helvetica Light" panose="020B0403020202020204" pitchFamily="34" charset="0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39429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6282-4055-4AF5-383E-C45A250E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Variables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0280919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5F7B-87F7-577E-40C3-285848F3C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968" y="96818"/>
            <a:ext cx="10406063" cy="645460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SO MANY OBJECTS, what to do with them?! 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14BDAE-19B1-665F-2BA7-8A49ED1DE4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27</a:t>
            </a:fld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2FFFB8-DBF4-D25B-C917-A57949E0328F}"/>
              </a:ext>
            </a:extLst>
          </p:cNvPr>
          <p:cNvSpPr/>
          <p:nvPr/>
        </p:nvSpPr>
        <p:spPr>
          <a:xfrm>
            <a:off x="2710927" y="1936744"/>
            <a:ext cx="1258644" cy="658336"/>
          </a:xfrm>
          <a:prstGeom prst="roundRect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200" i="0" u="none" strike="noStrike" normalizeH="0" baseline="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rPr>
              <a:t>2</a:t>
            </a:r>
            <a:endParaRPr kumimoji="0" lang="en-CN" sz="3200" i="0" u="none" strike="noStrike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752F14-E6E3-25F6-8020-61534CAA192E}"/>
              </a:ext>
            </a:extLst>
          </p:cNvPr>
          <p:cNvSpPr/>
          <p:nvPr/>
        </p:nvSpPr>
        <p:spPr>
          <a:xfrm>
            <a:off x="5940014" y="855966"/>
            <a:ext cx="1730187" cy="658336"/>
          </a:xfrm>
          <a:prstGeom prst="roundRect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200" dirty="0">
                <a:solidFill>
                  <a:srgbClr val="FFFFFF"/>
                </a:solidFill>
              </a:rPr>
              <a:t>0.0001</a:t>
            </a:r>
            <a:endParaRPr kumimoji="0" lang="en-CN" sz="3200" i="0" u="none" strike="noStrike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903E58-19C7-584E-E48A-2684E6D03DFA}"/>
              </a:ext>
            </a:extLst>
          </p:cNvPr>
          <p:cNvSpPr/>
          <p:nvPr/>
        </p:nvSpPr>
        <p:spPr>
          <a:xfrm>
            <a:off x="5102711" y="3220084"/>
            <a:ext cx="3202193" cy="658336"/>
          </a:xfrm>
          <a:prstGeom prst="roundRect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200" dirty="0">
                <a:solidFill>
                  <a:srgbClr val="FFFFFF"/>
                </a:solidFill>
              </a:rPr>
              <a:t>"</a:t>
            </a:r>
            <a:r>
              <a:rPr lang="en-US" altLang="zh-CN" sz="3200" dirty="0" err="1">
                <a:solidFill>
                  <a:srgbClr val="FFFFFF"/>
                </a:solidFill>
              </a:rPr>
              <a:t>NYUshanghai</a:t>
            </a:r>
            <a:r>
              <a:rPr lang="en-US" altLang="zh-CN" sz="3200" dirty="0">
                <a:solidFill>
                  <a:srgbClr val="FFFFFF"/>
                </a:solidFill>
              </a:rPr>
              <a:t>"</a:t>
            </a:r>
            <a:endParaRPr kumimoji="0" lang="en-CN" sz="3200" i="0" u="none" strike="noStrike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3D4CEB-D2FD-E8AB-D1B3-BE082AC45328}"/>
              </a:ext>
            </a:extLst>
          </p:cNvPr>
          <p:cNvSpPr/>
          <p:nvPr/>
        </p:nvSpPr>
        <p:spPr>
          <a:xfrm>
            <a:off x="9366326" y="1838131"/>
            <a:ext cx="1258644" cy="658336"/>
          </a:xfrm>
          <a:prstGeom prst="roundRect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200" dirty="0">
                <a:solidFill>
                  <a:srgbClr val="FFFFFF"/>
                </a:solidFill>
              </a:rPr>
              <a:t>True</a:t>
            </a:r>
            <a:endParaRPr kumimoji="0" lang="en-CN" sz="3200" i="0" u="none" strike="noStrike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29F499C-EC1F-8140-3C89-247A124B3A72}"/>
              </a:ext>
            </a:extLst>
          </p:cNvPr>
          <p:cNvSpPr/>
          <p:nvPr/>
        </p:nvSpPr>
        <p:spPr>
          <a:xfrm>
            <a:off x="10624970" y="3687021"/>
            <a:ext cx="1258644" cy="658336"/>
          </a:xfrm>
          <a:prstGeom prst="roundRect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200" dirty="0">
                <a:solidFill>
                  <a:srgbClr val="FFFFFF"/>
                </a:solidFill>
              </a:rPr>
              <a:t>False</a:t>
            </a:r>
            <a:endParaRPr kumimoji="0" lang="en-CN" sz="3200" i="0" u="none" strike="noStrike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952140-35DF-555F-C27A-05A213A64566}"/>
              </a:ext>
            </a:extLst>
          </p:cNvPr>
          <p:cNvSpPr/>
          <p:nvPr/>
        </p:nvSpPr>
        <p:spPr>
          <a:xfrm>
            <a:off x="7288306" y="5350791"/>
            <a:ext cx="3336664" cy="658336"/>
          </a:xfrm>
          <a:prstGeom prst="roundRect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200" i="0" u="none" strike="noStrike" normalizeH="0" baseline="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rPr>
              <a:t>"May</a:t>
            </a:r>
            <a:r>
              <a:rPr kumimoji="0" lang="zh-CN" altLang="en-US" sz="3200" i="0" u="none" strike="noStrike" normalizeH="0" baseline="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3200" i="0" u="none" strike="noStrike" normalizeH="0" baseline="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rPr>
              <a:t>1</a:t>
            </a:r>
            <a:r>
              <a:rPr kumimoji="0" lang="en-US" altLang="zh-CN" sz="3200" i="0" u="none" strike="noStrike" normalizeH="0" baseline="3000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rPr>
              <a:t>st</a:t>
            </a:r>
            <a:r>
              <a:rPr kumimoji="0" lang="zh-CN" altLang="en-US" sz="3200" i="0" u="none" strike="noStrike" normalizeH="0" baseline="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3200" i="0" u="none" strike="noStrike" normalizeH="0" baseline="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rPr>
              <a:t>2026"</a:t>
            </a:r>
            <a:endParaRPr kumimoji="0" lang="en-CN" sz="3200" i="0" u="none" strike="noStrike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7CDFBB3-BE80-8227-6A09-E6FB5B5509A9}"/>
              </a:ext>
            </a:extLst>
          </p:cNvPr>
          <p:cNvSpPr/>
          <p:nvPr/>
        </p:nvSpPr>
        <p:spPr>
          <a:xfrm>
            <a:off x="3645051" y="5021623"/>
            <a:ext cx="1258644" cy="658336"/>
          </a:xfrm>
          <a:prstGeom prst="roundRect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200" i="0" u="none" strike="noStrike" normalizeH="0" baseline="0" dirty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rPr>
              <a:t>2000</a:t>
            </a:r>
            <a:endParaRPr kumimoji="0" lang="en-CN" sz="3200" i="0" u="none" strike="noStrike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F508C5-ACD2-8401-5093-40E7734438C4}"/>
              </a:ext>
            </a:extLst>
          </p:cNvPr>
          <p:cNvSpPr/>
          <p:nvPr/>
        </p:nvSpPr>
        <p:spPr>
          <a:xfrm>
            <a:off x="1247888" y="3592321"/>
            <a:ext cx="1258644" cy="658336"/>
          </a:xfrm>
          <a:prstGeom prst="roundRect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200" dirty="0">
                <a:solidFill>
                  <a:srgbClr val="FFFFFF"/>
                </a:solidFill>
              </a:rPr>
              <a:t>3.14</a:t>
            </a:r>
            <a:endParaRPr kumimoji="0" lang="en-CN" sz="3200" i="0" u="none" strike="noStrike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97F68A3-2FEA-547C-B471-1D57B2C3FFE9}"/>
              </a:ext>
            </a:extLst>
          </p:cNvPr>
          <p:cNvSpPr/>
          <p:nvPr/>
        </p:nvSpPr>
        <p:spPr>
          <a:xfrm>
            <a:off x="1538345" y="956780"/>
            <a:ext cx="1258644" cy="658336"/>
          </a:xfrm>
          <a:prstGeom prst="roundRect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3200" dirty="0">
                <a:solidFill>
                  <a:srgbClr val="FFFFFF"/>
                </a:solidFill>
              </a:rPr>
              <a:t>1.67</a:t>
            </a:r>
            <a:endParaRPr kumimoji="0" lang="en-CN" sz="3200" i="0" u="none" strike="noStrike" normalizeH="0" baseline="0" dirty="0">
              <a:solidFill>
                <a:srgbClr val="FFFFFF"/>
              </a:solidFill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554CE43-A2AF-99D7-5508-20B404387AB4}"/>
              </a:ext>
            </a:extLst>
          </p:cNvPr>
          <p:cNvGrpSpPr/>
          <p:nvPr/>
        </p:nvGrpSpPr>
        <p:grpSpPr>
          <a:xfrm>
            <a:off x="409177" y="935264"/>
            <a:ext cx="10206829" cy="5159032"/>
            <a:chOff x="409177" y="935264"/>
            <a:chExt cx="10206829" cy="51590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302DF8-7A8D-5269-B386-7855BE6EDC18}"/>
                </a:ext>
              </a:extLst>
            </p:cNvPr>
            <p:cNvSpPr txBox="1"/>
            <p:nvPr/>
          </p:nvSpPr>
          <p:spPr>
            <a:xfrm>
              <a:off x="4679578" y="935264"/>
              <a:ext cx="1179810" cy="6668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>
              <a:spAutoFit/>
            </a:bodyPr>
            <a:lstStyle/>
            <a:p>
              <a:pPr algn="l">
                <a:lnSpc>
                  <a:spcPts val="3200"/>
                </a:lnSpc>
                <a:spcAft>
                  <a:spcPts val="1200"/>
                </a:spcAft>
              </a:pP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small=</a:t>
              </a:r>
              <a:endParaRPr kumimoji="0" lang="en-CN" sz="2800" b="0" i="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F19049-D688-A311-719A-DF48A917628D}"/>
                </a:ext>
              </a:extLst>
            </p:cNvPr>
            <p:cNvSpPr txBox="1"/>
            <p:nvPr/>
          </p:nvSpPr>
          <p:spPr>
            <a:xfrm>
              <a:off x="466113" y="999812"/>
              <a:ext cx="960199" cy="6668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>
              <a:spAutoFit/>
            </a:bodyPr>
            <a:lstStyle/>
            <a:p>
              <a:pPr algn="l">
                <a:lnSpc>
                  <a:spcPts val="3200"/>
                </a:lnSpc>
                <a:spcAft>
                  <a:spcPts val="1200"/>
                </a:spcAft>
              </a:pP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rate=</a:t>
              </a:r>
              <a:endParaRPr kumimoji="0" lang="en-CN" sz="2800" b="0" i="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437CA5-181B-DD74-8577-B89CC2145180}"/>
                </a:ext>
              </a:extLst>
            </p:cNvPr>
            <p:cNvSpPr txBox="1"/>
            <p:nvPr/>
          </p:nvSpPr>
          <p:spPr>
            <a:xfrm>
              <a:off x="1734646" y="1990331"/>
              <a:ext cx="1040349" cy="6668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>
              <a:spAutoFit/>
            </a:bodyPr>
            <a:lstStyle/>
            <a:p>
              <a:pPr algn="l">
                <a:lnSpc>
                  <a:spcPts val="3200"/>
                </a:lnSpc>
                <a:spcAft>
                  <a:spcPts val="1200"/>
                </a:spcAft>
              </a:pP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num=</a:t>
              </a:r>
              <a:endParaRPr kumimoji="0" lang="en-CN" sz="2800" b="0" i="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8D1BF3-EB35-9DA2-FE9C-1A142DE84B4E}"/>
                </a:ext>
              </a:extLst>
            </p:cNvPr>
            <p:cNvSpPr txBox="1"/>
            <p:nvPr/>
          </p:nvSpPr>
          <p:spPr>
            <a:xfrm>
              <a:off x="7566153" y="1918845"/>
              <a:ext cx="1800173" cy="6668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>
              <a:spAutoFit/>
            </a:bodyPr>
            <a:lstStyle/>
            <a:p>
              <a:pPr algn="l">
                <a:lnSpc>
                  <a:spcPts val="3200"/>
                </a:lnSpc>
                <a:spcAft>
                  <a:spcPts val="1200"/>
                </a:spcAft>
              </a:pPr>
              <a:r>
                <a:rPr kumimoji="0" lang="en-US" altLang="zh-CN" sz="2800" b="0" i="0" u="none" strike="noStrike" cap="none" spc="0" normalizeH="0" baseline="0" dirty="0" err="1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isCorrect</a:t>
              </a: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=</a:t>
              </a:r>
              <a:endParaRPr kumimoji="0" lang="en-CN" sz="2800" b="0" i="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97754D-EE54-18D5-A88F-1E8218CDFB77}"/>
                </a:ext>
              </a:extLst>
            </p:cNvPr>
            <p:cNvSpPr txBox="1"/>
            <p:nvPr/>
          </p:nvSpPr>
          <p:spPr>
            <a:xfrm>
              <a:off x="9676646" y="3737247"/>
              <a:ext cx="939360" cy="6668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>
              <a:spAutoFit/>
            </a:bodyPr>
            <a:lstStyle/>
            <a:p>
              <a:pPr algn="l">
                <a:lnSpc>
                  <a:spcPts val="3200"/>
                </a:lnSpc>
                <a:spcAft>
                  <a:spcPts val="1200"/>
                </a:spcAft>
              </a:pPr>
              <a:r>
                <a:rPr lang="en-US" altLang="zh-CN" sz="2800" dirty="0">
                  <a:solidFill>
                    <a:srgbClr val="5F2A89"/>
                  </a:solidFill>
                </a:rPr>
                <a:t>f</a:t>
              </a: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lag=</a:t>
              </a:r>
              <a:endParaRPr kumimoji="0" lang="en-CN" sz="2800" b="0" i="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146047A-0BCA-9D91-E573-1780D4B8EAC4}"/>
                </a:ext>
              </a:extLst>
            </p:cNvPr>
            <p:cNvSpPr txBox="1"/>
            <p:nvPr/>
          </p:nvSpPr>
          <p:spPr>
            <a:xfrm>
              <a:off x="3662981" y="3266784"/>
              <a:ext cx="1401025" cy="6668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>
              <a:spAutoFit/>
            </a:bodyPr>
            <a:lstStyle/>
            <a:p>
              <a:pPr algn="l">
                <a:lnSpc>
                  <a:spcPts val="3200"/>
                </a:lnSpc>
                <a:spcAft>
                  <a:spcPts val="1200"/>
                </a:spcAft>
              </a:pP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school=</a:t>
              </a:r>
              <a:endParaRPr kumimoji="0" lang="en-CN" sz="2800" b="0" i="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23343FB-5863-A24C-222B-83EC72C56A56}"/>
                </a:ext>
              </a:extLst>
            </p:cNvPr>
            <p:cNvSpPr txBox="1"/>
            <p:nvPr/>
          </p:nvSpPr>
          <p:spPr>
            <a:xfrm>
              <a:off x="409177" y="3600208"/>
              <a:ext cx="738985" cy="6668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>
              <a:spAutoFit/>
            </a:bodyPr>
            <a:lstStyle/>
            <a:p>
              <a:pPr algn="l">
                <a:lnSpc>
                  <a:spcPts val="3200"/>
                </a:lnSpc>
                <a:spcAft>
                  <a:spcPts val="1200"/>
                </a:spcAft>
              </a:pP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pi</a:t>
              </a:r>
              <a:r>
                <a:rPr kumimoji="0" lang="zh-CN" altLang="en-US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 </a:t>
              </a: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=</a:t>
              </a:r>
              <a:endParaRPr kumimoji="0" lang="en-CN" sz="2800" b="0" i="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0736DC-4BC7-0EB7-74A5-344D7EE25BEF}"/>
                </a:ext>
              </a:extLst>
            </p:cNvPr>
            <p:cNvSpPr txBox="1"/>
            <p:nvPr/>
          </p:nvSpPr>
          <p:spPr>
            <a:xfrm>
              <a:off x="2774995" y="5038741"/>
              <a:ext cx="859210" cy="6668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>
              <a:spAutoFit/>
            </a:bodyPr>
            <a:lstStyle/>
            <a:p>
              <a:pPr algn="l">
                <a:lnSpc>
                  <a:spcPts val="3200"/>
                </a:lnSpc>
                <a:spcAft>
                  <a:spcPts val="1200"/>
                </a:spcAft>
              </a:pP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big=</a:t>
              </a:r>
              <a:endParaRPr kumimoji="0" lang="en-CN" sz="2800" b="0" i="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FE93314-1392-7ED0-15AE-6A4518F33A05}"/>
                </a:ext>
              </a:extLst>
            </p:cNvPr>
            <p:cNvSpPr txBox="1"/>
            <p:nvPr/>
          </p:nvSpPr>
          <p:spPr>
            <a:xfrm>
              <a:off x="6095999" y="5427447"/>
              <a:ext cx="1158972" cy="6668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>
              <a:spAutoFit/>
            </a:bodyPr>
            <a:lstStyle/>
            <a:p>
              <a:pPr algn="l">
                <a:lnSpc>
                  <a:spcPts val="3200"/>
                </a:lnSpc>
                <a:spcAft>
                  <a:spcPts val="1200"/>
                </a:spcAft>
              </a:pP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date</a:t>
              </a:r>
              <a:r>
                <a:rPr kumimoji="0" lang="zh-CN" altLang="en-US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 </a:t>
              </a: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=</a:t>
              </a:r>
              <a:endParaRPr kumimoji="0" lang="en-CN" sz="2800" b="0" i="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40767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6CC2-6079-59D0-D743-733FBC5B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Variable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8BFF9-DED4-9748-EA15-2AA39789AA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28</a:t>
            </a:fld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88DB7-5C3F-50D1-563F-76E887B4BAB9}"/>
              </a:ext>
            </a:extLst>
          </p:cNvPr>
          <p:cNvSpPr txBox="1"/>
          <p:nvPr/>
        </p:nvSpPr>
        <p:spPr>
          <a:xfrm>
            <a:off x="716131" y="730703"/>
            <a:ext cx="10977364" cy="20518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A variable is not the object itself. </a:t>
            </a:r>
            <a:br>
              <a:rPr lang="en-US" sz="2800" dirty="0">
                <a:solidFill>
                  <a:srgbClr val="5F2A89"/>
                </a:solidFill>
              </a:rPr>
            </a:b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It is a name 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F3ECFF"/>
                </a:highlight>
                <a:uFillTx/>
                <a:latin typeface="+mn-lt"/>
                <a:ea typeface="+mn-ea"/>
                <a:cs typeface="+mn-cs"/>
                <a:sym typeface="Helvetica Light"/>
              </a:rPr>
              <a:t>that refers to an object 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F3ECFF"/>
                </a:highlight>
                <a:uFillTx/>
                <a:latin typeface="+mn-lt"/>
                <a:ea typeface="+mn-ea"/>
                <a:cs typeface="+mn-cs"/>
                <a:sym typeface="Helvetica Light"/>
              </a:rPr>
              <a:t>(or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F3ECFF"/>
                </a:highlight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F3ECFF"/>
                </a:highlight>
                <a:uFillTx/>
                <a:latin typeface="+mn-lt"/>
                <a:ea typeface="+mn-ea"/>
                <a:cs typeface="+mn-cs"/>
                <a:sym typeface="Helvetica Light"/>
              </a:rPr>
              <a:t>a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F3ECFF"/>
                </a:highlight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CN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F3ECFF"/>
                </a:highlight>
                <a:uFillTx/>
                <a:latin typeface="+mn-lt"/>
                <a:ea typeface="+mn-ea"/>
                <a:cs typeface="+mn-cs"/>
                <a:sym typeface="Helvetica Light"/>
              </a:rPr>
              <a:t>value)</a:t>
            </a:r>
            <a:r>
              <a: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F3ECFF"/>
                </a:highlight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in memory.</a:t>
            </a:r>
            <a:b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</a:b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its name is a </a:t>
            </a:r>
            <a:r>
              <a:rPr kumimoji="0" lang="en-US" sz="2800" b="0" i="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sudo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for the address of the memory block allocated</a:t>
            </a:r>
          </a:p>
          <a:p>
            <a:pPr marL="457200" indent="-457200" algn="l">
              <a:lnSpc>
                <a:spcPts val="32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DB3949-21F8-9328-0506-114D782FE9D1}"/>
              </a:ext>
            </a:extLst>
          </p:cNvPr>
          <p:cNvSpPr txBox="1"/>
          <p:nvPr/>
        </p:nvSpPr>
        <p:spPr>
          <a:xfrm>
            <a:off x="2969596" y="2916360"/>
            <a:ext cx="4613442" cy="512961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variable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expression</a:t>
            </a:r>
            <a:endParaRPr kumimoji="0" lang="en-CN" sz="280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3B36E-EB62-699D-656C-7F2B2D69BD59}"/>
              </a:ext>
            </a:extLst>
          </p:cNvPr>
          <p:cNvSpPr txBox="1"/>
          <p:nvPr/>
        </p:nvSpPr>
        <p:spPr>
          <a:xfrm>
            <a:off x="716131" y="2305198"/>
            <a:ext cx="5302734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5F2A89"/>
                </a:solidFill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highlight>
                  <a:srgbClr val="EEEFF1"/>
                </a:highlight>
              </a:rPr>
              <a:t>assignment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of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a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variable:</a:t>
            </a:r>
            <a:endParaRPr kumimoji="0" lang="en-CN" sz="2800" b="0" i="0" u="none" strike="noStrike" cap="none" spc="0" normalizeH="0" baseline="0" dirty="0" err="1">
              <a:ln>
                <a:noFill/>
              </a:ln>
              <a:solidFill>
                <a:srgbClr val="5F2A89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803CC0-4F77-5DD1-852E-D950E9A9076C}"/>
              </a:ext>
            </a:extLst>
          </p:cNvPr>
          <p:cNvSpPr txBox="1"/>
          <p:nvPr/>
        </p:nvSpPr>
        <p:spPr>
          <a:xfrm>
            <a:off x="1135507" y="3605605"/>
            <a:ext cx="9920986" cy="92333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indent="-457200" algn="l">
              <a:lnSpc>
                <a:spcPts val="3200"/>
              </a:lnSpc>
              <a:buFont typeface="Courier New" panose="02070309020205020404" pitchFamily="49" charset="0"/>
              <a:buChar char="o"/>
            </a:pP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name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on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left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(must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follow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rule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of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naming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a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variable)</a:t>
            </a:r>
          </a:p>
          <a:p>
            <a:pPr marL="457200" indent="-457200" algn="l">
              <a:lnSpc>
                <a:spcPts val="3200"/>
              </a:lnSpc>
              <a:buFont typeface="Courier New" panose="02070309020205020404" pitchFamily="49" charset="0"/>
              <a:buChar char="o"/>
            </a:pP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expression(value)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one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right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(can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be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any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object,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a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string,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int,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float…</a:t>
            </a:r>
            <a:r>
              <a:rPr lang="zh-CN" altLang="en-US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)</a:t>
            </a:r>
            <a:endParaRPr kumimoji="0" lang="en-CN" sz="24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7EDEEB-E7CF-26A0-4C58-F0EA33C34A40}"/>
              </a:ext>
            </a:extLst>
          </p:cNvPr>
          <p:cNvSpPr txBox="1"/>
          <p:nvPr/>
        </p:nvSpPr>
        <p:spPr>
          <a:xfrm>
            <a:off x="1135507" y="4705219"/>
            <a:ext cx="320119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invalid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assignment: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64D54A-66CF-F2D1-E205-BA9991741A90}"/>
              </a:ext>
            </a:extLst>
          </p:cNvPr>
          <p:cNvSpPr txBox="1"/>
          <p:nvPr/>
        </p:nvSpPr>
        <p:spPr>
          <a:xfrm>
            <a:off x="2560889" y="5263374"/>
            <a:ext cx="2250616" cy="1333698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x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+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y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10</a:t>
            </a:r>
          </a:p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x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+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2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6</a:t>
            </a:r>
          </a:p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6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x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91A2FB-E082-D64F-3BCF-324A1DFAEBB9}"/>
              </a:ext>
            </a:extLst>
          </p:cNvPr>
          <p:cNvSpPr txBox="1"/>
          <p:nvPr/>
        </p:nvSpPr>
        <p:spPr>
          <a:xfrm>
            <a:off x="6534615" y="5464096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C6DB8C-1297-309A-7E99-0E0366735023}"/>
              </a:ext>
            </a:extLst>
          </p:cNvPr>
          <p:cNvSpPr txBox="1"/>
          <p:nvPr/>
        </p:nvSpPr>
        <p:spPr>
          <a:xfrm>
            <a:off x="6858000" y="5263374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pic>
        <p:nvPicPr>
          <p:cNvPr id="21" name="Graphic 20" descr="Close">
            <a:extLst>
              <a:ext uri="{FF2B5EF4-FFF2-40B4-BE49-F238E27FC236}">
                <a16:creationId xmlns:a16="http://schemas.microsoft.com/office/drawing/2014/main" id="{6AC79D92-BA29-4635-470A-28F22B011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323" y="5497552"/>
            <a:ext cx="663202" cy="66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6792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2087-63C1-7BDA-DB2A-E807A946D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variables</a:t>
            </a:r>
            <a:r>
              <a:rPr lang="zh-CN" altLang="en-US" dirty="0"/>
              <a:t> </a:t>
            </a:r>
            <a:r>
              <a:rPr lang="en-US" altLang="zh-CN" dirty="0"/>
              <a:t>actually</a:t>
            </a:r>
            <a:r>
              <a:rPr lang="zh-CN" altLang="en-US" dirty="0"/>
              <a:t> </a:t>
            </a:r>
            <a:r>
              <a:rPr lang="en-US" altLang="zh-CN" dirty="0"/>
              <a:t>work?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B07590-1DE4-54F5-3AE5-DFAEE03DF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29</a:t>
            </a:fld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7C23E6-A7A9-D740-C602-1AEEAB8C4B69}"/>
              </a:ext>
            </a:extLst>
          </p:cNvPr>
          <p:cNvSpPr/>
          <p:nvPr/>
        </p:nvSpPr>
        <p:spPr>
          <a:xfrm>
            <a:off x="1081668" y="1592837"/>
            <a:ext cx="10686237" cy="25848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CN" sz="2800" dirty="0">
                <a:solidFill>
                  <a:srgbClr val="5F2A89"/>
                </a:solidFill>
              </a:rPr>
              <a:t>step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1: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expression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on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right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hand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side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is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evaluated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endParaRPr lang="en-US" altLang="zh-CN" sz="2800" dirty="0">
              <a:solidFill>
                <a:srgbClr val="5F2A89"/>
              </a:solidFill>
            </a:endParaRPr>
          </a:p>
          <a:p>
            <a:pPr algn="l">
              <a:spcAft>
                <a:spcPts val="1200"/>
              </a:spcAft>
            </a:pPr>
            <a:r>
              <a:rPr lang="en-US" altLang="zh-CN" sz="2800" dirty="0">
                <a:solidFill>
                  <a:srgbClr val="5F2A89"/>
                </a:solidFill>
              </a:rPr>
              <a:t>		and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its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values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will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be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saved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in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memory.</a:t>
            </a:r>
          </a:p>
          <a:p>
            <a:pPr algn="l"/>
            <a:r>
              <a:rPr lang="en-US" altLang="zh-CN" sz="2800" dirty="0">
                <a:solidFill>
                  <a:srgbClr val="5F2A89"/>
                </a:solidFill>
              </a:rPr>
              <a:t>step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2:	Bind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value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to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left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hand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side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(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variable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).</a:t>
            </a:r>
          </a:p>
          <a:p>
            <a:pPr algn="l"/>
            <a:r>
              <a:rPr lang="en-US" altLang="zh-CN" sz="2800" dirty="0">
                <a:solidFill>
                  <a:srgbClr val="5F2A89"/>
                </a:solidFill>
              </a:rPr>
              <a:t>		the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variable</a:t>
            </a:r>
            <a:r>
              <a:rPr lang="zh-CN" altLang="en-US" sz="2800" dirty="0">
                <a:solidFill>
                  <a:srgbClr val="5F2A89"/>
                </a:solidFill>
              </a:rPr>
              <a:t> ⇔ </a:t>
            </a:r>
            <a:r>
              <a:rPr lang="en-US" altLang="zh-CN" sz="2800" dirty="0">
                <a:solidFill>
                  <a:srgbClr val="5F2A89"/>
                </a:solidFill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address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of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r>
              <a:rPr lang="en-US" altLang="zh-CN" sz="2800" dirty="0">
                <a:solidFill>
                  <a:srgbClr val="5F2A89"/>
                </a:solidFill>
              </a:rPr>
              <a:t>memory.</a:t>
            </a:r>
            <a:r>
              <a:rPr lang="zh-CN" altLang="en-US" sz="2800" dirty="0">
                <a:solidFill>
                  <a:srgbClr val="5F2A89"/>
                </a:solidFill>
              </a:rPr>
              <a:t> </a:t>
            </a:r>
            <a:endParaRPr lang="en-US" altLang="zh-CN" sz="2800" dirty="0">
              <a:solidFill>
                <a:srgbClr val="5F2A8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8B999-7F4E-81CA-E545-E3A462FBCE60}"/>
              </a:ext>
            </a:extLst>
          </p:cNvPr>
          <p:cNvSpPr txBox="1"/>
          <p:nvPr/>
        </p:nvSpPr>
        <p:spPr>
          <a:xfrm>
            <a:off x="4486544" y="914176"/>
            <a:ext cx="3311804" cy="512961"/>
          </a:xfrm>
          <a:prstGeom prst="rect">
            <a:avLst/>
          </a:prstGeom>
          <a:solidFill>
            <a:srgbClr val="FFFFFF"/>
          </a:solidFill>
          <a:ln w="19050" cap="flat">
            <a:solidFill>
              <a:schemeClr val="accent6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32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rate</a:t>
            </a:r>
            <a:r>
              <a:rPr kumimoji="0" lang="zh-CN" altLang="en-US" sz="32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32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32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32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10/2.5</a:t>
            </a:r>
            <a:endParaRPr kumimoji="0" lang="en-CN" sz="32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719E9A-ABA0-A274-D61C-877FDC760C93}"/>
              </a:ext>
            </a:extLst>
          </p:cNvPr>
          <p:cNvSpPr txBox="1"/>
          <p:nvPr/>
        </p:nvSpPr>
        <p:spPr>
          <a:xfrm>
            <a:off x="3904548" y="4431701"/>
            <a:ext cx="4183838" cy="1333698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&gt;&gt;&gt;cost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rate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*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12</a:t>
            </a:r>
          </a:p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&gt;&gt;&gt;print(cost)</a:t>
            </a:r>
          </a:p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48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ADBFB5-7009-46D0-88B5-F5A6EE4889F3}"/>
              </a:ext>
            </a:extLst>
          </p:cNvPr>
          <p:cNvSpPr txBox="1"/>
          <p:nvPr/>
        </p:nvSpPr>
        <p:spPr>
          <a:xfrm>
            <a:off x="1237152" y="6019414"/>
            <a:ext cx="9518631" cy="53347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Retrieve value associated with name by </a:t>
            </a:r>
            <a:r>
              <a:rPr lang="en-US" sz="2800" dirty="0">
                <a:solidFill>
                  <a:srgbClr val="FF0000"/>
                </a:solidFill>
                <a:effectLst/>
                <a:latin typeface="Helvetica Light" panose="020B0403020202020204" pitchFamily="34" charset="0"/>
              </a:rPr>
              <a:t>invoking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 the name</a:t>
            </a:r>
          </a:p>
        </p:txBody>
      </p:sp>
    </p:spTree>
    <p:extLst>
      <p:ext uri="{BB962C8B-B14F-4D97-AF65-F5344CB8AC3E}">
        <p14:creationId xmlns:p14="http://schemas.microsoft.com/office/powerpoint/2010/main" val="395685425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9A598-2A15-02BC-1590-4D5F20E06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Do We Use Variables?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097DE9-C6C9-1B9E-50E4-6E7BD347C9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30</a:t>
            </a:fld>
            <a:endParaRPr lang="en-CN"/>
          </a:p>
        </p:txBody>
      </p:sp>
      <p:sp>
        <p:nvSpPr>
          <p:cNvPr id="4" name="definition">
            <a:extLst>
              <a:ext uri="{FF2B5EF4-FFF2-40B4-BE49-F238E27FC236}">
                <a16:creationId xmlns:a16="http://schemas.microsoft.com/office/drawing/2014/main" id="{ED8290EA-FDF9-4B0D-E93A-2A7C733CDFF0}"/>
              </a:ext>
            </a:extLst>
          </p:cNvPr>
          <p:cNvSpPr>
            <a:spLocks noGrp="1"/>
          </p:cNvSpPr>
          <p:nvPr/>
        </p:nvSpPr>
        <p:spPr>
          <a:xfrm>
            <a:off x="533400" y="845513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dirty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 variable gives a name to a value, so we can use and update it easily.</a:t>
            </a:r>
          </a:p>
        </p:txBody>
      </p:sp>
      <p:sp>
        <p:nvSpPr>
          <p:cNvPr id="5" name="code-panel">
            <a:extLst>
              <a:ext uri="{FF2B5EF4-FFF2-40B4-BE49-F238E27FC236}">
                <a16:creationId xmlns:a16="http://schemas.microsoft.com/office/drawing/2014/main" id="{49503C0E-9CF4-2007-8AC5-9E9D8B9E63FA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5095875" cy="3333750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4288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6" name="example-label">
            <a:extLst>
              <a:ext uri="{FF2B5EF4-FFF2-40B4-BE49-F238E27FC236}">
                <a16:creationId xmlns:a16="http://schemas.microsoft.com/office/drawing/2014/main" id="{51E81912-A62A-F98B-B3B9-09800CB127E9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423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WITHOUT VARIABLES</a:t>
            </a:r>
          </a:p>
        </p:txBody>
      </p:sp>
      <p:sp>
        <p:nvSpPr>
          <p:cNvPr id="7" name="without-code">
            <a:extLst>
              <a:ext uri="{FF2B5EF4-FFF2-40B4-BE49-F238E27FC236}">
                <a16:creationId xmlns:a16="http://schemas.microsoft.com/office/drawing/2014/main" id="{DDD06E78-4553-A445-C3B0-96EE5194B8EA}"/>
              </a:ext>
            </a:extLst>
          </p:cNvPr>
          <p:cNvSpPr>
            <a:spLocks noGrp="1"/>
          </p:cNvSpPr>
          <p:nvPr/>
        </p:nvSpPr>
        <p:spPr>
          <a:xfrm>
            <a:off x="819150" y="2533650"/>
            <a:ext cx="4238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2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sz="2800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variable-label">
            <a:extLst>
              <a:ext uri="{FF2B5EF4-FFF2-40B4-BE49-F238E27FC236}">
                <a16:creationId xmlns:a16="http://schemas.microsoft.com/office/drawing/2014/main" id="{8CA4E0CB-5E07-4E18-3BB1-3E55F4811C9D}"/>
              </a:ext>
            </a:extLst>
          </p:cNvPr>
          <p:cNvSpPr>
            <a:spLocks noGrp="1"/>
          </p:cNvSpPr>
          <p:nvPr/>
        </p:nvSpPr>
        <p:spPr>
          <a:xfrm>
            <a:off x="819150" y="3333750"/>
            <a:ext cx="423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WITH VARIABLES</a:t>
            </a:r>
          </a:p>
        </p:txBody>
      </p:sp>
      <p:sp>
        <p:nvSpPr>
          <p:cNvPr id="9" name="variable-code">
            <a:extLst>
              <a:ext uri="{FF2B5EF4-FFF2-40B4-BE49-F238E27FC236}">
                <a16:creationId xmlns:a16="http://schemas.microsoft.com/office/drawing/2014/main" id="{65DF32BC-53E3-9677-4BCE-C522453E2067}"/>
              </a:ext>
            </a:extLst>
          </p:cNvPr>
          <p:cNvSpPr>
            <a:spLocks noGrp="1"/>
          </p:cNvSpPr>
          <p:nvPr/>
        </p:nvSpPr>
        <p:spPr>
          <a:xfrm>
            <a:off x="819150" y="3714750"/>
            <a:ext cx="423862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/>
          </a:bodyPr>
          <a:lstStyle/>
          <a:p>
            <a:pPr algn="l">
              <a:defRPr sz="195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24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price = 20</a:t>
            </a:r>
          </a:p>
          <a:p>
            <a:pPr algn="l">
              <a:defRPr sz="195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24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quantity = 3</a:t>
            </a:r>
          </a:p>
          <a:p>
            <a:pPr algn="l">
              <a:defRPr sz="195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sz="24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total = price * quantity</a:t>
            </a:r>
          </a:p>
        </p:txBody>
      </p:sp>
      <p:sp>
        <p:nvSpPr>
          <p:cNvPr id="10" name="why-label">
            <a:extLst>
              <a:ext uri="{FF2B5EF4-FFF2-40B4-BE49-F238E27FC236}">
                <a16:creationId xmlns:a16="http://schemas.microsoft.com/office/drawing/2014/main" id="{7D98B542-5C67-43E8-6F38-1C486ADCA3FA}"/>
              </a:ext>
            </a:extLst>
          </p:cNvPr>
          <p:cNvSpPr>
            <a:spLocks noGrp="1"/>
          </p:cNvSpPr>
          <p:nvPr/>
        </p:nvSpPr>
        <p:spPr>
          <a:xfrm>
            <a:off x="6096000" y="19050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Variables make programs…</a:t>
            </a:r>
          </a:p>
        </p:txBody>
      </p:sp>
      <p:sp>
        <p:nvSpPr>
          <p:cNvPr id="11" name="number-0">
            <a:extLst>
              <a:ext uri="{FF2B5EF4-FFF2-40B4-BE49-F238E27FC236}">
                <a16:creationId xmlns:a16="http://schemas.microsoft.com/office/drawing/2014/main" id="{9125A349-6039-5904-8367-E9DAEAD1A539}"/>
              </a:ext>
            </a:extLst>
          </p:cNvPr>
          <p:cNvSpPr>
            <a:spLocks noGrp="1"/>
          </p:cNvSpPr>
          <p:nvPr/>
        </p:nvSpPr>
        <p:spPr>
          <a:xfrm>
            <a:off x="6191250" y="2543175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D0EDFA"/>
          </a:solidFill>
          <a:ln w="14288">
            <a:solidFill>
              <a:srgbClr val="D0EDFA"/>
            </a:solidFill>
            <a:prstDash val="solid"/>
          </a:ln>
        </p:spPr>
      </p:sp>
      <p:sp>
        <p:nvSpPr>
          <p:cNvPr id="12" name="number-text-0">
            <a:extLst>
              <a:ext uri="{FF2B5EF4-FFF2-40B4-BE49-F238E27FC236}">
                <a16:creationId xmlns:a16="http://schemas.microsoft.com/office/drawing/2014/main" id="{2AFD8AC0-552E-A39A-CECA-81CD01E18F13}"/>
              </a:ext>
            </a:extLst>
          </p:cNvPr>
          <p:cNvSpPr>
            <a:spLocks noGrp="1"/>
          </p:cNvSpPr>
          <p:nvPr/>
        </p:nvSpPr>
        <p:spPr>
          <a:xfrm>
            <a:off x="6191250" y="2543175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reason-title-0">
            <a:extLst>
              <a:ext uri="{FF2B5EF4-FFF2-40B4-BE49-F238E27FC236}">
                <a16:creationId xmlns:a16="http://schemas.microsoft.com/office/drawing/2014/main" id="{3E8920FB-48F1-D61B-4C49-6E3666CB657F}"/>
              </a:ext>
            </a:extLst>
          </p:cNvPr>
          <p:cNvSpPr>
            <a:spLocks noGrp="1"/>
          </p:cNvSpPr>
          <p:nvPr/>
        </p:nvSpPr>
        <p:spPr>
          <a:xfrm>
            <a:off x="6962775" y="2524125"/>
            <a:ext cx="4286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Easy to understand</a:t>
            </a:r>
          </a:p>
        </p:txBody>
      </p:sp>
      <p:sp>
        <p:nvSpPr>
          <p:cNvPr id="14" name="reason-body-0">
            <a:extLst>
              <a:ext uri="{FF2B5EF4-FFF2-40B4-BE49-F238E27FC236}">
                <a16:creationId xmlns:a16="http://schemas.microsoft.com/office/drawing/2014/main" id="{5BF4D20B-A377-2C83-09F9-B6CFE07AB46B}"/>
              </a:ext>
            </a:extLst>
          </p:cNvPr>
          <p:cNvSpPr>
            <a:spLocks noGrp="1"/>
          </p:cNvSpPr>
          <p:nvPr/>
        </p:nvSpPr>
        <p:spPr>
          <a:xfrm>
            <a:off x="6962775" y="2828925"/>
            <a:ext cx="4286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4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price is clearer than repeating 20</a:t>
            </a:r>
          </a:p>
        </p:txBody>
      </p:sp>
      <p:sp>
        <p:nvSpPr>
          <p:cNvPr id="15" name="number-1">
            <a:extLst>
              <a:ext uri="{FF2B5EF4-FFF2-40B4-BE49-F238E27FC236}">
                <a16:creationId xmlns:a16="http://schemas.microsoft.com/office/drawing/2014/main" id="{B1BF2EBD-520C-993A-C9E8-2A97AF6E501B}"/>
              </a:ext>
            </a:extLst>
          </p:cNvPr>
          <p:cNvSpPr>
            <a:spLocks noGrp="1"/>
          </p:cNvSpPr>
          <p:nvPr/>
        </p:nvSpPr>
        <p:spPr>
          <a:xfrm>
            <a:off x="6191250" y="3524250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D0EDFA"/>
          </a:solidFill>
          <a:ln w="14288">
            <a:solidFill>
              <a:srgbClr val="D0EDFA"/>
            </a:solidFill>
            <a:prstDash val="solid"/>
          </a:ln>
        </p:spPr>
      </p:sp>
      <p:sp>
        <p:nvSpPr>
          <p:cNvPr id="16" name="number-text-1">
            <a:extLst>
              <a:ext uri="{FF2B5EF4-FFF2-40B4-BE49-F238E27FC236}">
                <a16:creationId xmlns:a16="http://schemas.microsoft.com/office/drawing/2014/main" id="{A522B90C-51F4-99E9-CB6D-B207A871186F}"/>
              </a:ext>
            </a:extLst>
          </p:cNvPr>
          <p:cNvSpPr>
            <a:spLocks noGrp="1"/>
          </p:cNvSpPr>
          <p:nvPr/>
        </p:nvSpPr>
        <p:spPr>
          <a:xfrm>
            <a:off x="6191250" y="3524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reason-title-1">
            <a:extLst>
              <a:ext uri="{FF2B5EF4-FFF2-40B4-BE49-F238E27FC236}">
                <a16:creationId xmlns:a16="http://schemas.microsoft.com/office/drawing/2014/main" id="{7E0ABC14-D12C-0183-A642-BCFE80E06116}"/>
              </a:ext>
            </a:extLst>
          </p:cNvPr>
          <p:cNvSpPr>
            <a:spLocks noGrp="1"/>
          </p:cNvSpPr>
          <p:nvPr/>
        </p:nvSpPr>
        <p:spPr>
          <a:xfrm>
            <a:off x="6962775" y="3505200"/>
            <a:ext cx="4286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Easy to reuse</a:t>
            </a:r>
          </a:p>
        </p:txBody>
      </p:sp>
      <p:sp>
        <p:nvSpPr>
          <p:cNvPr id="18" name="reason-body-1">
            <a:extLst>
              <a:ext uri="{FF2B5EF4-FFF2-40B4-BE49-F238E27FC236}">
                <a16:creationId xmlns:a16="http://schemas.microsoft.com/office/drawing/2014/main" id="{7FA4FD8E-72DF-565A-381D-855968DAFCCF}"/>
              </a:ext>
            </a:extLst>
          </p:cNvPr>
          <p:cNvSpPr>
            <a:spLocks noGrp="1"/>
          </p:cNvSpPr>
          <p:nvPr/>
        </p:nvSpPr>
        <p:spPr>
          <a:xfrm>
            <a:off x="6962775" y="3810000"/>
            <a:ext cx="4286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4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Use the same value many times</a:t>
            </a:r>
          </a:p>
        </p:txBody>
      </p:sp>
      <p:sp>
        <p:nvSpPr>
          <p:cNvPr id="19" name="number-2">
            <a:extLst>
              <a:ext uri="{FF2B5EF4-FFF2-40B4-BE49-F238E27FC236}">
                <a16:creationId xmlns:a16="http://schemas.microsoft.com/office/drawing/2014/main" id="{A2782052-15D2-BE8A-6C58-326947911147}"/>
              </a:ext>
            </a:extLst>
          </p:cNvPr>
          <p:cNvSpPr>
            <a:spLocks noGrp="1"/>
          </p:cNvSpPr>
          <p:nvPr/>
        </p:nvSpPr>
        <p:spPr>
          <a:xfrm>
            <a:off x="6191250" y="4505325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C8E3F0"/>
          </a:solidFill>
          <a:ln w="14288">
            <a:noFill/>
            <a:prstDash val="solid"/>
          </a:ln>
        </p:spPr>
        <p:txBody>
          <a:bodyPr/>
          <a:lstStyle/>
          <a:p>
            <a:endParaRPr lang="en-CN" sz="4400" dirty="0"/>
          </a:p>
        </p:txBody>
      </p:sp>
      <p:sp>
        <p:nvSpPr>
          <p:cNvPr id="20" name="number-text-2">
            <a:extLst>
              <a:ext uri="{FF2B5EF4-FFF2-40B4-BE49-F238E27FC236}">
                <a16:creationId xmlns:a16="http://schemas.microsoft.com/office/drawing/2014/main" id="{BF746626-6808-2BCD-8D2B-5EDC3FE2B8E1}"/>
              </a:ext>
            </a:extLst>
          </p:cNvPr>
          <p:cNvSpPr>
            <a:spLocks noGrp="1"/>
          </p:cNvSpPr>
          <p:nvPr/>
        </p:nvSpPr>
        <p:spPr>
          <a:xfrm>
            <a:off x="6191250" y="4505325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reason-title-2">
            <a:extLst>
              <a:ext uri="{FF2B5EF4-FFF2-40B4-BE49-F238E27FC236}">
                <a16:creationId xmlns:a16="http://schemas.microsoft.com/office/drawing/2014/main" id="{DA198DC6-A61A-0DAA-3DE5-32C9D0D12B4D}"/>
              </a:ext>
            </a:extLst>
          </p:cNvPr>
          <p:cNvSpPr>
            <a:spLocks noGrp="1"/>
          </p:cNvSpPr>
          <p:nvPr/>
        </p:nvSpPr>
        <p:spPr>
          <a:xfrm>
            <a:off x="6962775" y="4486275"/>
            <a:ext cx="4286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Easy to change</a:t>
            </a:r>
          </a:p>
        </p:txBody>
      </p:sp>
      <p:sp>
        <p:nvSpPr>
          <p:cNvPr id="22" name="reason-body-2">
            <a:extLst>
              <a:ext uri="{FF2B5EF4-FFF2-40B4-BE49-F238E27FC236}">
                <a16:creationId xmlns:a16="http://schemas.microsoft.com/office/drawing/2014/main" id="{043E7AAB-FEAB-50D4-543B-03B024EDCF37}"/>
              </a:ext>
            </a:extLst>
          </p:cNvPr>
          <p:cNvSpPr>
            <a:spLocks noGrp="1"/>
          </p:cNvSpPr>
          <p:nvPr/>
        </p:nvSpPr>
        <p:spPr>
          <a:xfrm>
            <a:off x="6962774" y="4791075"/>
            <a:ext cx="5229226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425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Update it once; the program uses the new value</a:t>
            </a:r>
          </a:p>
        </p:txBody>
      </p:sp>
      <p:sp>
        <p:nvSpPr>
          <p:cNvPr id="25" name="variable-code">
            <a:extLst>
              <a:ext uri="{FF2B5EF4-FFF2-40B4-BE49-F238E27FC236}">
                <a16:creationId xmlns:a16="http://schemas.microsoft.com/office/drawing/2014/main" id="{4EC78570-95D9-F845-B531-B98EE6FFE733}"/>
              </a:ext>
            </a:extLst>
          </p:cNvPr>
          <p:cNvSpPr>
            <a:spLocks noGrp="1"/>
          </p:cNvSpPr>
          <p:nvPr/>
        </p:nvSpPr>
        <p:spPr>
          <a:xfrm>
            <a:off x="939415" y="2520984"/>
            <a:ext cx="423862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endParaRPr sz="2400" dirty="0">
              <a:solidFill>
                <a:srgbClr val="111827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6" name="variable-code">
            <a:extLst>
              <a:ext uri="{FF2B5EF4-FFF2-40B4-BE49-F238E27FC236}">
                <a16:creationId xmlns:a16="http://schemas.microsoft.com/office/drawing/2014/main" id="{CC26CC18-1113-607B-5BA7-E46398FA4EC0}"/>
              </a:ext>
            </a:extLst>
          </p:cNvPr>
          <p:cNvSpPr>
            <a:spLocks noGrp="1"/>
          </p:cNvSpPr>
          <p:nvPr/>
        </p:nvSpPr>
        <p:spPr>
          <a:xfrm>
            <a:off x="879282" y="2665375"/>
            <a:ext cx="4238625" cy="5159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lang="en-US" altLang="zh-CN" sz="24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20</a:t>
            </a:r>
            <a:r>
              <a:rPr lang="zh-CN" altLang="en-US" sz="24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*</a:t>
            </a:r>
            <a:r>
              <a:rPr lang="en-US" altLang="zh-CN" sz="24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30</a:t>
            </a:r>
            <a:endParaRPr sz="2400" dirty="0">
              <a:solidFill>
                <a:srgbClr val="111827"/>
              </a:solidFill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9538989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8E5F9-CF28-ABEF-D231-93D04397B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Wh</a:t>
            </a:r>
            <a:r>
              <a:rPr lang="en-US" altLang="zh-CN" dirty="0"/>
              <a:t>at</a:t>
            </a:r>
            <a:r>
              <a:rPr lang="en-US" dirty="0"/>
              <a:t> Is Best Code Style? </a:t>
            </a:r>
            <a:br>
              <a:rPr lang="en-US" dirty="0"/>
            </a:b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446B11-77D5-6761-2EEF-E32D5B2590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31</a:t>
            </a:fld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8CD99-4D5E-8F86-FF87-32F5B2037CCE}"/>
              </a:ext>
            </a:extLst>
          </p:cNvPr>
          <p:cNvSpPr txBox="1"/>
          <p:nvPr/>
        </p:nvSpPr>
        <p:spPr>
          <a:xfrm>
            <a:off x="512956" y="1215481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A42795-A41A-EAAF-1515-9EF2A7A7AE0E}"/>
              </a:ext>
            </a:extLst>
          </p:cNvPr>
          <p:cNvSpPr/>
          <p:nvPr/>
        </p:nvSpPr>
        <p:spPr>
          <a:xfrm>
            <a:off x="512956" y="703635"/>
            <a:ext cx="5252224" cy="841256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a = 3.14 * 3 ** 2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b = 3.14 * 2 * 3</a:t>
            </a:r>
            <a:endParaRPr kumimoji="0" lang="en-CN" sz="24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AF39EA-93A5-5FA5-570B-9FB4D4E9F8F0}"/>
              </a:ext>
            </a:extLst>
          </p:cNvPr>
          <p:cNvSpPr/>
          <p:nvPr/>
        </p:nvSpPr>
        <p:spPr>
          <a:xfrm>
            <a:off x="512955" y="1728442"/>
            <a:ext cx="5252225" cy="2318583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pi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3.14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#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get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the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area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a = 3.14 * 3 ** 2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circumference</a:t>
            </a: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b = 3.14 * 2 * 3</a:t>
            </a:r>
            <a:endParaRPr kumimoji="0" lang="en-CN" sz="24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DB029-C8AD-C696-42B4-3695160BF9F9}"/>
              </a:ext>
            </a:extLst>
          </p:cNvPr>
          <p:cNvSpPr/>
          <p:nvPr/>
        </p:nvSpPr>
        <p:spPr>
          <a:xfrm>
            <a:off x="512955" y="4390722"/>
            <a:ext cx="5252225" cy="2318583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#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calculate the area and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b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</a:b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#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circumference of a circle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pi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3.14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**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circumference</a:t>
            </a: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=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kumimoji="0" lang="en-CN" sz="24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949F2D-AB84-8B8B-148F-3056C9029123}"/>
              </a:ext>
            </a:extLst>
          </p:cNvPr>
          <p:cNvSpPr txBox="1"/>
          <p:nvPr/>
        </p:nvSpPr>
        <p:spPr>
          <a:xfrm>
            <a:off x="6222380" y="2232027"/>
            <a:ext cx="5813314" cy="164147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indent="-457200" algn="l">
              <a:lnSpc>
                <a:spcPts val="32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Use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EEEFF1"/>
                </a:highlight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EEEFF1"/>
                </a:highlight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#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highlight>
                  <a:srgbClr val="EEEFF1"/>
                </a:highlight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to add comments to your code and make it easier to read.</a:t>
            </a:r>
          </a:p>
          <a:p>
            <a:pPr marL="457200" indent="-457200" algn="l">
              <a:lnSpc>
                <a:spcPts val="32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Use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mea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ningful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variable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names</a:t>
            </a:r>
            <a:endParaRPr kumimoji="0" lang="en-US" altLang="zh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pic>
        <p:nvPicPr>
          <p:cNvPr id="12" name="Graphic 11" descr="Thumbs up sign">
            <a:extLst>
              <a:ext uri="{FF2B5EF4-FFF2-40B4-BE49-F238E27FC236}">
                <a16:creationId xmlns:a16="http://schemas.microsoft.com/office/drawing/2014/main" id="{3050E012-6FA5-0863-8B62-DC631C4A1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5180" y="499775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5080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de-panel">
            <a:extLst>
              <a:ext uri="{FF2B5EF4-FFF2-40B4-BE49-F238E27FC236}">
                <a16:creationId xmlns:a16="http://schemas.microsoft.com/office/drawing/2014/main" id="{390B118B-DC86-0E45-5713-A71B76A00E9C}"/>
              </a:ext>
            </a:extLst>
          </p:cNvPr>
          <p:cNvSpPr>
            <a:spLocks noGrp="1"/>
          </p:cNvSpPr>
          <p:nvPr/>
        </p:nvSpPr>
        <p:spPr>
          <a:xfrm>
            <a:off x="7417675" y="3512639"/>
            <a:ext cx="2382642" cy="2620529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4288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376F4-EBEB-1FAD-47B4-E9CC517C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Reassignment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Variables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8F22E4-F49B-5703-1E53-09C252FCE4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32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35D04-E208-8D7D-1664-BA57DE19660D}"/>
              </a:ext>
            </a:extLst>
          </p:cNvPr>
          <p:cNvSpPr txBox="1"/>
          <p:nvPr/>
        </p:nvSpPr>
        <p:spPr>
          <a:xfrm>
            <a:off x="669073" y="1025911"/>
            <a:ext cx="11363092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indent="-457200" algn="l">
              <a:lnSpc>
                <a:spcPts val="3200"/>
              </a:lnSpc>
              <a:buFont typeface="Wingdings" pitchFamily="2" charset="2"/>
              <a:buChar char="§"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You can reassign or rebind a variable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1F4DE4-557E-BBBB-16E2-7359D5518A86}"/>
              </a:ext>
            </a:extLst>
          </p:cNvPr>
          <p:cNvSpPr txBox="1"/>
          <p:nvPr/>
        </p:nvSpPr>
        <p:spPr>
          <a:xfrm>
            <a:off x="669073" y="1853379"/>
            <a:ext cx="9982267" cy="96436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indent="-457200" algn="l">
              <a:buFont typeface="Wingdings" pitchFamily="2" charset="2"/>
              <a:buChar char="§"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Previous value may still stored in memory but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is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no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longer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associated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with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the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variable</a:t>
            </a:r>
            <a:endParaRPr lang="en-US" sz="2800" dirty="0">
              <a:solidFill>
                <a:schemeClr val="accent6">
                  <a:lumMod val="75000"/>
                </a:schemeClr>
              </a:solidFill>
              <a:effectLst/>
              <a:latin typeface="Helvetica Light" panose="020B0403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8663C6-FDF7-87F9-50F1-322A7D8AB075}"/>
              </a:ext>
            </a:extLst>
          </p:cNvPr>
          <p:cNvSpPr/>
          <p:nvPr/>
        </p:nvSpPr>
        <p:spPr>
          <a:xfrm>
            <a:off x="1215483" y="3324913"/>
            <a:ext cx="3077737" cy="1210588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say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say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"Hi"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A28FC92-3EF7-38D3-829D-C7275B8765A4}"/>
              </a:ext>
            </a:extLst>
          </p:cNvPr>
          <p:cNvGrpSpPr/>
          <p:nvPr/>
        </p:nvGrpSpPr>
        <p:grpSpPr>
          <a:xfrm>
            <a:off x="8028878" y="3708670"/>
            <a:ext cx="1025912" cy="2291450"/>
            <a:chOff x="8028878" y="3708670"/>
            <a:chExt cx="1025912" cy="22914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3A89344-95BD-3CB2-6551-D9625D8433F9}"/>
                </a:ext>
              </a:extLst>
            </p:cNvPr>
            <p:cNvSpPr/>
            <p:nvPr/>
          </p:nvSpPr>
          <p:spPr>
            <a:xfrm>
              <a:off x="8028878" y="3708670"/>
              <a:ext cx="1025912" cy="533479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3</a:t>
              </a:r>
              <a:endParaRPr kumimoji="0" lang="en-CN" sz="2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0B8AC93-E319-5235-357D-C9D29BF2AA80}"/>
                </a:ext>
              </a:extLst>
            </p:cNvPr>
            <p:cNvSpPr/>
            <p:nvPr/>
          </p:nvSpPr>
          <p:spPr>
            <a:xfrm>
              <a:off x="8028878" y="4533655"/>
              <a:ext cx="1025912" cy="533479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3</a:t>
              </a:r>
              <a:endParaRPr kumimoji="0" lang="en-CN" sz="2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08A3ED-BB0C-EE53-F936-50614599BF91}"/>
                </a:ext>
              </a:extLst>
            </p:cNvPr>
            <p:cNvSpPr/>
            <p:nvPr/>
          </p:nvSpPr>
          <p:spPr>
            <a:xfrm>
              <a:off x="8028878" y="5466641"/>
              <a:ext cx="1025912" cy="533479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"Hi"</a:t>
              </a:r>
              <a:endParaRPr kumimoji="0" lang="en-CN" sz="2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3AD00CD-50BA-B5D0-B229-C993BE2D8485}"/>
              </a:ext>
            </a:extLst>
          </p:cNvPr>
          <p:cNvSpPr txBox="1"/>
          <p:nvPr/>
        </p:nvSpPr>
        <p:spPr>
          <a:xfrm>
            <a:off x="5040351" y="3791413"/>
            <a:ext cx="1393903" cy="512961"/>
          </a:xfrm>
          <a:prstGeom prst="rect">
            <a:avLst/>
          </a:prstGeom>
          <a:solidFill>
            <a:srgbClr val="FFFFFF"/>
          </a:solidFill>
          <a:ln w="190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say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F93176-3B30-440C-97BB-5C39BD5C2653}"/>
              </a:ext>
            </a:extLst>
          </p:cNvPr>
          <p:cNvSpPr txBox="1"/>
          <p:nvPr/>
        </p:nvSpPr>
        <p:spPr>
          <a:xfrm>
            <a:off x="5040351" y="4543913"/>
            <a:ext cx="1393903" cy="512961"/>
          </a:xfrm>
          <a:prstGeom prst="rect">
            <a:avLst/>
          </a:prstGeom>
          <a:solidFill>
            <a:srgbClr val="FFFFFF"/>
          </a:solidFill>
          <a:ln w="1905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number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209603-6F1E-031F-C02F-6CA86A12F417}"/>
              </a:ext>
            </a:extLst>
          </p:cNvPr>
          <p:cNvCxnSpPr>
            <a:cxnSpLocks/>
          </p:cNvCxnSpPr>
          <p:nvPr/>
        </p:nvCxnSpPr>
        <p:spPr>
          <a:xfrm flipV="1">
            <a:off x="6490009" y="4047893"/>
            <a:ext cx="1494263" cy="1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177510-C9C3-8F50-61D0-B2F5112D0E53}"/>
              </a:ext>
            </a:extLst>
          </p:cNvPr>
          <p:cNvCxnSpPr>
            <a:cxnSpLocks/>
          </p:cNvCxnSpPr>
          <p:nvPr/>
        </p:nvCxnSpPr>
        <p:spPr>
          <a:xfrm flipV="1">
            <a:off x="6490009" y="4800392"/>
            <a:ext cx="1494263" cy="1"/>
          </a:xfrm>
          <a:prstGeom prst="straightConnector1">
            <a:avLst/>
          </a:prstGeom>
          <a:noFill/>
          <a:ln w="25400" cap="flat">
            <a:solidFill>
              <a:schemeClr val="accent2">
                <a:lumMod val="75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8" name="Graphic 17" descr="Close">
            <a:extLst>
              <a:ext uri="{FF2B5EF4-FFF2-40B4-BE49-F238E27FC236}">
                <a16:creationId xmlns:a16="http://schemas.microsoft.com/office/drawing/2014/main" id="{12205625-29F0-EC93-68D8-921D3A2AC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9978" y="3791413"/>
            <a:ext cx="512962" cy="512962"/>
          </a:xfrm>
          <a:prstGeom prst="rect">
            <a:avLst/>
          </a:prstGeom>
        </p:spPr>
      </p:pic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BB0379D6-4917-6AE3-75B4-655D2B8972B2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6434254" y="4047894"/>
            <a:ext cx="1594624" cy="1685487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6">
                <a:lumMod val="75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1496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3B692-6338-4D39-DCEC-A8725365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Variables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D4B5DA-EF73-8C7E-5842-A55AFC5A07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33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D5F5C-56A4-B8BA-DD08-042B3D86B9BF}"/>
              </a:ext>
            </a:extLst>
          </p:cNvPr>
          <p:cNvSpPr txBox="1"/>
          <p:nvPr/>
        </p:nvSpPr>
        <p:spPr>
          <a:xfrm>
            <a:off x="602166" y="936701"/>
            <a:ext cx="10406063" cy="512961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indent="-457200" algn="l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Before using any variable, it needs to </a:t>
            </a:r>
            <a:r>
              <a:rPr kumimoji="0" lang="en-US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be assigned</a:t>
            </a:r>
            <a:endParaRPr kumimoji="0" lang="en-CN" sz="2800" b="1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6" name="variable-code">
            <a:extLst>
              <a:ext uri="{FF2B5EF4-FFF2-40B4-BE49-F238E27FC236}">
                <a16:creationId xmlns:a16="http://schemas.microsoft.com/office/drawing/2014/main" id="{1F68D43F-4CB1-B0B1-5310-63EE5302EE81}"/>
              </a:ext>
            </a:extLst>
          </p:cNvPr>
          <p:cNvSpPr>
            <a:spLocks noGrp="1"/>
          </p:cNvSpPr>
          <p:nvPr/>
        </p:nvSpPr>
        <p:spPr>
          <a:xfrm>
            <a:off x="1131382" y="1650381"/>
            <a:ext cx="8848959" cy="1324437"/>
          </a:xfrm>
          <a:prstGeom prst="rect">
            <a:avLst/>
          </a:prstGeom>
          <a:solidFill>
            <a:srgbClr val="EEEFF1"/>
          </a:solidFill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&gt;&gt;&gt;</a:t>
            </a:r>
            <a:r>
              <a:rPr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total = price *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10</a:t>
            </a:r>
          </a:p>
          <a:p>
            <a:pPr algn="l">
              <a:defRPr sz="195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2800" dirty="0" err="1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NameError</a:t>
            </a:r>
            <a:r>
              <a:rPr 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: name '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price</a:t>
            </a:r>
            <a:r>
              <a:rPr 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' is not defined</a:t>
            </a:r>
            <a:endParaRPr sz="2800" dirty="0">
              <a:solidFill>
                <a:srgbClr val="111827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1C5DB-5B24-53B0-E524-4153240A6C88}"/>
              </a:ext>
            </a:extLst>
          </p:cNvPr>
          <p:cNvSpPr txBox="1"/>
          <p:nvPr/>
        </p:nvSpPr>
        <p:spPr>
          <a:xfrm>
            <a:off x="602165" y="3370222"/>
            <a:ext cx="10406063" cy="512961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indent="-457200" algn="l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Multiple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assignment</a:t>
            </a:r>
            <a:endParaRPr kumimoji="0" lang="en-CN" sz="2800" b="1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A205C5-8766-F71F-21F9-C648113E5149}"/>
              </a:ext>
            </a:extLst>
          </p:cNvPr>
          <p:cNvSpPr txBox="1"/>
          <p:nvPr/>
        </p:nvSpPr>
        <p:spPr>
          <a:xfrm>
            <a:off x="602165" y="4011847"/>
            <a:ext cx="11309855" cy="53347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Helvetica Light" panose="020B0403020202020204" pitchFamily="34" charset="0"/>
              </a:rPr>
              <a:t>you can assign values to multiple variables in a single statement. </a:t>
            </a:r>
          </a:p>
        </p:txBody>
      </p:sp>
      <p:sp>
        <p:nvSpPr>
          <p:cNvPr id="10" name="variable-code">
            <a:extLst>
              <a:ext uri="{FF2B5EF4-FFF2-40B4-BE49-F238E27FC236}">
                <a16:creationId xmlns:a16="http://schemas.microsoft.com/office/drawing/2014/main" id="{027C430C-3881-8CE7-29D1-C32993AD55B5}"/>
              </a:ext>
            </a:extLst>
          </p:cNvPr>
          <p:cNvSpPr>
            <a:spLocks noGrp="1"/>
          </p:cNvSpPr>
          <p:nvPr/>
        </p:nvSpPr>
        <p:spPr>
          <a:xfrm>
            <a:off x="1049606" y="4825998"/>
            <a:ext cx="9109155" cy="1605688"/>
          </a:xfrm>
          <a:prstGeom prst="rect">
            <a:avLst/>
          </a:prstGeom>
          <a:solidFill>
            <a:srgbClr val="EEEFF1"/>
          </a:solidFill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x,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y,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z</a:t>
            </a:r>
            <a:r>
              <a:rPr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1,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2,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3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#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x=1;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y=2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;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z=1</a:t>
            </a:r>
          </a:p>
          <a:p>
            <a:pPr algn="l">
              <a:defRPr sz="1950">
                <a:solidFill>
                  <a:srgbClr val="111827"/>
                </a:solidFill>
                <a:latin typeface="Courier New"/>
                <a:ea typeface="Courier New"/>
                <a:cs typeface="Courier New"/>
              </a:defRPr>
            </a:pP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name,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age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'Alice',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10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#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Name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'Alice'</a:t>
            </a:r>
            <a:b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</a:b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                         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Age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lang="zh-CN" altLang="en-US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zh-CN" sz="2800" dirty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4523132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5D1B-AC94-7527-DD46-5141B0A91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Variable</a:t>
            </a:r>
            <a:r>
              <a:rPr lang="zh-CN" altLang="en-US" dirty="0"/>
              <a:t> </a:t>
            </a:r>
            <a:r>
              <a:rPr lang="en-US" altLang="zh-CN" dirty="0"/>
              <a:t>Naming</a:t>
            </a:r>
            <a:r>
              <a:rPr lang="zh-CN" altLang="en-US" dirty="0"/>
              <a:t> </a:t>
            </a:r>
            <a:r>
              <a:rPr lang="en-US" altLang="zh-CN" dirty="0"/>
              <a:t>Rules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C42F30-64BA-1782-F61B-398836A01D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34</a:t>
            </a:fld>
            <a:endParaRPr lang="en-CN"/>
          </a:p>
        </p:txBody>
      </p:sp>
      <p:sp>
        <p:nvSpPr>
          <p:cNvPr id="4" name="Variables">
            <a:extLst>
              <a:ext uri="{FF2B5EF4-FFF2-40B4-BE49-F238E27FC236}">
                <a16:creationId xmlns:a16="http://schemas.microsoft.com/office/drawing/2014/main" id="{880264CE-CCF7-7F97-DB2F-086BE71D7D20}"/>
              </a:ext>
            </a:extLst>
          </p:cNvPr>
          <p:cNvSpPr txBox="1">
            <a:spLocks/>
          </p:cNvSpPr>
          <p:nvPr/>
        </p:nvSpPr>
        <p:spPr>
          <a:xfrm>
            <a:off x="952500" y="120650"/>
            <a:ext cx="11099800" cy="1358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 i="0" u="none" strike="noStrike" cap="none" spc="0" baseline="0">
                <a:solidFill>
                  <a:srgbClr val="532F92"/>
                </a:solidFill>
                <a:uFillTx/>
                <a:latin typeface="Comic Sans MS" panose="030F0902030302020204" pitchFamily="66" charset="0"/>
                <a:ea typeface="+mn-ea"/>
                <a:cs typeface="+mn-cs"/>
                <a:sym typeface="Helvetica Light"/>
              </a:defRPr>
            </a:lvl1pPr>
            <a:lvl2pPr marL="0" marR="0" indent="160729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321457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482186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642915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803643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964372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125101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285829" algn="ctr" defTabSz="41075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25" b="0" i="0" u="none" strike="noStrike" cap="none" spc="0" baseline="0">
                <a:solidFill>
                  <a:srgbClr val="532F92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endParaRPr lang="en-US" dirty="0"/>
          </a:p>
        </p:txBody>
      </p:sp>
      <p:sp>
        <p:nvSpPr>
          <p:cNvPr id="5" name="The name for a variable…">
            <a:extLst>
              <a:ext uri="{FF2B5EF4-FFF2-40B4-BE49-F238E27FC236}">
                <a16:creationId xmlns:a16="http://schemas.microsoft.com/office/drawing/2014/main" id="{9AA374F0-B517-7DAD-FF97-541DA11E4966}"/>
              </a:ext>
            </a:extLst>
          </p:cNvPr>
          <p:cNvSpPr txBox="1">
            <a:spLocks/>
          </p:cNvSpPr>
          <p:nvPr/>
        </p:nvSpPr>
        <p:spPr>
          <a:xfrm>
            <a:off x="425278" y="624553"/>
            <a:ext cx="11896820" cy="6112797"/>
          </a:xfrm>
          <a:prstGeom prst="rect">
            <a:avLst/>
          </a:prstGeom>
        </p:spPr>
        <p:txBody>
          <a:bodyPr>
            <a:normAutofit/>
          </a:bodyPr>
          <a:lstStyle>
            <a:lvl1pPr marL="31252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8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2505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3758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5011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62640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87516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18769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0022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1275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337820" indent="-337820" defTabSz="443991">
              <a:spcBef>
                <a:spcPts val="900"/>
              </a:spcBef>
              <a:defRPr sz="2736"/>
            </a:pPr>
            <a:r>
              <a:rPr lang="en-US" sz="3200" dirty="0"/>
              <a:t>The name for a variable </a:t>
            </a:r>
          </a:p>
          <a:p>
            <a:pPr marL="675640" lvl="1" indent="-337820" defTabSz="443991">
              <a:spcBef>
                <a:spcPts val="900"/>
              </a:spcBef>
              <a:defRPr sz="2432"/>
            </a:pPr>
            <a:r>
              <a:rPr lang="en-US" sz="2800" dirty="0"/>
              <a:t>can be as long as you want</a:t>
            </a:r>
          </a:p>
          <a:p>
            <a:pPr marL="675640" lvl="1" indent="-337820" defTabSz="443991">
              <a:spcBef>
                <a:spcPts val="900"/>
              </a:spcBef>
              <a:defRPr sz="2432"/>
            </a:pPr>
            <a:r>
              <a:rPr lang="en-US" sz="2800" dirty="0"/>
              <a:t>cannot contain spaces</a:t>
            </a:r>
          </a:p>
          <a:p>
            <a:pPr marL="675640" lvl="1" indent="-337820" defTabSz="443991">
              <a:spcBef>
                <a:spcPts val="900"/>
              </a:spcBef>
              <a:defRPr sz="2432"/>
            </a:pPr>
            <a:r>
              <a:rPr lang="en-US" sz="2800" dirty="0"/>
              <a:t>consists of alphanumeric (numbers and letters) and the underscore</a:t>
            </a:r>
          </a:p>
          <a:p>
            <a:pPr marL="675640" lvl="1" indent="-337820" defTabSz="443991">
              <a:spcBef>
                <a:spcPts val="900"/>
              </a:spcBef>
              <a:defRPr sz="2432"/>
            </a:pPr>
            <a:r>
              <a:rPr lang="en-US" sz="2800" dirty="0"/>
              <a:t>first character cannot be a number (only a letter or underscore) </a:t>
            </a:r>
          </a:p>
          <a:p>
            <a:pPr marL="675640" lvl="1" indent="-337820" defTabSz="443991">
              <a:spcBef>
                <a:spcPts val="900"/>
              </a:spcBef>
              <a:defRPr sz="2432"/>
            </a:pPr>
            <a:r>
              <a:rPr lang="en-US" sz="2800" dirty="0"/>
              <a:t>is case sensitive </a:t>
            </a:r>
          </a:p>
          <a:p>
            <a:pPr marL="1013459" lvl="2" indent="-337820" defTabSz="443991">
              <a:spcBef>
                <a:spcPts val="900"/>
              </a:spcBef>
              <a:defRPr sz="2128"/>
            </a:pPr>
            <a:r>
              <a:rPr lang="en-US" dirty="0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</a:rPr>
              <a:t>foo</a:t>
            </a:r>
            <a:r>
              <a:rPr lang="en-US" dirty="0"/>
              <a:t> and </a:t>
            </a:r>
            <a:r>
              <a:rPr lang="en-US" dirty="0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</a:rPr>
              <a:t>Foo</a:t>
            </a:r>
            <a:r>
              <a:rPr lang="en-US" dirty="0"/>
              <a:t> are 2 different variables</a:t>
            </a:r>
          </a:p>
          <a:p>
            <a:pPr marL="675640" lvl="1" indent="-337820" defTabSz="443991">
              <a:spcBef>
                <a:spcPts val="900"/>
              </a:spcBef>
              <a:defRPr sz="2432"/>
            </a:pPr>
            <a:r>
              <a:rPr lang="en-US" sz="2800" dirty="0"/>
              <a:t>cannot be a keyword </a:t>
            </a:r>
            <a:br>
              <a:rPr lang="en-US" sz="2800" dirty="0"/>
            </a:br>
            <a:r>
              <a:rPr lang="en-US" sz="2800" dirty="0"/>
              <a:t>(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print, input, if, then,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else, while, for, </a:t>
            </a:r>
            <a:r>
              <a:rPr lang="en-US" sz="2800" dirty="0"/>
              <a:t>…) </a:t>
            </a:r>
          </a:p>
        </p:txBody>
      </p:sp>
    </p:spTree>
    <p:extLst>
      <p:ext uri="{BB962C8B-B14F-4D97-AF65-F5344CB8AC3E}">
        <p14:creationId xmlns:p14="http://schemas.microsoft.com/office/powerpoint/2010/main" val="303859406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CFA97-AEB9-9A20-FD16-36187979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Yo</a:t>
            </a:r>
            <a:r>
              <a:rPr lang="en-US" altLang="zh-CN" dirty="0"/>
              <a:t>u</a:t>
            </a:r>
            <a:r>
              <a:rPr lang="zh-CN" altLang="en-US" dirty="0"/>
              <a:t> </a:t>
            </a:r>
            <a:r>
              <a:rPr lang="en-US" altLang="zh-CN" dirty="0"/>
              <a:t>try</a:t>
            </a:r>
            <a:r>
              <a:rPr lang="zh-CN" altLang="en-US" dirty="0"/>
              <a:t> </a:t>
            </a:r>
            <a:r>
              <a:rPr lang="en-US" altLang="zh-CN" dirty="0"/>
              <a:t>it!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9CF312-26DC-19C3-B19A-E85F6C255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35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63A97-3361-3B31-C939-10F8A88447F8}"/>
              </a:ext>
            </a:extLst>
          </p:cNvPr>
          <p:cNvSpPr txBox="1"/>
          <p:nvPr/>
        </p:nvSpPr>
        <p:spPr>
          <a:xfrm>
            <a:off x="1906859" y="1538866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6" name="Which of the following are valid variable names in Python?">
            <a:extLst>
              <a:ext uri="{FF2B5EF4-FFF2-40B4-BE49-F238E27FC236}">
                <a16:creationId xmlns:a16="http://schemas.microsoft.com/office/drawing/2014/main" id="{C43CE6DE-65D3-5CF7-42DF-D675B048EA53}"/>
              </a:ext>
            </a:extLst>
          </p:cNvPr>
          <p:cNvSpPr txBox="1">
            <a:spLocks/>
          </p:cNvSpPr>
          <p:nvPr/>
        </p:nvSpPr>
        <p:spPr>
          <a:xfrm>
            <a:off x="245678" y="789060"/>
            <a:ext cx="11099800" cy="755650"/>
          </a:xfrm>
          <a:prstGeom prst="rect">
            <a:avLst/>
          </a:prstGeom>
        </p:spPr>
        <p:txBody>
          <a:bodyPr>
            <a:normAutofit/>
          </a:bodyPr>
          <a:lstStyle>
            <a:lvl1pPr marL="391159" marR="0" indent="-391159" algn="l" defTabSz="514095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168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2505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3758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5011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62640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87516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18769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0022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1275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3200"/>
              <a:t>Which of the following are valid variable names in Python? </a:t>
            </a:r>
            <a:endParaRPr lang="en-US" sz="3200" dirty="0"/>
          </a:p>
        </p:txBody>
      </p:sp>
      <p:graphicFrame>
        <p:nvGraphicFramePr>
          <p:cNvPr id="7" name="Tableau 1">
            <a:extLst>
              <a:ext uri="{FF2B5EF4-FFF2-40B4-BE49-F238E27FC236}">
                <a16:creationId xmlns:a16="http://schemas.microsoft.com/office/drawing/2014/main" id="{C46818C5-0E21-50A9-6889-4BA7875071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5409192"/>
              </p:ext>
            </p:extLst>
          </p:nvPr>
        </p:nvGraphicFramePr>
        <p:xfrm>
          <a:off x="742477" y="1888498"/>
          <a:ext cx="10474705" cy="2946400"/>
        </p:xfrm>
        <a:graphic>
          <a:graphicData uri="http://schemas.openxmlformats.org/drawingml/2006/table">
            <a:tbl>
              <a:tblPr/>
              <a:tblGrid>
                <a:gridCol w="4298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5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342900" indent="-342900" algn="l" defTabSz="914400">
                        <a:buFont typeface="Arial" panose="020B0604020202020204" pitchFamily="34" charset="0"/>
                        <a:buChar char="•"/>
                      </a:pPr>
                      <a:r>
                        <a:rPr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_foo</a:t>
                      </a:r>
                    </a:p>
                  </a:txBody>
                  <a:tcPr marL="50800" marR="50800" marT="50800" marB="50800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>
                        <a:buFont typeface="Arial" panose="020B0604020202020204" pitchFamily="34" charset="0"/>
                        <a:buChar char="•"/>
                      </a:pPr>
                      <a:r>
                        <a:rPr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foo bar</a:t>
                      </a:r>
                    </a:p>
                  </a:txBody>
                  <a:tcPr marL="50800" marR="50800" marT="50800" marB="50800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342900" indent="-342900" algn="l" defTabSz="914400">
                        <a:buFont typeface="Arial" panose="020B0604020202020204" pitchFamily="34" charset="0"/>
                        <a:buChar char="•"/>
                      </a:pPr>
                      <a:r>
                        <a:rPr sz="2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$foo</a:t>
                      </a:r>
                    </a:p>
                  </a:txBody>
                  <a:tcPr marL="50800" marR="50800" marT="50800" marB="50800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>
                        <a:buFont typeface="Arial" panose="020B0604020202020204" pitchFamily="34" charset="0"/>
                        <a:buChar char="•"/>
                      </a:pPr>
                      <a:r>
                        <a:rPr sz="24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FoO</a:t>
                      </a:r>
                      <a:endParaRPr sz="2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342900" indent="-342900" algn="l" defTabSz="914400">
                        <a:buFont typeface="Arial" panose="020B0604020202020204" pitchFamily="34" charset="0"/>
                        <a:buChar char="•"/>
                      </a:pPr>
                      <a:r>
                        <a:rPr sz="2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foo</a:t>
                      </a:r>
                    </a:p>
                  </a:txBody>
                  <a:tcPr marL="50800" marR="50800" marT="50800" marB="50800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>
                        <a:buFont typeface="Arial" panose="020B0604020202020204" pitchFamily="34" charset="0"/>
                        <a:buChar char="•"/>
                      </a:pPr>
                      <a:r>
                        <a:rPr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foobar123</a:t>
                      </a:r>
                    </a:p>
                  </a:txBody>
                  <a:tcPr marL="50800" marR="50800" marT="50800" marB="50800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342900" indent="-342900" algn="l" defTabSz="914400">
                        <a:buFont typeface="Arial" panose="020B0604020202020204" pitchFamily="34" charset="0"/>
                        <a:buChar char="•"/>
                      </a:pPr>
                      <a:r>
                        <a:rPr sz="24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3foo</a:t>
                      </a:r>
                    </a:p>
                  </a:txBody>
                  <a:tcPr marL="50800" marR="50800" marT="50800" marB="50800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>
                        <a:buFont typeface="Arial" panose="020B0604020202020204" pitchFamily="34" charset="0"/>
                        <a:buChar char="•"/>
                      </a:pPr>
                      <a:r>
                        <a:rPr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#foo</a:t>
                      </a:r>
                    </a:p>
                  </a:txBody>
                  <a:tcPr marL="50800" marR="50800" marT="50800" marB="50800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880845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1BB7-07E2-BBC0-8137-8E19CEAED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Try</a:t>
            </a:r>
            <a:r>
              <a:rPr lang="zh-CN" altLang="en-US" dirty="0"/>
              <a:t> </a:t>
            </a:r>
            <a:r>
              <a:rPr lang="en-US" altLang="zh-CN" dirty="0"/>
              <a:t>it!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61568-4535-2D3B-73DE-EB777D07FE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36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7273D5-AED6-EFC8-B4B2-0E4671B94E3F}"/>
              </a:ext>
            </a:extLst>
          </p:cNvPr>
          <p:cNvSpPr txBox="1"/>
          <p:nvPr/>
        </p:nvSpPr>
        <p:spPr>
          <a:xfrm>
            <a:off x="757382" y="789060"/>
            <a:ext cx="10316927" cy="298338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A notebook costs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7.3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RMB.</a:t>
            </a:r>
            <a:br>
              <a:rPr lang="en-US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</a:b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Amy, Bob, and Cindy buy different numbers of notebooks:</a:t>
            </a:r>
          </a:p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Amy buys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1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2 notebooks. </a:t>
            </a:r>
          </a:p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Bob buys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23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notebooks. </a:t>
            </a:r>
          </a:p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Cindy buys 3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 notebooks. </a:t>
            </a:r>
          </a:p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Helvetica Light" panose="020B0403020202020204" pitchFamily="34" charset="0"/>
              </a:rPr>
              <a:t>Write a Python program to calculate how much each person needs to pay.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B46C8-5933-E839-FD40-ABEFFDD0C256}"/>
              </a:ext>
            </a:extLst>
          </p:cNvPr>
          <p:cNvSpPr txBox="1"/>
          <p:nvPr/>
        </p:nvSpPr>
        <p:spPr>
          <a:xfrm>
            <a:off x="757382" y="4099836"/>
            <a:ext cx="10683769" cy="92333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Then, suppose the price of a notebook changes from 7.3 RMB to 5.7 RMB. Modify your program to calculate the new costs.</a:t>
            </a:r>
            <a:endParaRPr kumimoji="0" lang="en-CN" sz="24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051516996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291E6-1098-E664-4A5D-1EF7181F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try</a:t>
            </a:r>
            <a:r>
              <a:rPr lang="zh-CN" altLang="en-US" dirty="0"/>
              <a:t> </a:t>
            </a:r>
            <a:r>
              <a:rPr lang="en-US" altLang="zh-CN" dirty="0"/>
              <a:t>it!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E63A28-905F-75BA-0168-D89836BC1F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37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484A95-FFD8-8F51-C386-A937921A5CB9}"/>
              </a:ext>
            </a:extLst>
          </p:cNvPr>
          <p:cNvSpPr txBox="1"/>
          <p:nvPr/>
        </p:nvSpPr>
        <p:spPr>
          <a:xfrm>
            <a:off x="691377" y="945177"/>
            <a:ext cx="10406064" cy="122289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0" lang="en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Give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a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1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and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b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2.</a:t>
            </a:r>
            <a:b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</a:b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Write a Python program that swaps the values of two variables.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506872611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AC167-CE2D-1C57-41D1-EB415CB53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Input</a:t>
            </a:r>
            <a:r>
              <a:rPr lang="zh-CN" altLang="en-US" b="1" dirty="0"/>
              <a:t> </a:t>
            </a:r>
            <a:r>
              <a:rPr lang="en-US" altLang="zh-CN" b="1" dirty="0"/>
              <a:t>and</a:t>
            </a:r>
            <a:r>
              <a:rPr lang="zh-CN" altLang="en-US" b="1" dirty="0"/>
              <a:t> </a:t>
            </a:r>
            <a:r>
              <a:rPr lang="en-US" altLang="zh-CN" b="1" dirty="0"/>
              <a:t>Output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27198450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722C-6A1A-CDEB-B22F-2780034E4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626EBD-F314-7C74-D36D-A6AD6C0DA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39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3E538-7E42-3C07-E53B-B5DFEFC7A5EB}"/>
              </a:ext>
            </a:extLst>
          </p:cNvPr>
          <p:cNvSpPr txBox="1"/>
          <p:nvPr/>
        </p:nvSpPr>
        <p:spPr>
          <a:xfrm>
            <a:off x="268255" y="867119"/>
            <a:ext cx="11615359" cy="512961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Programs commonly need to read input typed by the user on keyboard.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03ED72-BC78-E43D-68B1-1CFE5EC098E7}"/>
              </a:ext>
            </a:extLst>
          </p:cNvPr>
          <p:cNvGrpSpPr/>
          <p:nvPr/>
        </p:nvGrpSpPr>
        <p:grpSpPr>
          <a:xfrm>
            <a:off x="265945" y="1755377"/>
            <a:ext cx="11753001" cy="2638493"/>
            <a:chOff x="785177" y="1269282"/>
            <a:chExt cx="4315668" cy="26384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0C7476-79CE-BB16-6B8B-8EE53818BDDC}"/>
                </a:ext>
              </a:extLst>
            </p:cNvPr>
            <p:cNvSpPr/>
            <p:nvPr/>
          </p:nvSpPr>
          <p:spPr>
            <a:xfrm>
              <a:off x="796901" y="1468574"/>
              <a:ext cx="4263687" cy="24392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solidFill>
                  <a:srgbClr val="5F2A89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FE8E82-94BC-DD92-93C6-8059CF077F0F}"/>
                </a:ext>
              </a:extLst>
            </p:cNvPr>
            <p:cNvSpPr txBox="1"/>
            <p:nvPr/>
          </p:nvSpPr>
          <p:spPr>
            <a:xfrm>
              <a:off x="785177" y="1269282"/>
              <a:ext cx="4274634" cy="517065"/>
            </a:xfrm>
            <a:prstGeom prst="rect">
              <a:avLst/>
            </a:prstGeom>
            <a:gradFill>
              <a:gsLst>
                <a:gs pos="78985">
                  <a:srgbClr val="B295DD">
                    <a:alpha val="69017"/>
                  </a:srgbClr>
                </a:gs>
                <a:gs pos="55000">
                  <a:srgbClr val="C0A8E6">
                    <a:alpha val="61783"/>
                  </a:srgbClr>
                </a:gs>
                <a:gs pos="28000">
                  <a:srgbClr val="DACAF5">
                    <a:alpha val="65880"/>
                  </a:srgbClr>
                </a:gs>
                <a:gs pos="100000">
                  <a:srgbClr val="A685D6">
                    <a:alpha val="52296"/>
                  </a:srgbClr>
                </a:gs>
              </a:gsLst>
              <a:lin ang="10800000" scaled="0"/>
            </a:gradFill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buClr>
                  <a:srgbClr val="4A297B"/>
                </a:buClr>
              </a:pPr>
              <a:r>
                <a:rPr lang="en-US" altLang="zh-CN" sz="2400" b="1" dirty="0">
                  <a:solidFill>
                    <a:srgbClr val="5F2A89"/>
                  </a:solidFill>
                  <a:latin typeface="Courier New" panose="02070309020205020404" pitchFamily="49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var</a:t>
              </a:r>
              <a:r>
                <a:rPr lang="zh-CN" altLang="en-US" sz="2400" b="1" dirty="0">
                  <a:solidFill>
                    <a:srgbClr val="5F2A89"/>
                  </a:solidFill>
                  <a:latin typeface="Courier New" panose="02070309020205020404" pitchFamily="49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400" b="1" dirty="0">
                  <a:solidFill>
                    <a:srgbClr val="5F2A89"/>
                  </a:solidFill>
                  <a:latin typeface="Courier New" panose="02070309020205020404" pitchFamily="49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=</a:t>
              </a:r>
              <a:r>
                <a:rPr lang="zh-CN" altLang="en-US" sz="2400" b="1" dirty="0">
                  <a:solidFill>
                    <a:srgbClr val="5F2A89"/>
                  </a:solidFill>
                  <a:latin typeface="Courier New" panose="02070309020205020404" pitchFamily="49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400" b="1" dirty="0">
                  <a:solidFill>
                    <a:srgbClr val="5F2A89"/>
                  </a:solidFill>
                  <a:latin typeface="Courier New" panose="02070309020205020404" pitchFamily="49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input(prompt)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E470C6-FCA9-6AC3-6786-5F465064B08D}"/>
                </a:ext>
              </a:extLst>
            </p:cNvPr>
            <p:cNvSpPr txBox="1"/>
            <p:nvPr/>
          </p:nvSpPr>
          <p:spPr>
            <a:xfrm>
              <a:off x="826211" y="1678988"/>
              <a:ext cx="4274634" cy="587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buClr>
                  <a:srgbClr val="4A297B"/>
                </a:buClr>
              </a:pPr>
              <a:endParaRPr lang="en-US" altLang="zh-CN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D1D6D00-5F13-B4E3-9730-3C9A4033D17D}"/>
              </a:ext>
            </a:extLst>
          </p:cNvPr>
          <p:cNvSpPr txBox="1"/>
          <p:nvPr/>
        </p:nvSpPr>
        <p:spPr>
          <a:xfrm>
            <a:off x="872902" y="2234677"/>
            <a:ext cx="10406063" cy="20415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prints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the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value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of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the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string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prompt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endParaRPr kumimoji="0" lang="en-US" altLang="zh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User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types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in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something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and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hits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enter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the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values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which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is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a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string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is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assigned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to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variable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var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C52F7-4B7D-FD42-C847-9D10A1F2E69A}"/>
              </a:ext>
            </a:extLst>
          </p:cNvPr>
          <p:cNvSpPr txBox="1"/>
          <p:nvPr/>
        </p:nvSpPr>
        <p:spPr>
          <a:xfrm>
            <a:off x="377694" y="4604284"/>
            <a:ext cx="6554679" cy="92333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&gt;&gt;&gt;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text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input('Type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anything: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')</a:t>
            </a:r>
          </a:p>
          <a:p>
            <a:pPr algn="l">
              <a:lnSpc>
                <a:spcPts val="3200"/>
              </a:lnSpc>
            </a:pP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&gt;&gt;&gt;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print(3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*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text)</a:t>
            </a:r>
            <a:endParaRPr kumimoji="0" lang="en-CN" sz="24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4" name="code-panel">
            <a:extLst>
              <a:ext uri="{FF2B5EF4-FFF2-40B4-BE49-F238E27FC236}">
                <a16:creationId xmlns:a16="http://schemas.microsoft.com/office/drawing/2014/main" id="{72831186-1004-A627-A317-9802E465A261}"/>
              </a:ext>
            </a:extLst>
          </p:cNvPr>
          <p:cNvSpPr>
            <a:spLocks noGrp="1"/>
          </p:cNvSpPr>
          <p:nvPr/>
        </p:nvSpPr>
        <p:spPr>
          <a:xfrm>
            <a:off x="8479714" y="4469409"/>
            <a:ext cx="3403900" cy="2203067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4288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7921E2-1F47-0172-CB8F-3F018AE64CBE}"/>
              </a:ext>
            </a:extLst>
          </p:cNvPr>
          <p:cNvSpPr txBox="1"/>
          <p:nvPr/>
        </p:nvSpPr>
        <p:spPr>
          <a:xfrm>
            <a:off x="8479714" y="4438865"/>
            <a:ext cx="945772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SHELL</a:t>
            </a:r>
            <a:endParaRPr kumimoji="0" lang="en-CN" sz="2000" b="1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Arial" panose="020B0604020202020204" pitchFamily="34" charset="0"/>
              <a:ea typeface="Helvetica Neue Light" panose="02000403000000020004" pitchFamily="2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C97BA8-AD4D-6019-0251-9BD4A1EE0C6E}"/>
              </a:ext>
            </a:extLst>
          </p:cNvPr>
          <p:cNvSpPr txBox="1"/>
          <p:nvPr/>
        </p:nvSpPr>
        <p:spPr>
          <a:xfrm>
            <a:off x="8562842" y="5015575"/>
            <a:ext cx="2872581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Type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Helvetica Neue Light" panose="02000403000000020004" pitchFamily="2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anything: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hi!</a:t>
            </a:r>
          </a:p>
          <a:p>
            <a:pPr algn="l">
              <a:lnSpc>
                <a:spcPts val="3200"/>
              </a:lnSpc>
            </a:pPr>
            <a:r>
              <a:rPr kumimoji="0" lang="en-US" altLang="zh-CN" sz="2000" u="none" strike="noStrike" cap="none" spc="0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hi!hi!hi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!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Helvetica Neue Light" panose="02000403000000020004" pitchFamily="2" charset="0"/>
                <a:cs typeface="Menlo" panose="020B0609030804020204" pitchFamily="49" charset="0"/>
                <a:sym typeface="Helvetica Light"/>
              </a:rPr>
              <a:t> 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2964E2-91C4-DE1C-C114-597069AD4C6D}"/>
              </a:ext>
            </a:extLst>
          </p:cNvPr>
          <p:cNvGrpSpPr/>
          <p:nvPr/>
        </p:nvGrpSpPr>
        <p:grpSpPr>
          <a:xfrm>
            <a:off x="5607246" y="5314461"/>
            <a:ext cx="2552090" cy="512961"/>
            <a:chOff x="4763110" y="5916843"/>
            <a:chExt cx="2552090" cy="51296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0FC075-70B0-AAEA-A4A8-C7413D576168}"/>
                </a:ext>
              </a:extLst>
            </p:cNvPr>
            <p:cNvSpPr/>
            <p:nvPr/>
          </p:nvSpPr>
          <p:spPr>
            <a:xfrm>
              <a:off x="6096000" y="5947860"/>
              <a:ext cx="1219200" cy="471924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400" dirty="0">
                  <a:solidFill>
                    <a:srgbClr val="FFFFFF"/>
                  </a:solidFill>
                </a:rPr>
                <a:t>"hi!"</a:t>
              </a:r>
              <a:endParaRPr kumimoji="0" lang="en-CN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BDCDF50-0A0A-C6BC-DBBA-9115C4D1F905}"/>
                </a:ext>
              </a:extLst>
            </p:cNvPr>
            <p:cNvSpPr txBox="1"/>
            <p:nvPr/>
          </p:nvSpPr>
          <p:spPr>
            <a:xfrm>
              <a:off x="4763110" y="5916843"/>
              <a:ext cx="1024504" cy="51296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>
                <a:lnSpc>
                  <a:spcPts val="3200"/>
                </a:lnSpc>
              </a:pPr>
              <a:r>
                <a:rPr kumimoji="0" lang="en-US" altLang="zh-CN" sz="240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Consolas" panose="020B0609020204030204" pitchFamily="49" charset="0"/>
                  <a:ea typeface="Helvetica Neue Light" panose="02000403000000020004" pitchFamily="2" charset="0"/>
                  <a:cs typeface="Consolas" panose="020B0609020204030204" pitchFamily="49" charset="0"/>
                  <a:sym typeface="Helvetica Light"/>
                </a:rPr>
                <a:t>text</a:t>
              </a:r>
              <a:endParaRPr kumimoji="0" lang="en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Helvetica Light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1970649-F103-0BD0-CCBF-C6AAD734487E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5647809" y="6183822"/>
              <a:ext cx="448191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304290A-BA5D-B19B-4AC7-C4D540741E2B}"/>
              </a:ext>
            </a:extLst>
          </p:cNvPr>
          <p:cNvSpPr txBox="1"/>
          <p:nvPr/>
        </p:nvSpPr>
        <p:spPr>
          <a:xfrm>
            <a:off x="5866410" y="6084943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13F72A-F4CD-C395-73FB-331853079CEA}"/>
              </a:ext>
            </a:extLst>
          </p:cNvPr>
          <p:cNvSpPr txBox="1"/>
          <p:nvPr/>
        </p:nvSpPr>
        <p:spPr>
          <a:xfrm>
            <a:off x="1356267" y="6092042"/>
            <a:ext cx="5830122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input()</a:t>
            </a:r>
            <a:r>
              <a:rPr lang="zh-CN" altLang="en-US" sz="28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/>
              </a:rPr>
              <a:t>always</a:t>
            </a:r>
            <a:r>
              <a:rPr kumimoji="0" lang="zh-CN" altLang="en-US" sz="2800" b="1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Helvetica Neue" panose="020005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rPr>
              <a:t> 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/>
              </a:rPr>
              <a:t>returns</a:t>
            </a:r>
            <a:r>
              <a:rPr kumimoji="0" lang="zh-CN" altLang="en-US" sz="2800" b="1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Helvetica Neue" panose="020005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rPr>
              <a:t> 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/>
              </a:rPr>
              <a:t>a</a:t>
            </a:r>
            <a:r>
              <a:rPr kumimoji="0" lang="zh-CN" altLang="en-US" sz="2800" b="1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Helvetica Neue" panose="020005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Helvetica Light"/>
              </a:rPr>
              <a:t> 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/>
              </a:rPr>
              <a:t>string!</a:t>
            </a:r>
            <a:endParaRPr kumimoji="0" lang="en-CN" sz="2800" b="1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000594523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DF9B0C-3728-B97D-41EA-A7F5875CA6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40</a:t>
            </a:fld>
            <a:endParaRPr lang="en-C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1A3329-FBDB-F869-4C55-3AA6B427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415" y="0"/>
            <a:ext cx="10406063" cy="789060"/>
          </a:xfrm>
        </p:spPr>
        <p:txBody>
          <a:bodyPr/>
          <a:lstStyle/>
          <a:p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A4E4A-1707-237D-7A0B-A2FB4A7B92FC}"/>
              </a:ext>
            </a:extLst>
          </p:cNvPr>
          <p:cNvSpPr txBox="1"/>
          <p:nvPr/>
        </p:nvSpPr>
        <p:spPr>
          <a:xfrm>
            <a:off x="1028276" y="907814"/>
            <a:ext cx="9517013" cy="923330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Since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input()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always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returns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string,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b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</a:b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h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ow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can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we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read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a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number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from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users?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DC6F6D-E71A-F183-3A9A-566170222F71}"/>
              </a:ext>
            </a:extLst>
          </p:cNvPr>
          <p:cNvSpPr txBox="1"/>
          <p:nvPr/>
        </p:nvSpPr>
        <p:spPr>
          <a:xfrm>
            <a:off x="1394002" y="2231115"/>
            <a:ext cx="8787662" cy="512961"/>
          </a:xfrm>
          <a:prstGeom prst="rect">
            <a:avLst/>
          </a:prstGeom>
          <a:solidFill>
            <a:srgbClr val="FFFFFF"/>
          </a:solidFill>
          <a:ln w="31750" cap="flat">
            <a:solidFill>
              <a:srgbClr val="5F2A89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Use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conversion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built-in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functions: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  <a:sym typeface="Helvetica Light"/>
              </a:rPr>
              <a:t>int()</a:t>
            </a:r>
            <a:r>
              <a:rPr lang="en-US" altLang="zh-CN" sz="2800" dirty="0">
                <a:solidFill>
                  <a:srgbClr val="5F2A8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2800" dirty="0">
                <a:solidFill>
                  <a:srgbClr val="5F2A89"/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float()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Helvetica Light"/>
              </a:rPr>
              <a:t> 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  <a:sym typeface="Helvetica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BC9A86-9962-7542-332F-8C4BA22BFFE1}"/>
              </a:ext>
            </a:extLst>
          </p:cNvPr>
          <p:cNvSpPr txBox="1"/>
          <p:nvPr/>
        </p:nvSpPr>
        <p:spPr>
          <a:xfrm>
            <a:off x="383137" y="3392191"/>
            <a:ext cx="6923370" cy="2154436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num1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input("Enter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number: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")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print(3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num1)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num2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int(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input("Enter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number: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")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print(3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num2)</a:t>
            </a:r>
          </a:p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7" name="code-panel">
            <a:extLst>
              <a:ext uri="{FF2B5EF4-FFF2-40B4-BE49-F238E27FC236}">
                <a16:creationId xmlns:a16="http://schemas.microsoft.com/office/drawing/2014/main" id="{9F40A75B-35C7-B93C-5292-3519A21FA3C2}"/>
              </a:ext>
            </a:extLst>
          </p:cNvPr>
          <p:cNvSpPr>
            <a:spLocks noGrp="1"/>
          </p:cNvSpPr>
          <p:nvPr/>
        </p:nvSpPr>
        <p:spPr>
          <a:xfrm>
            <a:off x="8479714" y="4469409"/>
            <a:ext cx="3403900" cy="2203067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4288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ABC295-FFB1-C6D8-1EF2-B6198887816D}"/>
              </a:ext>
            </a:extLst>
          </p:cNvPr>
          <p:cNvSpPr txBox="1"/>
          <p:nvPr/>
        </p:nvSpPr>
        <p:spPr>
          <a:xfrm>
            <a:off x="8479714" y="4438865"/>
            <a:ext cx="945772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SHELL</a:t>
            </a:r>
            <a:endParaRPr kumimoji="0" lang="en-CN" sz="2000" b="1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Arial" panose="020B0604020202020204" pitchFamily="34" charset="0"/>
              <a:ea typeface="Helvetica Neue Light" panose="02000403000000020004" pitchFamily="2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86BC36-FDDB-5033-BC1B-6C3948E5BDF9}"/>
              </a:ext>
            </a:extLst>
          </p:cNvPr>
          <p:cNvSpPr txBox="1"/>
          <p:nvPr/>
        </p:nvSpPr>
        <p:spPr>
          <a:xfrm>
            <a:off x="8520293" y="4869380"/>
            <a:ext cx="2410916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Enter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a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number: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6F2727-ECCD-D57F-518A-957DCE9F5C35}"/>
              </a:ext>
            </a:extLst>
          </p:cNvPr>
          <p:cNvSpPr txBox="1"/>
          <p:nvPr/>
        </p:nvSpPr>
        <p:spPr>
          <a:xfrm>
            <a:off x="7172696" y="2902356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7D3ECF-F5D0-416D-53D3-2B358E1DADDA}"/>
              </a:ext>
            </a:extLst>
          </p:cNvPr>
          <p:cNvSpPr txBox="1"/>
          <p:nvPr/>
        </p:nvSpPr>
        <p:spPr>
          <a:xfrm>
            <a:off x="10307782" y="2985484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4BFB8B-5E2C-CCD9-F154-4265BEA58573}"/>
              </a:ext>
            </a:extLst>
          </p:cNvPr>
          <p:cNvSpPr txBox="1"/>
          <p:nvPr/>
        </p:nvSpPr>
        <p:spPr>
          <a:xfrm>
            <a:off x="510639" y="5740559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F65F24-080E-F5E0-DA7A-AD6A615624B7}"/>
              </a:ext>
            </a:extLst>
          </p:cNvPr>
          <p:cNvSpPr/>
          <p:nvPr/>
        </p:nvSpPr>
        <p:spPr>
          <a:xfrm>
            <a:off x="296883" y="3415317"/>
            <a:ext cx="6875813" cy="539166"/>
          </a:xfrm>
          <a:prstGeom prst="rect">
            <a:avLst/>
          </a:prstGeom>
          <a:noFill/>
          <a:ln w="22225" cap="flat">
            <a:solidFill>
              <a:srgbClr val="C0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3168E7C-F683-45BD-89B0-984AAA90737A}"/>
              </a:ext>
            </a:extLst>
          </p:cNvPr>
          <p:cNvGrpSpPr/>
          <p:nvPr/>
        </p:nvGrpSpPr>
        <p:grpSpPr>
          <a:xfrm>
            <a:off x="1940227" y="2811653"/>
            <a:ext cx="9732933" cy="2570431"/>
            <a:chOff x="1940227" y="2811653"/>
            <a:chExt cx="9732933" cy="25704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3F802D-F0A5-4EE2-D73F-78A5B09E6EEA}"/>
                </a:ext>
              </a:extLst>
            </p:cNvPr>
            <p:cNvSpPr txBox="1"/>
            <p:nvPr/>
          </p:nvSpPr>
          <p:spPr>
            <a:xfrm>
              <a:off x="7985171" y="3392191"/>
              <a:ext cx="535122" cy="512961"/>
            </a:xfrm>
            <a:prstGeom prst="rect">
              <a:avLst/>
            </a:prstGeom>
            <a:solidFill>
              <a:srgbClr val="F3EC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>
                <a:lnSpc>
                  <a:spcPts val="3200"/>
                </a:lnSpc>
              </a:pPr>
              <a:r>
                <a:rPr lang="en-US" altLang="zh-CN" sz="2800" dirty="0">
                  <a:solidFill>
                    <a:srgbClr val="5F2A89"/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12</a:t>
              </a:r>
              <a:endParaRPr kumimoji="0" lang="en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DC1C784-2D33-A01F-46D6-13EBB3B217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24024" y="3629396"/>
              <a:ext cx="73036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1810589-A3DC-AF54-4002-3383A92250C9}"/>
                </a:ext>
              </a:extLst>
            </p:cNvPr>
            <p:cNvSpPr txBox="1"/>
            <p:nvPr/>
          </p:nvSpPr>
          <p:spPr>
            <a:xfrm>
              <a:off x="11079432" y="4869123"/>
              <a:ext cx="593728" cy="5129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altLang="zh-CN" sz="2000" dirty="0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12</a:t>
              </a:r>
              <a:endParaRPr kumimoji="0" lang="en-CN" sz="200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C0465A5-CA92-80E3-D83D-FCD11585C2A2}"/>
                </a:ext>
              </a:extLst>
            </p:cNvPr>
            <p:cNvSpPr txBox="1"/>
            <p:nvPr/>
          </p:nvSpPr>
          <p:spPr>
            <a:xfrm>
              <a:off x="1940227" y="2811653"/>
              <a:ext cx="3589124" cy="51296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kumimoji="0" lang="en-US" altLang="zh-CN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#</a:t>
              </a:r>
              <a:r>
                <a:rPr kumimoji="0" lang="zh-CN" altLang="en-US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return</a:t>
              </a:r>
              <a:r>
                <a:rPr kumimoji="0" lang="zh-CN" altLang="en-US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the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string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'12'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to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num1</a:t>
              </a:r>
              <a:endParaRPr kumimoji="0" lang="en-CN" sz="2000" u="none" strike="noStrike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AFA3D1C-F955-BF7C-BE81-838BCB87D686}"/>
              </a:ext>
            </a:extLst>
          </p:cNvPr>
          <p:cNvGrpSpPr/>
          <p:nvPr/>
        </p:nvGrpSpPr>
        <p:grpSpPr>
          <a:xfrm>
            <a:off x="2267242" y="5284519"/>
            <a:ext cx="2874774" cy="1573481"/>
            <a:chOff x="2267242" y="5284519"/>
            <a:chExt cx="2874774" cy="1573481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886AEBA-7984-7A9F-F22E-23366F392EAA}"/>
                </a:ext>
              </a:extLst>
            </p:cNvPr>
            <p:cNvGrpSpPr/>
            <p:nvPr/>
          </p:nvGrpSpPr>
          <p:grpSpPr>
            <a:xfrm>
              <a:off x="2267242" y="5338756"/>
              <a:ext cx="2552090" cy="512961"/>
              <a:chOff x="4763110" y="5916843"/>
              <a:chExt cx="2552090" cy="512961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B8E5AE1-012F-76B8-B0E7-CE3B91DC14CE}"/>
                  </a:ext>
                </a:extLst>
              </p:cNvPr>
              <p:cNvSpPr/>
              <p:nvPr/>
            </p:nvSpPr>
            <p:spPr>
              <a:xfrm>
                <a:off x="6096000" y="5947860"/>
                <a:ext cx="1219200" cy="471924"/>
              </a:xfrm>
              <a:prstGeom prst="rect">
                <a:avLst/>
              </a:prstGeom>
              <a:blipFill rotWithShape="1">
                <a:blip r:embed="rId2"/>
                <a:srcRect/>
                <a:tile tx="0" ty="0" sx="100000" sy="100000" flip="none" algn="tl"/>
              </a:blip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400" dirty="0">
                    <a:solidFill>
                      <a:srgbClr val="FFFFFF"/>
                    </a:solidFill>
                  </a:rPr>
                  <a:t>"12"</a:t>
                </a:r>
                <a:endParaRPr kumimoji="0" lang="en-CN" sz="24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0DC4120-3DEE-6E48-8F29-F3F179588C6E}"/>
                  </a:ext>
                </a:extLst>
              </p:cNvPr>
              <p:cNvSpPr txBox="1"/>
              <p:nvPr/>
            </p:nvSpPr>
            <p:spPr>
              <a:xfrm>
                <a:off x="4763110" y="5916843"/>
                <a:ext cx="1024504" cy="512961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>
                  <a:lnSpc>
                    <a:spcPts val="3200"/>
                  </a:lnSpc>
                </a:pPr>
                <a:r>
                  <a:rPr kumimoji="0" lang="en-US" altLang="zh-CN" sz="2400" u="none" strike="noStrike" cap="none" spc="0" normalizeH="0" baseline="0" dirty="0">
                    <a:ln>
                      <a:noFill/>
                    </a:ln>
                    <a:solidFill>
                      <a:srgbClr val="5F2A89"/>
                    </a:solidFill>
                    <a:effectLst/>
                    <a:uFillTx/>
                    <a:latin typeface="Consolas" panose="020B0609020204030204" pitchFamily="49" charset="0"/>
                    <a:ea typeface="Helvetica Neue Light" panose="02000403000000020004" pitchFamily="2" charset="0"/>
                    <a:cs typeface="Consolas" panose="020B0609020204030204" pitchFamily="49" charset="0"/>
                    <a:sym typeface="Helvetica Light"/>
                  </a:rPr>
                  <a:t>num1</a:t>
                </a:r>
                <a:endParaRPr kumimoji="0" lang="en-CN" sz="240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Consolas" panose="020B0609020204030204" pitchFamily="49" charset="0"/>
                  <a:ea typeface="Helvetica Neue Light" panose="02000403000000020004" pitchFamily="2" charset="0"/>
                  <a:cs typeface="Consolas" panose="020B0609020204030204" pitchFamily="49" charset="0"/>
                  <a:sym typeface="Helvetica Light"/>
                </a:endParaRP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C52E42A3-4400-D96E-29A5-C2E9E0A08782}"/>
                  </a:ext>
                </a:extLst>
              </p:cNvPr>
              <p:cNvCxnSpPr>
                <a:cxnSpLocks/>
                <a:endCxn id="34" idx="1"/>
              </p:cNvCxnSpPr>
              <p:nvPr/>
            </p:nvCxnSpPr>
            <p:spPr>
              <a:xfrm>
                <a:off x="5647809" y="6183822"/>
                <a:ext cx="448191" cy="0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7EF0BC7-436D-AE75-6CFE-1BB3FCCA05C5}"/>
                </a:ext>
              </a:extLst>
            </p:cNvPr>
            <p:cNvSpPr/>
            <p:nvPr/>
          </p:nvSpPr>
          <p:spPr>
            <a:xfrm>
              <a:off x="3408218" y="5284519"/>
              <a:ext cx="1733798" cy="1573481"/>
            </a:xfrm>
            <a:prstGeom prst="rect">
              <a:avLst/>
            </a:prstGeom>
            <a:noFill/>
            <a:ln w="22225" cap="flat">
              <a:solidFill>
                <a:schemeClr val="tx1"/>
              </a:solidFill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N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94445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DF9B0C-3728-B97D-41EA-A7F5875CA6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41</a:t>
            </a:fld>
            <a:endParaRPr lang="en-C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1A3329-FBDB-F869-4C55-3AA6B427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415" y="0"/>
            <a:ext cx="10406063" cy="789060"/>
          </a:xfrm>
        </p:spPr>
        <p:txBody>
          <a:bodyPr/>
          <a:lstStyle/>
          <a:p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A4E4A-1707-237D-7A0B-A2FB4A7B92FC}"/>
              </a:ext>
            </a:extLst>
          </p:cNvPr>
          <p:cNvSpPr txBox="1"/>
          <p:nvPr/>
        </p:nvSpPr>
        <p:spPr>
          <a:xfrm>
            <a:off x="1028276" y="907814"/>
            <a:ext cx="9517013" cy="923330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Since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input()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always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returns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string,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b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</a:b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h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ow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can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we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read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a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number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from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users?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DC6F6D-E71A-F183-3A9A-566170222F71}"/>
              </a:ext>
            </a:extLst>
          </p:cNvPr>
          <p:cNvSpPr txBox="1"/>
          <p:nvPr/>
        </p:nvSpPr>
        <p:spPr>
          <a:xfrm>
            <a:off x="1394002" y="2231115"/>
            <a:ext cx="8787662" cy="512961"/>
          </a:xfrm>
          <a:prstGeom prst="rect">
            <a:avLst/>
          </a:prstGeom>
          <a:solidFill>
            <a:srgbClr val="FFFFFF"/>
          </a:solidFill>
          <a:ln w="31750" cap="flat">
            <a:solidFill>
              <a:srgbClr val="5F2A89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Use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conversion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built-in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functions: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  <a:sym typeface="Helvetica Light"/>
              </a:rPr>
              <a:t>int()</a:t>
            </a:r>
            <a:r>
              <a:rPr lang="en-US" altLang="zh-CN" sz="2800" dirty="0">
                <a:solidFill>
                  <a:srgbClr val="5F2A8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2800" dirty="0">
                <a:solidFill>
                  <a:srgbClr val="5F2A89"/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float()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Helvetica Light"/>
              </a:rPr>
              <a:t> 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  <a:sym typeface="Helvetica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BC9A86-9962-7542-332F-8C4BA22BFFE1}"/>
              </a:ext>
            </a:extLst>
          </p:cNvPr>
          <p:cNvSpPr txBox="1"/>
          <p:nvPr/>
        </p:nvSpPr>
        <p:spPr>
          <a:xfrm>
            <a:off x="383137" y="3392191"/>
            <a:ext cx="6923370" cy="2154436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num1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input("Enter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number: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")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print(3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num1)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num2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int(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input("Enter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number: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")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print(3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num2)</a:t>
            </a:r>
          </a:p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7" name="code-panel">
            <a:extLst>
              <a:ext uri="{FF2B5EF4-FFF2-40B4-BE49-F238E27FC236}">
                <a16:creationId xmlns:a16="http://schemas.microsoft.com/office/drawing/2014/main" id="{9F40A75B-35C7-B93C-5292-3519A21FA3C2}"/>
              </a:ext>
            </a:extLst>
          </p:cNvPr>
          <p:cNvSpPr>
            <a:spLocks noGrp="1"/>
          </p:cNvSpPr>
          <p:nvPr/>
        </p:nvSpPr>
        <p:spPr>
          <a:xfrm>
            <a:off x="8479714" y="4469409"/>
            <a:ext cx="3403900" cy="2203067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4288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ABC295-FFB1-C6D8-1EF2-B6198887816D}"/>
              </a:ext>
            </a:extLst>
          </p:cNvPr>
          <p:cNvSpPr txBox="1"/>
          <p:nvPr/>
        </p:nvSpPr>
        <p:spPr>
          <a:xfrm>
            <a:off x="8479714" y="4438865"/>
            <a:ext cx="945772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SHELL</a:t>
            </a:r>
            <a:endParaRPr kumimoji="0" lang="en-CN" sz="2000" b="1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Arial" panose="020B0604020202020204" pitchFamily="34" charset="0"/>
              <a:ea typeface="Helvetica Neue Light" panose="02000403000000020004" pitchFamily="2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86BC36-FDDB-5033-BC1B-6C3948E5BDF9}"/>
              </a:ext>
            </a:extLst>
          </p:cNvPr>
          <p:cNvSpPr txBox="1"/>
          <p:nvPr/>
        </p:nvSpPr>
        <p:spPr>
          <a:xfrm>
            <a:off x="8520293" y="4869380"/>
            <a:ext cx="2410916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Enter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a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number: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6F2727-ECCD-D57F-518A-957DCE9F5C35}"/>
              </a:ext>
            </a:extLst>
          </p:cNvPr>
          <p:cNvSpPr txBox="1"/>
          <p:nvPr/>
        </p:nvSpPr>
        <p:spPr>
          <a:xfrm>
            <a:off x="7172696" y="2902356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7D3ECF-F5D0-416D-53D3-2B358E1DADDA}"/>
              </a:ext>
            </a:extLst>
          </p:cNvPr>
          <p:cNvSpPr txBox="1"/>
          <p:nvPr/>
        </p:nvSpPr>
        <p:spPr>
          <a:xfrm>
            <a:off x="10307782" y="2985484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810589-A3DC-AF54-4002-3383A92250C9}"/>
              </a:ext>
            </a:extLst>
          </p:cNvPr>
          <p:cNvSpPr txBox="1"/>
          <p:nvPr/>
        </p:nvSpPr>
        <p:spPr>
          <a:xfrm>
            <a:off x="11079432" y="4869123"/>
            <a:ext cx="593728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12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CBBD233-CF3F-7CF4-1254-7B1FCC62F739}"/>
              </a:ext>
            </a:extLst>
          </p:cNvPr>
          <p:cNvGrpSpPr/>
          <p:nvPr/>
        </p:nvGrpSpPr>
        <p:grpSpPr>
          <a:xfrm>
            <a:off x="296883" y="3819076"/>
            <a:ext cx="9261208" cy="1887119"/>
            <a:chOff x="296883" y="3819076"/>
            <a:chExt cx="9261208" cy="188711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2F65F24-080E-F5E0-DA7A-AD6A615624B7}"/>
                </a:ext>
              </a:extLst>
            </p:cNvPr>
            <p:cNvSpPr/>
            <p:nvPr/>
          </p:nvSpPr>
          <p:spPr>
            <a:xfrm>
              <a:off x="296883" y="3819076"/>
              <a:ext cx="2933205" cy="539166"/>
            </a:xfrm>
            <a:prstGeom prst="rect">
              <a:avLst/>
            </a:prstGeom>
            <a:noFill/>
            <a:ln w="22225" cap="flat">
              <a:solidFill>
                <a:srgbClr val="C00000"/>
              </a:solidFill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N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B2F7BE6-9332-F759-A75A-8AA889B8F71F}"/>
                </a:ext>
              </a:extLst>
            </p:cNvPr>
            <p:cNvSpPr txBox="1"/>
            <p:nvPr/>
          </p:nvSpPr>
          <p:spPr>
            <a:xfrm>
              <a:off x="8532169" y="5193234"/>
              <a:ext cx="1025922" cy="5129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altLang="zh-CN" sz="2000" dirty="0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121212</a:t>
              </a:r>
              <a:endParaRPr kumimoji="0" lang="en-CN" sz="200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EDB3F2-512E-4965-8D19-F1B88BB58249}"/>
                </a:ext>
              </a:extLst>
            </p:cNvPr>
            <p:cNvSpPr txBox="1"/>
            <p:nvPr/>
          </p:nvSpPr>
          <p:spPr>
            <a:xfrm>
              <a:off x="3423459" y="3819076"/>
              <a:ext cx="2239396" cy="51296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kumimoji="0" lang="en-US" altLang="zh-CN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#</a:t>
              </a:r>
              <a:r>
                <a:rPr kumimoji="0" lang="zh-CN" altLang="en-US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string</a:t>
              </a:r>
              <a:r>
                <a:rPr kumimoji="0" lang="zh-CN" altLang="en-US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2000" u="none" strike="noStrike" cap="none" spc="0" normalizeH="0" baseline="0" dirty="0" err="1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repeatition</a:t>
              </a:r>
              <a:endParaRPr kumimoji="0" lang="en-CN" sz="2000" u="none" strike="noStrike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7839209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DF9B0C-3728-B97D-41EA-A7F5875CA6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42</a:t>
            </a:fld>
            <a:endParaRPr lang="en-C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1A3329-FBDB-F869-4C55-3AA6B427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415" y="0"/>
            <a:ext cx="10406063" cy="789060"/>
          </a:xfrm>
        </p:spPr>
        <p:txBody>
          <a:bodyPr/>
          <a:lstStyle/>
          <a:p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A4E4A-1707-237D-7A0B-A2FB4A7B92FC}"/>
              </a:ext>
            </a:extLst>
          </p:cNvPr>
          <p:cNvSpPr txBox="1"/>
          <p:nvPr/>
        </p:nvSpPr>
        <p:spPr>
          <a:xfrm>
            <a:off x="1028276" y="907814"/>
            <a:ext cx="9517013" cy="923330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Since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input()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always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returns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string,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b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</a:b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h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ow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can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we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read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a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number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from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users?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DC6F6D-E71A-F183-3A9A-566170222F71}"/>
              </a:ext>
            </a:extLst>
          </p:cNvPr>
          <p:cNvSpPr txBox="1"/>
          <p:nvPr/>
        </p:nvSpPr>
        <p:spPr>
          <a:xfrm>
            <a:off x="1394002" y="2231115"/>
            <a:ext cx="8787662" cy="512961"/>
          </a:xfrm>
          <a:prstGeom prst="rect">
            <a:avLst/>
          </a:prstGeom>
          <a:solidFill>
            <a:srgbClr val="FFFFFF"/>
          </a:solidFill>
          <a:ln w="31750" cap="flat">
            <a:solidFill>
              <a:srgbClr val="5F2A89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Use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conversion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built-in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functions: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  <a:sym typeface="Helvetica Light"/>
              </a:rPr>
              <a:t>int()</a:t>
            </a:r>
            <a:r>
              <a:rPr lang="en-US" altLang="zh-CN" sz="2800" dirty="0">
                <a:solidFill>
                  <a:srgbClr val="5F2A8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2800" dirty="0">
                <a:solidFill>
                  <a:srgbClr val="5F2A89"/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float()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Helvetica Light"/>
              </a:rPr>
              <a:t> 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  <a:sym typeface="Helvetica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BC9A86-9962-7542-332F-8C4BA22BFFE1}"/>
              </a:ext>
            </a:extLst>
          </p:cNvPr>
          <p:cNvSpPr txBox="1"/>
          <p:nvPr/>
        </p:nvSpPr>
        <p:spPr>
          <a:xfrm>
            <a:off x="383137" y="3392191"/>
            <a:ext cx="6923370" cy="2154436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num1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input("Enter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number: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")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print(3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num1)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num2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int(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input("Enter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number: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")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print(3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num2)</a:t>
            </a:r>
          </a:p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6F2727-ECCD-D57F-518A-957DCE9F5C35}"/>
              </a:ext>
            </a:extLst>
          </p:cNvPr>
          <p:cNvSpPr txBox="1"/>
          <p:nvPr/>
        </p:nvSpPr>
        <p:spPr>
          <a:xfrm>
            <a:off x="7172696" y="2902356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7D3ECF-F5D0-416D-53D3-2B358E1DADDA}"/>
              </a:ext>
            </a:extLst>
          </p:cNvPr>
          <p:cNvSpPr txBox="1"/>
          <p:nvPr/>
        </p:nvSpPr>
        <p:spPr>
          <a:xfrm>
            <a:off x="10307782" y="2985484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2" name="code-panel">
            <a:extLst>
              <a:ext uri="{FF2B5EF4-FFF2-40B4-BE49-F238E27FC236}">
                <a16:creationId xmlns:a16="http://schemas.microsoft.com/office/drawing/2014/main" id="{C5FEA40B-C999-AAFA-3D0B-A841C9CC3358}"/>
              </a:ext>
            </a:extLst>
          </p:cNvPr>
          <p:cNvSpPr>
            <a:spLocks noGrp="1"/>
          </p:cNvSpPr>
          <p:nvPr/>
        </p:nvSpPr>
        <p:spPr>
          <a:xfrm>
            <a:off x="8479714" y="4469409"/>
            <a:ext cx="3403900" cy="2203067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4288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721C2-8FAD-13FB-5A28-DDEA866E4BAD}"/>
              </a:ext>
            </a:extLst>
          </p:cNvPr>
          <p:cNvSpPr txBox="1"/>
          <p:nvPr/>
        </p:nvSpPr>
        <p:spPr>
          <a:xfrm>
            <a:off x="8479714" y="4438865"/>
            <a:ext cx="945772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SHELL</a:t>
            </a:r>
            <a:endParaRPr kumimoji="0" lang="en-CN" sz="2000" b="1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Arial" panose="020B0604020202020204" pitchFamily="34" charset="0"/>
              <a:ea typeface="Helvetica Neue Light" panose="02000403000000020004" pitchFamily="2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5B481-EE12-C734-2D60-9E4C230795EB}"/>
              </a:ext>
            </a:extLst>
          </p:cNvPr>
          <p:cNvSpPr txBox="1"/>
          <p:nvPr/>
        </p:nvSpPr>
        <p:spPr>
          <a:xfrm>
            <a:off x="8520293" y="4869380"/>
            <a:ext cx="2410916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Enter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a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number: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7513A-6C6A-3283-AAC0-165B7FD308CB}"/>
              </a:ext>
            </a:extLst>
          </p:cNvPr>
          <p:cNvSpPr txBox="1"/>
          <p:nvPr/>
        </p:nvSpPr>
        <p:spPr>
          <a:xfrm>
            <a:off x="11079432" y="4869123"/>
            <a:ext cx="593728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12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47C76-1FF3-BD0D-C796-83D476FE71C1}"/>
              </a:ext>
            </a:extLst>
          </p:cNvPr>
          <p:cNvSpPr txBox="1"/>
          <p:nvPr/>
        </p:nvSpPr>
        <p:spPr>
          <a:xfrm>
            <a:off x="8532169" y="5193234"/>
            <a:ext cx="1025922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altLang="zh-CN" sz="20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121212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7EDB7F-E252-2331-9048-FA137CAE80AA}"/>
              </a:ext>
            </a:extLst>
          </p:cNvPr>
          <p:cNvSpPr txBox="1"/>
          <p:nvPr/>
        </p:nvSpPr>
        <p:spPr>
          <a:xfrm>
            <a:off x="8532169" y="5525317"/>
            <a:ext cx="2410916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Enter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a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number: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AA40DF-BD96-2ADB-8377-E85623D3D0EC}"/>
              </a:ext>
            </a:extLst>
          </p:cNvPr>
          <p:cNvGrpSpPr/>
          <p:nvPr/>
        </p:nvGrpSpPr>
        <p:grpSpPr>
          <a:xfrm>
            <a:off x="296883" y="4212928"/>
            <a:ext cx="11388153" cy="1825093"/>
            <a:chOff x="296883" y="4212928"/>
            <a:chExt cx="11388153" cy="182509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2F65F24-080E-F5E0-DA7A-AD6A615624B7}"/>
                </a:ext>
              </a:extLst>
            </p:cNvPr>
            <p:cNvSpPr/>
            <p:nvPr/>
          </p:nvSpPr>
          <p:spPr>
            <a:xfrm>
              <a:off x="296883" y="4246588"/>
              <a:ext cx="6875813" cy="539166"/>
            </a:xfrm>
            <a:prstGeom prst="rect">
              <a:avLst/>
            </a:prstGeom>
            <a:noFill/>
            <a:ln w="22225" cap="flat">
              <a:solidFill>
                <a:srgbClr val="C00000"/>
              </a:solidFill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N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3F802D-F0A5-4EE2-D73F-78A5B09E6EEA}"/>
                </a:ext>
              </a:extLst>
            </p:cNvPr>
            <p:cNvSpPr txBox="1"/>
            <p:nvPr/>
          </p:nvSpPr>
          <p:spPr>
            <a:xfrm>
              <a:off x="7903767" y="4212928"/>
              <a:ext cx="535122" cy="512961"/>
            </a:xfrm>
            <a:prstGeom prst="rect">
              <a:avLst/>
            </a:prstGeom>
            <a:solidFill>
              <a:srgbClr val="F3EC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>
                <a:lnSpc>
                  <a:spcPts val="3200"/>
                </a:lnSpc>
              </a:pPr>
              <a:r>
                <a:rPr lang="en-US" altLang="zh-CN" sz="2800" dirty="0">
                  <a:solidFill>
                    <a:srgbClr val="5F2A89"/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12</a:t>
              </a:r>
              <a:endParaRPr kumimoji="0" lang="en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DC1C784-2D33-A01F-46D6-13EBB3B217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6000" y="4460667"/>
              <a:ext cx="73036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11495A-07CB-77EB-9070-16E09DB12EA0}"/>
                </a:ext>
              </a:extLst>
            </p:cNvPr>
            <p:cNvSpPr txBox="1"/>
            <p:nvPr/>
          </p:nvSpPr>
          <p:spPr>
            <a:xfrm>
              <a:off x="11091308" y="5525060"/>
              <a:ext cx="593728" cy="5129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kumimoji="0" lang="en-US" altLang="zh-CN" sz="200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  <a:sym typeface="Helvetica Light"/>
                </a:rPr>
                <a:t>12</a:t>
              </a:r>
              <a:endParaRPr kumimoji="0" lang="en-CN" sz="200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A86F0C9-8B4E-36FC-8FE9-FF8516003DF2}"/>
                </a:ext>
              </a:extLst>
            </p:cNvPr>
            <p:cNvSpPr txBox="1"/>
            <p:nvPr/>
          </p:nvSpPr>
          <p:spPr>
            <a:xfrm>
              <a:off x="2674615" y="4732968"/>
              <a:ext cx="5839740" cy="5129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kumimoji="0" lang="en-US" altLang="zh-CN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#</a:t>
              </a:r>
              <a:r>
                <a:rPr kumimoji="0" lang="zh-CN" altLang="en-US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the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string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'12'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is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converted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to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integer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12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to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</a:rPr>
                <a:t>num2</a:t>
              </a:r>
              <a:endParaRPr kumimoji="0" lang="en-CN" sz="2000" u="none" strike="noStrike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9F6B081-205D-283E-0AEE-258A7B1803B3}"/>
              </a:ext>
            </a:extLst>
          </p:cNvPr>
          <p:cNvGrpSpPr/>
          <p:nvPr/>
        </p:nvGrpSpPr>
        <p:grpSpPr>
          <a:xfrm>
            <a:off x="2267242" y="5338756"/>
            <a:ext cx="2552090" cy="512961"/>
            <a:chOff x="4763110" y="5916843"/>
            <a:chExt cx="2552090" cy="51296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678FDEF-842B-2652-067C-BCFB69D9A017}"/>
                </a:ext>
              </a:extLst>
            </p:cNvPr>
            <p:cNvSpPr/>
            <p:nvPr/>
          </p:nvSpPr>
          <p:spPr>
            <a:xfrm>
              <a:off x="6096000" y="5947860"/>
              <a:ext cx="1219200" cy="471924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400" dirty="0">
                  <a:solidFill>
                    <a:srgbClr val="FFFFFF"/>
                  </a:solidFill>
                </a:rPr>
                <a:t>"12"</a:t>
              </a:r>
              <a:endParaRPr kumimoji="0" lang="en-CN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C25D3A7-98E6-DA88-18DD-B4DD0E303CB7}"/>
                </a:ext>
              </a:extLst>
            </p:cNvPr>
            <p:cNvSpPr txBox="1"/>
            <p:nvPr/>
          </p:nvSpPr>
          <p:spPr>
            <a:xfrm>
              <a:off x="4763110" y="5916843"/>
              <a:ext cx="1024504" cy="51296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>
                <a:lnSpc>
                  <a:spcPts val="3200"/>
                </a:lnSpc>
              </a:pPr>
              <a:r>
                <a:rPr kumimoji="0" lang="en-US" altLang="zh-CN" sz="240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Consolas" panose="020B0609020204030204" pitchFamily="49" charset="0"/>
                  <a:ea typeface="Helvetica Neue Light" panose="02000403000000020004" pitchFamily="2" charset="0"/>
                  <a:cs typeface="Consolas" panose="020B0609020204030204" pitchFamily="49" charset="0"/>
                  <a:sym typeface="Helvetica Light"/>
                </a:rPr>
                <a:t>num1</a:t>
              </a:r>
              <a:endParaRPr kumimoji="0" lang="en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Helvetica Light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105B954-CE5A-635C-CE36-314EFEE222BE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5647809" y="6183822"/>
              <a:ext cx="448191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4FF91AB4-BE21-58BE-1E90-C56E061E7C52}"/>
              </a:ext>
            </a:extLst>
          </p:cNvPr>
          <p:cNvSpPr/>
          <p:nvPr/>
        </p:nvSpPr>
        <p:spPr>
          <a:xfrm>
            <a:off x="3408218" y="5284519"/>
            <a:ext cx="1733798" cy="1573481"/>
          </a:xfrm>
          <a:prstGeom prst="rect">
            <a:avLst/>
          </a:prstGeom>
          <a:noFill/>
          <a:ln w="22225" cap="flat">
            <a:solidFill>
              <a:schemeClr val="tx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9B9353D-6625-CBC5-3B7B-141A2744FBFA}"/>
              </a:ext>
            </a:extLst>
          </p:cNvPr>
          <p:cNvGrpSpPr/>
          <p:nvPr/>
        </p:nvGrpSpPr>
        <p:grpSpPr>
          <a:xfrm>
            <a:off x="2239997" y="6003420"/>
            <a:ext cx="2552090" cy="512961"/>
            <a:chOff x="4763110" y="5916843"/>
            <a:chExt cx="2552090" cy="51296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C9D6ACD-D209-B115-2425-37B849D3D8A0}"/>
                </a:ext>
              </a:extLst>
            </p:cNvPr>
            <p:cNvSpPr/>
            <p:nvPr/>
          </p:nvSpPr>
          <p:spPr>
            <a:xfrm>
              <a:off x="6096000" y="5947860"/>
              <a:ext cx="1219200" cy="471924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400" dirty="0">
                  <a:solidFill>
                    <a:srgbClr val="FFFFFF"/>
                  </a:solidFill>
                </a:rPr>
                <a:t>12</a:t>
              </a:r>
              <a:endParaRPr kumimoji="0" lang="en-CN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F50848-1064-7881-887C-BFFFC99291F6}"/>
                </a:ext>
              </a:extLst>
            </p:cNvPr>
            <p:cNvSpPr txBox="1"/>
            <p:nvPr/>
          </p:nvSpPr>
          <p:spPr>
            <a:xfrm>
              <a:off x="4763110" y="5916843"/>
              <a:ext cx="1024504" cy="51296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>
                <a:lnSpc>
                  <a:spcPts val="3200"/>
                </a:lnSpc>
              </a:pPr>
              <a:r>
                <a:rPr kumimoji="0" lang="en-US" altLang="zh-CN" sz="240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Consolas" panose="020B0609020204030204" pitchFamily="49" charset="0"/>
                  <a:ea typeface="Helvetica Neue Light" panose="02000403000000020004" pitchFamily="2" charset="0"/>
                  <a:cs typeface="Consolas" panose="020B0609020204030204" pitchFamily="49" charset="0"/>
                  <a:sym typeface="Helvetica Light"/>
                </a:rPr>
                <a:t>num2</a:t>
              </a:r>
              <a:endParaRPr kumimoji="0" lang="en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Helvetica Light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8131F25-9F27-13FE-7A8F-957F305486C6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>
              <a:off x="5647809" y="6183822"/>
              <a:ext cx="448191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3431691783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DF9B0C-3728-B97D-41EA-A7F5875CA6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43</a:t>
            </a:fld>
            <a:endParaRPr lang="en-C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1A3329-FBDB-F869-4C55-3AA6B427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415" y="0"/>
            <a:ext cx="10406063" cy="789060"/>
          </a:xfrm>
        </p:spPr>
        <p:txBody>
          <a:bodyPr/>
          <a:lstStyle/>
          <a:p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A4E4A-1707-237D-7A0B-A2FB4A7B92FC}"/>
              </a:ext>
            </a:extLst>
          </p:cNvPr>
          <p:cNvSpPr txBox="1"/>
          <p:nvPr/>
        </p:nvSpPr>
        <p:spPr>
          <a:xfrm>
            <a:off x="1028276" y="907814"/>
            <a:ext cx="9517013" cy="923330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Since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input()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always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returns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string,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b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</a:b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h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ow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can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we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read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a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number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from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users?</a:t>
            </a:r>
            <a:r>
              <a:rPr lang="zh-CN" altLang="en-US" sz="2800" dirty="0">
                <a:solidFill>
                  <a:srgbClr val="5F2A8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DC6F6D-E71A-F183-3A9A-566170222F71}"/>
              </a:ext>
            </a:extLst>
          </p:cNvPr>
          <p:cNvSpPr txBox="1"/>
          <p:nvPr/>
        </p:nvSpPr>
        <p:spPr>
          <a:xfrm>
            <a:off x="1394002" y="2231115"/>
            <a:ext cx="8787662" cy="512961"/>
          </a:xfrm>
          <a:prstGeom prst="rect">
            <a:avLst/>
          </a:prstGeom>
          <a:solidFill>
            <a:srgbClr val="FFFFFF"/>
          </a:solidFill>
          <a:ln w="31750" cap="flat">
            <a:solidFill>
              <a:srgbClr val="5F2A89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Use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conversion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built-in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functions: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  <a:sym typeface="Helvetica Light"/>
              </a:rPr>
              <a:t>int()</a:t>
            </a:r>
            <a:r>
              <a:rPr lang="en-US" altLang="zh-CN" sz="2800" dirty="0">
                <a:solidFill>
                  <a:srgbClr val="5F2A8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2800" dirty="0">
                <a:solidFill>
                  <a:srgbClr val="5F2A89"/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float()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Helvetica Light"/>
              </a:rPr>
              <a:t> 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  <a:sym typeface="Helvetica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BC9A86-9962-7542-332F-8C4BA22BFFE1}"/>
              </a:ext>
            </a:extLst>
          </p:cNvPr>
          <p:cNvSpPr txBox="1"/>
          <p:nvPr/>
        </p:nvSpPr>
        <p:spPr>
          <a:xfrm>
            <a:off x="383137" y="3392191"/>
            <a:ext cx="6923370" cy="2154436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num1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input("Enter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number: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")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print(3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num1)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num2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int(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input("Enter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number: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")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print(3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num2)</a:t>
            </a:r>
          </a:p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6F2727-ECCD-D57F-518A-957DCE9F5C35}"/>
              </a:ext>
            </a:extLst>
          </p:cNvPr>
          <p:cNvSpPr txBox="1"/>
          <p:nvPr/>
        </p:nvSpPr>
        <p:spPr>
          <a:xfrm>
            <a:off x="7172696" y="2902356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7D3ECF-F5D0-416D-53D3-2B358E1DADDA}"/>
              </a:ext>
            </a:extLst>
          </p:cNvPr>
          <p:cNvSpPr txBox="1"/>
          <p:nvPr/>
        </p:nvSpPr>
        <p:spPr>
          <a:xfrm>
            <a:off x="10307782" y="2985484"/>
            <a:ext cx="102657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2" name="code-panel">
            <a:extLst>
              <a:ext uri="{FF2B5EF4-FFF2-40B4-BE49-F238E27FC236}">
                <a16:creationId xmlns:a16="http://schemas.microsoft.com/office/drawing/2014/main" id="{C5FEA40B-C999-AAFA-3D0B-A841C9CC3358}"/>
              </a:ext>
            </a:extLst>
          </p:cNvPr>
          <p:cNvSpPr>
            <a:spLocks noGrp="1"/>
          </p:cNvSpPr>
          <p:nvPr/>
        </p:nvSpPr>
        <p:spPr>
          <a:xfrm>
            <a:off x="8479714" y="4469409"/>
            <a:ext cx="3403900" cy="2203067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4288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721C2-8FAD-13FB-5A28-DDEA866E4BAD}"/>
              </a:ext>
            </a:extLst>
          </p:cNvPr>
          <p:cNvSpPr txBox="1"/>
          <p:nvPr/>
        </p:nvSpPr>
        <p:spPr>
          <a:xfrm>
            <a:off x="8479714" y="4438865"/>
            <a:ext cx="945772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SHELL</a:t>
            </a:r>
            <a:endParaRPr kumimoji="0" lang="en-CN" sz="2000" b="1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Arial" panose="020B0604020202020204" pitchFamily="34" charset="0"/>
              <a:ea typeface="Helvetica Neue Light" panose="02000403000000020004" pitchFamily="2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5B481-EE12-C734-2D60-9E4C230795EB}"/>
              </a:ext>
            </a:extLst>
          </p:cNvPr>
          <p:cNvSpPr txBox="1"/>
          <p:nvPr/>
        </p:nvSpPr>
        <p:spPr>
          <a:xfrm>
            <a:off x="8520293" y="4869380"/>
            <a:ext cx="2410916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Enter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a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number: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7513A-6C6A-3283-AAC0-165B7FD308CB}"/>
              </a:ext>
            </a:extLst>
          </p:cNvPr>
          <p:cNvSpPr txBox="1"/>
          <p:nvPr/>
        </p:nvSpPr>
        <p:spPr>
          <a:xfrm>
            <a:off x="11079432" y="4869123"/>
            <a:ext cx="593728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12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47C76-1FF3-BD0D-C796-83D476FE71C1}"/>
              </a:ext>
            </a:extLst>
          </p:cNvPr>
          <p:cNvSpPr txBox="1"/>
          <p:nvPr/>
        </p:nvSpPr>
        <p:spPr>
          <a:xfrm>
            <a:off x="8532169" y="5193234"/>
            <a:ext cx="1025922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altLang="zh-CN" sz="20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121212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7EDB7F-E252-2331-9048-FA137CAE80AA}"/>
              </a:ext>
            </a:extLst>
          </p:cNvPr>
          <p:cNvSpPr txBox="1"/>
          <p:nvPr/>
        </p:nvSpPr>
        <p:spPr>
          <a:xfrm>
            <a:off x="8532169" y="5525317"/>
            <a:ext cx="2410916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Enter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a</a:t>
            </a:r>
            <a:r>
              <a:rPr kumimoji="0" lang="zh-CN" altLang="en-US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number: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11495A-07CB-77EB-9070-16E09DB12EA0}"/>
              </a:ext>
            </a:extLst>
          </p:cNvPr>
          <p:cNvSpPr txBox="1"/>
          <p:nvPr/>
        </p:nvSpPr>
        <p:spPr>
          <a:xfrm>
            <a:off x="11091308" y="5525060"/>
            <a:ext cx="593728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0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12</a:t>
            </a:r>
            <a:endParaRPr kumimoji="0" lang="en-CN" sz="20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A739FE9-0B4F-8AB3-9777-BB29D50B2044}"/>
              </a:ext>
            </a:extLst>
          </p:cNvPr>
          <p:cNvGrpSpPr/>
          <p:nvPr/>
        </p:nvGrpSpPr>
        <p:grpSpPr>
          <a:xfrm>
            <a:off x="296883" y="4626597"/>
            <a:ext cx="8864639" cy="1726709"/>
            <a:chOff x="296883" y="4626597"/>
            <a:chExt cx="8864639" cy="172670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2F65F24-080E-F5E0-DA7A-AD6A615624B7}"/>
                </a:ext>
              </a:extLst>
            </p:cNvPr>
            <p:cNvSpPr/>
            <p:nvPr/>
          </p:nvSpPr>
          <p:spPr>
            <a:xfrm>
              <a:off x="296883" y="4626597"/>
              <a:ext cx="2624447" cy="539166"/>
            </a:xfrm>
            <a:prstGeom prst="rect">
              <a:avLst/>
            </a:prstGeom>
            <a:noFill/>
            <a:ln w="22225" cap="flat">
              <a:solidFill>
                <a:srgbClr val="C00000"/>
              </a:solidFill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N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679344-1264-153B-6841-E74227E757F9}"/>
                </a:ext>
              </a:extLst>
            </p:cNvPr>
            <p:cNvSpPr txBox="1"/>
            <p:nvPr/>
          </p:nvSpPr>
          <p:spPr>
            <a:xfrm>
              <a:off x="8567794" y="5842416"/>
              <a:ext cx="593728" cy="5108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altLang="zh-CN" sz="2000" dirty="0">
                  <a:solidFill>
                    <a:srgbClr val="C0000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36</a:t>
              </a:r>
              <a:endParaRPr kumimoji="0" lang="en-CN" sz="200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C110FA-C066-122F-E0F2-7D243CC65063}"/>
                </a:ext>
              </a:extLst>
            </p:cNvPr>
            <p:cNvSpPr txBox="1"/>
            <p:nvPr/>
          </p:nvSpPr>
          <p:spPr>
            <a:xfrm>
              <a:off x="3085583" y="4747373"/>
              <a:ext cx="2366032" cy="51296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kumimoji="0" lang="en-US" altLang="zh-CN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#</a:t>
              </a:r>
              <a:r>
                <a:rPr kumimoji="0" lang="zh-CN" altLang="en-US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3</a:t>
              </a:r>
              <a:r>
                <a:rPr kumimoji="0" lang="zh-CN" altLang="en-US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times</a:t>
              </a:r>
              <a:r>
                <a:rPr kumimoji="0" lang="zh-CN" altLang="en-US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integer</a:t>
              </a:r>
              <a:r>
                <a:rPr kumimoji="0" lang="zh-CN" altLang="en-US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200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12</a:t>
              </a:r>
              <a:endParaRPr kumimoji="0" lang="en-CN" sz="2000" u="none" strike="noStrike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8438308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2876-08EE-D4B5-7937-6ABCB0D76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print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98617-0A55-B970-A292-464650991D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44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94E6C6-3F7F-A589-3959-7535C13CB7C4}"/>
              </a:ext>
            </a:extLst>
          </p:cNvPr>
          <p:cNvSpPr txBox="1"/>
          <p:nvPr/>
        </p:nvSpPr>
        <p:spPr>
          <a:xfrm>
            <a:off x="425245" y="923304"/>
            <a:ext cx="8776442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Helvetica Light"/>
              </a:rPr>
              <a:t>print() </a:t>
            </a: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is used to display information on the screen.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CA6E9-F878-8A11-2643-EFC30F15B45D}"/>
              </a:ext>
            </a:extLst>
          </p:cNvPr>
          <p:cNvSpPr txBox="1"/>
          <p:nvPr/>
        </p:nvSpPr>
        <p:spPr>
          <a:xfrm>
            <a:off x="240603" y="1570509"/>
            <a:ext cx="11164250" cy="52322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print() </a:t>
            </a:r>
            <a:r>
              <a:rPr lang="en-US" sz="2800" dirty="0">
                <a:solidFill>
                  <a:srgbClr val="5F2A89"/>
                </a:solidFill>
              </a:rPr>
              <a:t>can display strings, numbers, variables, and expressions.</a:t>
            </a:r>
            <a:endParaRPr lang="en-CN" sz="2800" dirty="0">
              <a:solidFill>
                <a:srgbClr val="5F2A89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3E2DD7-6CD6-ECB1-FC5F-039FB3E66136}"/>
              </a:ext>
            </a:extLst>
          </p:cNvPr>
          <p:cNvSpPr txBox="1"/>
          <p:nvPr/>
        </p:nvSpPr>
        <p:spPr>
          <a:xfrm>
            <a:off x="1198068" y="3379598"/>
            <a:ext cx="10535680" cy="2564805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a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ge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10</a:t>
            </a:r>
          </a:p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name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"Amy"</a:t>
            </a:r>
            <a:endParaRPr kumimoji="0" lang="en-US" altLang="zh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print("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ame: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")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i="1" u="none" strike="noStrike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#string</a:t>
            </a:r>
          </a:p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print(name)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#variable</a:t>
            </a:r>
          </a:p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print(age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+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12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)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i="1" u="none" strike="noStrike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#expression</a:t>
            </a:r>
          </a:p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print(name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+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is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+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str(age)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+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"years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old!")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033D0B-E77C-F180-EB39-6915A5D046FA}"/>
              </a:ext>
            </a:extLst>
          </p:cNvPr>
          <p:cNvSpPr txBox="1"/>
          <p:nvPr/>
        </p:nvSpPr>
        <p:spPr>
          <a:xfrm>
            <a:off x="1102767" y="2151451"/>
            <a:ext cx="9610003" cy="5129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sz="2000" b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An argument is a value given to a function.</a:t>
            </a:r>
            <a:r>
              <a:rPr kumimoji="0" lang="zh-CN" altLang="en-US" sz="2000" b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  </a:t>
            </a:r>
            <a:r>
              <a:rPr kumimoji="0" lang="en-US" altLang="zh-CN" sz="2000" b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print('Hi'),</a:t>
            </a:r>
            <a:r>
              <a:rPr kumimoji="0" lang="zh-CN" altLang="en-US" sz="2000" b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en-US" altLang="zh-CN" sz="2000" b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here</a:t>
            </a:r>
            <a:r>
              <a:rPr kumimoji="0" lang="zh-CN" altLang="en-US" sz="2000" b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en-US" altLang="zh-CN" sz="2000" b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'Hi'</a:t>
            </a:r>
            <a:r>
              <a:rPr kumimoji="0" lang="zh-CN" altLang="en-US" sz="2000" b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en-US" altLang="zh-CN" sz="2000" b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is</a:t>
            </a:r>
            <a:r>
              <a:rPr kumimoji="0" lang="zh-CN" altLang="en-US" sz="2000" b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en-US" altLang="zh-CN" sz="2000" b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argument</a:t>
            </a:r>
            <a:endParaRPr kumimoji="0" lang="en-CN" sz="2000" b="1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Arial" panose="020B0604020202020204" pitchFamily="34" charset="0"/>
              <a:ea typeface="Helvetica Neue Light" panose="02000403000000020004" pitchFamily="2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99B53-E1AD-09F5-2348-8AC3CB5F1498}"/>
              </a:ext>
            </a:extLst>
          </p:cNvPr>
          <p:cNvSpPr txBox="1"/>
          <p:nvPr/>
        </p:nvSpPr>
        <p:spPr>
          <a:xfrm>
            <a:off x="425245" y="2808915"/>
            <a:ext cx="2495876" cy="512961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One</a:t>
            </a:r>
            <a:r>
              <a:rPr kumimoji="0" lang="zh-CN" altLang="en-US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argument</a:t>
            </a:r>
            <a:endParaRPr kumimoji="0" lang="en-CN" sz="2800" b="1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582D50-7970-78CA-DB8E-FA2B7118F389}"/>
              </a:ext>
            </a:extLst>
          </p:cNvPr>
          <p:cNvSpPr txBox="1"/>
          <p:nvPr/>
        </p:nvSpPr>
        <p:spPr>
          <a:xfrm>
            <a:off x="1249989" y="5934670"/>
            <a:ext cx="4892457" cy="92333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lnSpc>
                <a:spcPts val="3200"/>
              </a:lnSpc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sz="3200" b="0" dirty="0">
                <a:highlight>
                  <a:srgbClr val="EEEFF1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en-US" dirty="0"/>
              <a:t>oncatenate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strings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single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  <a:r>
              <a:rPr lang="zh-CN" altLang="en-US" dirty="0"/>
              <a:t> </a:t>
            </a:r>
            <a:r>
              <a:rPr lang="en-US" altLang="zh-CN" dirty="0"/>
              <a:t>(one</a:t>
            </a:r>
            <a:r>
              <a:rPr lang="zh-CN" altLang="en-US" dirty="0"/>
              <a:t> </a:t>
            </a:r>
            <a:r>
              <a:rPr lang="en-US" altLang="zh-CN" dirty="0"/>
              <a:t>argument)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BDC01E-43A1-5282-6785-7DD910BC05A9}"/>
              </a:ext>
            </a:extLst>
          </p:cNvPr>
          <p:cNvGrpSpPr/>
          <p:nvPr/>
        </p:nvGrpSpPr>
        <p:grpSpPr>
          <a:xfrm>
            <a:off x="7141782" y="5832929"/>
            <a:ext cx="2581491" cy="1009438"/>
            <a:chOff x="7457703" y="5617208"/>
            <a:chExt cx="2581491" cy="100943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685F87-831E-434B-A581-5737A130CCFB}"/>
                </a:ext>
              </a:extLst>
            </p:cNvPr>
            <p:cNvSpPr txBox="1"/>
            <p:nvPr/>
          </p:nvSpPr>
          <p:spPr>
            <a:xfrm>
              <a:off x="7988405" y="5693057"/>
              <a:ext cx="2050789" cy="93358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kumimoji="0" lang="en-US" altLang="zh-CN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every</a:t>
              </a:r>
              <a:r>
                <a:rPr kumimoji="0" lang="zh-CN" altLang="en-US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piece</a:t>
              </a:r>
              <a:r>
                <a:rPr kumimoji="0" lang="zh-CN" altLang="en-US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being</a:t>
              </a:r>
              <a:r>
                <a:rPr kumimoji="0" lang="zh-CN" altLang="en-US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concatenated</a:t>
              </a:r>
              <a:r>
                <a:rPr kumimoji="0" lang="zh-CN" altLang="en-US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must</a:t>
              </a:r>
              <a:r>
                <a:rPr kumimoji="0" lang="zh-CN" altLang="en-US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be</a:t>
              </a:r>
              <a:r>
                <a:rPr kumimoji="0" lang="zh-CN" altLang="en-US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a</a:t>
              </a:r>
              <a:r>
                <a:rPr kumimoji="0" lang="zh-CN" altLang="en-US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 </a:t>
              </a:r>
              <a:r>
                <a:rPr kumimoji="0" lang="en-US" altLang="zh-CN" sz="1800" b="1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rPr>
                <a:t>string</a:t>
              </a:r>
              <a:endParaRPr kumimoji="0" lang="en-CN" sz="1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4C2B0A6-FA20-0293-7BB7-2D539A734C4D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 flipV="1">
              <a:off x="7457703" y="5617208"/>
              <a:ext cx="530702" cy="542644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9" name="code-panel">
            <a:extLst>
              <a:ext uri="{FF2B5EF4-FFF2-40B4-BE49-F238E27FC236}">
                <a16:creationId xmlns:a16="http://schemas.microsoft.com/office/drawing/2014/main" id="{65414F42-ACB2-3B24-9A2C-414951216920}"/>
              </a:ext>
            </a:extLst>
          </p:cNvPr>
          <p:cNvSpPr>
            <a:spLocks noGrp="1"/>
          </p:cNvSpPr>
          <p:nvPr/>
        </p:nvSpPr>
        <p:spPr>
          <a:xfrm>
            <a:off x="9201686" y="3043911"/>
            <a:ext cx="2900091" cy="1908884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4288">
            <a:solidFill>
              <a:srgbClr val="B8BCC4"/>
            </a:solidFill>
            <a:prstDash val="solid"/>
          </a:ln>
        </p:spPr>
        <p:txBody>
          <a:bodyPr/>
          <a:lstStyle/>
          <a:p>
            <a:pPr algn="l"/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Name:</a:t>
            </a:r>
            <a:r>
              <a:rPr lang="zh-CN" altLang="en-US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altLang="zh-CN" sz="2400" dirty="0">
              <a:solidFill>
                <a:srgbClr val="5F2A8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/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Amy</a:t>
            </a:r>
          </a:p>
          <a:p>
            <a:pPr algn="l"/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22</a:t>
            </a:r>
          </a:p>
          <a:p>
            <a:pPr algn="l"/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Amy</a:t>
            </a:r>
            <a:r>
              <a:rPr lang="zh-CN" altLang="en-US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r>
              <a:rPr lang="zh-CN" altLang="en-US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zh-CN" altLang="en-US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years</a:t>
            </a:r>
            <a:r>
              <a:rPr lang="zh-CN" altLang="en-US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old!</a:t>
            </a:r>
            <a:endParaRPr lang="en-CN" sz="2400" dirty="0">
              <a:solidFill>
                <a:srgbClr val="5F2A8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7001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A10D-C3A0-8A37-80A4-2A3EBC4B1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print</a:t>
            </a:r>
            <a:r>
              <a:rPr lang="zh-CN" altLang="en-US" dirty="0"/>
              <a:t> </a:t>
            </a:r>
            <a:r>
              <a:rPr lang="en-US" altLang="zh-CN" dirty="0"/>
              <a:t>functions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C40CEE-9771-3D1A-13BB-3F1E82920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45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AE2E7-4076-1B6D-38EC-58FB37318907}"/>
              </a:ext>
            </a:extLst>
          </p:cNvPr>
          <p:cNvSpPr txBox="1"/>
          <p:nvPr/>
        </p:nvSpPr>
        <p:spPr>
          <a:xfrm>
            <a:off x="938151" y="1420907"/>
            <a:ext cx="10535680" cy="1744067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a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ge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10</a:t>
            </a:r>
          </a:p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name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"Amy"</a:t>
            </a:r>
            <a:endParaRPr kumimoji="0" lang="en-US" altLang="zh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print("Name:",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name,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"Age: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",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age)</a:t>
            </a:r>
          </a:p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("Welcome!")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9DF40-6387-3334-9243-1EBF01D2227F}"/>
              </a:ext>
            </a:extLst>
          </p:cNvPr>
          <p:cNvSpPr txBox="1"/>
          <p:nvPr/>
        </p:nvSpPr>
        <p:spPr>
          <a:xfrm>
            <a:off x="532123" y="836560"/>
            <a:ext cx="4296048" cy="512961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More</a:t>
            </a:r>
            <a:r>
              <a:rPr kumimoji="0" lang="zh-CN" altLang="en-US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than</a:t>
            </a:r>
            <a:r>
              <a:rPr kumimoji="0" lang="zh-CN" altLang="en-US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one</a:t>
            </a:r>
            <a:r>
              <a:rPr kumimoji="0" lang="zh-CN" altLang="en-US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argument:</a:t>
            </a:r>
            <a:endParaRPr kumimoji="0" lang="en-CN" sz="2800" b="1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4BBD41-D52C-789A-61E7-3523F45C360A}"/>
              </a:ext>
            </a:extLst>
          </p:cNvPr>
          <p:cNvSpPr txBox="1"/>
          <p:nvPr/>
        </p:nvSpPr>
        <p:spPr>
          <a:xfrm>
            <a:off x="938151" y="3222218"/>
            <a:ext cx="9593998" cy="471924"/>
          </a:xfrm>
          <a:prstGeom prst="rect">
            <a:avLst/>
          </a:prstGeom>
          <a:noFill/>
          <a:ln w="12700" cap="flat">
            <a:solidFill>
              <a:srgbClr val="B8BCC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2400" dirty="0">
                <a:solidFill>
                  <a:srgbClr val="5F2A89"/>
                </a:solidFill>
                <a:effectLst/>
                <a:latin typeface="Helvetica" pitchFamily="2" charset="0"/>
              </a:rPr>
              <a:t>Arguments </a:t>
            </a:r>
            <a:r>
              <a:rPr lang="en-US" altLang="zh-CN" sz="2400" dirty="0">
                <a:solidFill>
                  <a:srgbClr val="5F2A89"/>
                </a:solidFill>
                <a:latin typeface="Helvetica" pitchFamily="2" charset="0"/>
              </a:rPr>
              <a:t>can</a:t>
            </a:r>
            <a:r>
              <a:rPr lang="zh-CN" altLang="en-US" sz="2400" dirty="0">
                <a:solidFill>
                  <a:srgbClr val="5F2A89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Helvetica" pitchFamily="2" charset="0"/>
              </a:rPr>
              <a:t>be</a:t>
            </a:r>
            <a:r>
              <a:rPr lang="en-US" sz="2400" dirty="0">
                <a:solidFill>
                  <a:srgbClr val="5F2A89"/>
                </a:solidFill>
                <a:effectLst/>
                <a:latin typeface="Helvetica" pitchFamily="2" charset="0"/>
              </a:rPr>
              <a:t> different types and are separated by </a:t>
            </a:r>
            <a:r>
              <a:rPr lang="en-US" sz="2400" dirty="0">
                <a:solidFill>
                  <a:srgbClr val="FF0000"/>
                </a:solidFill>
                <a:effectLst/>
                <a:latin typeface="Helvetica" pitchFamily="2" charset="0"/>
              </a:rPr>
              <a:t>commas</a:t>
            </a:r>
            <a:r>
              <a:rPr lang="en-US" sz="2400" dirty="0">
                <a:solidFill>
                  <a:srgbClr val="5F2A89"/>
                </a:solidFill>
                <a:effectLst/>
                <a:latin typeface="Helvetica" pitchFamily="2" charset="0"/>
              </a:rPr>
              <a:t>.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878CB057-0919-8EAB-CCE8-8B97B09F10A1}"/>
              </a:ext>
            </a:extLst>
          </p:cNvPr>
          <p:cNvSpPr>
            <a:spLocks noGrp="1"/>
          </p:cNvSpPr>
          <p:nvPr/>
        </p:nvSpPr>
        <p:spPr>
          <a:xfrm>
            <a:off x="939415" y="3798886"/>
            <a:ext cx="7361437" cy="844364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4288">
            <a:solidFill>
              <a:srgbClr val="B8BCC4"/>
            </a:solidFill>
            <a:prstDash val="solid"/>
          </a:ln>
        </p:spPr>
        <p:txBody>
          <a:bodyPr/>
          <a:lstStyle/>
          <a:p>
            <a:pPr algn="l"/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Name:</a:t>
            </a:r>
            <a:r>
              <a:rPr lang="zh-CN" altLang="en-US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Amy</a:t>
            </a:r>
            <a:r>
              <a:rPr lang="zh-CN" altLang="en-US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Age:</a:t>
            </a:r>
            <a:r>
              <a:rPr lang="zh-CN" altLang="en-US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algn="l"/>
            <a:r>
              <a:rPr lang="en-US" altLang="zh-CN" sz="2400" dirty="0">
                <a:solidFill>
                  <a:srgbClr val="5F2A8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Welcome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85248D-AE14-6E8A-AC8C-06F899AFED82}"/>
              </a:ext>
            </a:extLst>
          </p:cNvPr>
          <p:cNvSpPr txBox="1"/>
          <p:nvPr/>
        </p:nvSpPr>
        <p:spPr>
          <a:xfrm>
            <a:off x="938151" y="4616817"/>
            <a:ext cx="7269619" cy="1783052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For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default,</a:t>
            </a:r>
          </a:p>
          <a:p>
            <a:pPr algn="l">
              <a:lnSpc>
                <a:spcPct val="1300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	print()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adds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a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highlight>
                  <a:srgbClr val="F3ECFF"/>
                </a:highlight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space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highlight>
                  <a:srgbClr val="F3ECFF"/>
                </a:highlight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between</a:t>
            </a:r>
            <a:r>
              <a:rPr lang="zh-CN" altLang="en-US" sz="2800" dirty="0">
                <a:solidFill>
                  <a:srgbClr val="5F2A89"/>
                </a:solidFill>
                <a:highlight>
                  <a:srgbClr val="F3ECFF"/>
                </a:highlight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highlight>
                  <a:srgbClr val="F3ECFF"/>
                </a:highlight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arguments</a:t>
            </a:r>
          </a:p>
          <a:p>
            <a:pPr algn="l">
              <a:lnSpc>
                <a:spcPct val="1300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	print() adds a </a:t>
            </a:r>
            <a:r>
              <a:rPr lang="en-US" altLang="zh-CN" sz="2800" dirty="0">
                <a:solidFill>
                  <a:srgbClr val="C00000"/>
                </a:solidFill>
                <a:highlight>
                  <a:srgbClr val="F3ECFF"/>
                </a:highlight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newline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highlight>
                  <a:srgbClr val="F3ECFF"/>
                </a:highlight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at</a:t>
            </a:r>
            <a:r>
              <a:rPr lang="zh-CN" altLang="en-US" sz="2800" dirty="0">
                <a:solidFill>
                  <a:srgbClr val="5F2A89"/>
                </a:solidFill>
                <a:highlight>
                  <a:srgbClr val="F3ECFF"/>
                </a:highlight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highlight>
                  <a:srgbClr val="F3ECFF"/>
                </a:highlight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</a:t>
            </a:r>
            <a:r>
              <a:rPr lang="zh-CN" altLang="en-US" sz="2800" dirty="0">
                <a:solidFill>
                  <a:srgbClr val="5F2A89"/>
                </a:solidFill>
                <a:highlight>
                  <a:srgbClr val="F3ECFF"/>
                </a:highlight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highlight>
                  <a:srgbClr val="F3ECFF"/>
                </a:highlight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end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C29923-F6E9-C519-23CF-74A21DC861C0}"/>
              </a:ext>
            </a:extLst>
          </p:cNvPr>
          <p:cNvSpPr txBox="1"/>
          <p:nvPr/>
        </p:nvSpPr>
        <p:spPr>
          <a:xfrm>
            <a:off x="4359204" y="3682267"/>
            <a:ext cx="4547289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180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space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s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are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added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between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arguments</a:t>
            </a:r>
            <a:endParaRPr kumimoji="0" lang="en-CN" sz="180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Arial" panose="020B0604020202020204" pitchFamily="34" charset="0"/>
              <a:ea typeface="Helvetica Neue Light" panose="02000403000000020004" pitchFamily="2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2E2D42-27B9-43FB-C1AB-3B7EAF75A59C}"/>
              </a:ext>
            </a:extLst>
          </p:cNvPr>
          <p:cNvSpPr txBox="1"/>
          <p:nvPr/>
        </p:nvSpPr>
        <p:spPr>
          <a:xfrm>
            <a:off x="4359203" y="4073098"/>
            <a:ext cx="4547289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180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  <a:sym typeface="Helvetica Light"/>
              </a:rPr>
              <a:t>start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s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a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new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line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after</a:t>
            </a:r>
            <a:r>
              <a: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rPr>
              <a:t>printing</a:t>
            </a:r>
            <a:endParaRPr kumimoji="0" lang="en-CN" sz="180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Arial" panose="020B0604020202020204" pitchFamily="34" charset="0"/>
              <a:ea typeface="Helvetica Neue Light" panose="02000403000000020004" pitchFamily="2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26874-0BFE-2621-7ABA-264567070F1C}"/>
              </a:ext>
            </a:extLst>
          </p:cNvPr>
          <p:cNvSpPr txBox="1"/>
          <p:nvPr/>
        </p:nvSpPr>
        <p:spPr>
          <a:xfrm>
            <a:off x="9023776" y="5295270"/>
            <a:ext cx="232170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ts val="3200"/>
              </a:lnSpc>
            </a:pPr>
            <a:r>
              <a:rPr kumimoji="0" lang="en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Bu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t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we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can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change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them!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39471734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1F1A464-5EDA-8E4A-2703-F39FB018DDD1}"/>
              </a:ext>
            </a:extLst>
          </p:cNvPr>
          <p:cNvSpPr/>
          <p:nvPr/>
        </p:nvSpPr>
        <p:spPr>
          <a:xfrm>
            <a:off x="265215" y="5032100"/>
            <a:ext cx="5160543" cy="451263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53CB7-6E23-58BD-BAFD-1D6300A09847}"/>
              </a:ext>
            </a:extLst>
          </p:cNvPr>
          <p:cNvSpPr/>
          <p:nvPr/>
        </p:nvSpPr>
        <p:spPr>
          <a:xfrm>
            <a:off x="265215" y="4131991"/>
            <a:ext cx="5160543" cy="451263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A8026-6777-633E-9A04-3DBCA8CB885E}"/>
              </a:ext>
            </a:extLst>
          </p:cNvPr>
          <p:cNvSpPr/>
          <p:nvPr/>
        </p:nvSpPr>
        <p:spPr>
          <a:xfrm>
            <a:off x="265215" y="2756442"/>
            <a:ext cx="5160543" cy="451263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C2F384-B4AE-0CE9-402A-92295B558862}"/>
              </a:ext>
            </a:extLst>
          </p:cNvPr>
          <p:cNvSpPr/>
          <p:nvPr/>
        </p:nvSpPr>
        <p:spPr>
          <a:xfrm>
            <a:off x="265216" y="1911600"/>
            <a:ext cx="5160543" cy="451263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EB5A8-D12B-ED16-C54D-5B45CB52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print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 err="1"/>
              <a:t>sep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end</a:t>
            </a:r>
            <a:r>
              <a:rPr lang="zh-CN" altLang="en-US" dirty="0"/>
              <a:t> </a:t>
            </a:r>
            <a:r>
              <a:rPr lang="en-US" altLang="zh-CN" dirty="0"/>
              <a:t>arguments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0813A8-4B5D-D0F9-A885-7C647D8437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46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BE9DC2-FF81-6197-F797-AAF7A6CE491E}"/>
              </a:ext>
            </a:extLst>
          </p:cNvPr>
          <p:cNvSpPr txBox="1"/>
          <p:nvPr/>
        </p:nvSpPr>
        <p:spPr>
          <a:xfrm>
            <a:off x="265216" y="1463638"/>
            <a:ext cx="4923037" cy="17591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CN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('1',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'2')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1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2</a:t>
            </a:r>
          </a:p>
          <a:p>
            <a:pPr algn="l">
              <a:lnSpc>
                <a:spcPts val="3200"/>
              </a:lnSpc>
            </a:pP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print('1',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'2',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sep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='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1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2</a:t>
            </a:r>
            <a:endParaRPr kumimoji="0" lang="en-CN" sz="24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411287-31DA-F185-5BBE-8927F62EC69F}"/>
              </a:ext>
            </a:extLst>
          </p:cNvPr>
          <p:cNvSpPr txBox="1"/>
          <p:nvPr/>
        </p:nvSpPr>
        <p:spPr>
          <a:xfrm>
            <a:off x="939415" y="861730"/>
            <a:ext cx="10270890" cy="512961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ts val="3200"/>
              </a:lnSpc>
            </a:pP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print(</a:t>
            </a:r>
            <a:r>
              <a:rPr kumimoji="0" lang="zh-CN" altLang="en-US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*</a:t>
            </a:r>
            <a:r>
              <a:rPr lang="en-US" altLang="zh-CN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object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,</a:t>
            </a:r>
            <a:r>
              <a:rPr kumimoji="0" lang="zh-CN" altLang="en-US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b="1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sep</a:t>
            </a:r>
            <a:r>
              <a:rPr lang="zh-CN" altLang="en-US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'</a:t>
            </a:r>
            <a:r>
              <a:rPr lang="zh-CN" altLang="en-US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',</a:t>
            </a:r>
            <a:r>
              <a:rPr lang="zh-CN" altLang="en-US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end</a:t>
            </a:r>
            <a:r>
              <a:rPr lang="zh-CN" altLang="en-US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b="1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'\n'</a:t>
            </a:r>
            <a:r>
              <a:rPr kumimoji="0" lang="en-US" altLang="zh-CN" sz="2800" b="1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)</a:t>
            </a:r>
            <a:endParaRPr kumimoji="0" lang="en-CN" sz="2800" b="1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31323-AADC-417B-C641-075588AF31BC}"/>
              </a:ext>
            </a:extLst>
          </p:cNvPr>
          <p:cNvSpPr txBox="1"/>
          <p:nvPr/>
        </p:nvSpPr>
        <p:spPr>
          <a:xfrm>
            <a:off x="265216" y="3671602"/>
            <a:ext cx="5374299" cy="17440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CN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('1',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'2',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sep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*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1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2</a:t>
            </a:r>
          </a:p>
          <a:p>
            <a:pPr algn="l">
              <a:lnSpc>
                <a:spcPts val="3200"/>
              </a:lnSpc>
            </a:pP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print('1',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'2','3',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 err="1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sep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='-')</a:t>
            </a:r>
          </a:p>
          <a:p>
            <a:pPr algn="l">
              <a:lnSpc>
                <a:spcPts val="3200"/>
              </a:lnSpc>
            </a:pP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1-2-3</a:t>
            </a:r>
            <a:endParaRPr kumimoji="0" lang="en-CN" sz="24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24B3A-C4D4-F01D-38EB-AA6B6735953F}"/>
              </a:ext>
            </a:extLst>
          </p:cNvPr>
          <p:cNvSpPr txBox="1"/>
          <p:nvPr/>
        </p:nvSpPr>
        <p:spPr>
          <a:xfrm>
            <a:off x="6092043" y="1362521"/>
            <a:ext cx="5805769" cy="17440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CN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('1',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'2',sep='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#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print('3',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'4')</a:t>
            </a:r>
          </a:p>
          <a:p>
            <a:pPr algn="l">
              <a:lnSpc>
                <a:spcPts val="3200"/>
              </a:lnSpc>
            </a:pPr>
            <a:endParaRPr lang="en-US" altLang="zh-CN" sz="2400" dirty="0">
              <a:solidFill>
                <a:srgbClr val="5F2A89"/>
              </a:solidFill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  <a:p>
            <a:pPr algn="l">
              <a:lnSpc>
                <a:spcPts val="3200"/>
              </a:lnSpc>
            </a:pPr>
            <a:endParaRPr lang="en-US" altLang="zh-CN" sz="2400" dirty="0">
              <a:solidFill>
                <a:srgbClr val="5F2A89"/>
              </a:solidFill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0AD683-F946-FFF4-7194-F16558B23A3C}"/>
              </a:ext>
            </a:extLst>
          </p:cNvPr>
          <p:cNvSpPr/>
          <p:nvPr/>
        </p:nvSpPr>
        <p:spPr>
          <a:xfrm>
            <a:off x="6092042" y="2289409"/>
            <a:ext cx="5160543" cy="841256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1#2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kumimoji="0" lang="en-CN" sz="2400" b="0" i="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7266D9-068E-6AEA-596A-131C216790D7}"/>
              </a:ext>
            </a:extLst>
          </p:cNvPr>
          <p:cNvSpPr txBox="1"/>
          <p:nvPr/>
        </p:nvSpPr>
        <p:spPr>
          <a:xfrm>
            <a:off x="5957456" y="3392133"/>
            <a:ext cx="6234544" cy="17440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CN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('1',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'2',sep='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#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',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end='\n')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print('3',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'4')</a:t>
            </a:r>
          </a:p>
          <a:p>
            <a:pPr algn="l">
              <a:lnSpc>
                <a:spcPts val="3200"/>
              </a:lnSpc>
            </a:pPr>
            <a:endParaRPr lang="en-US" altLang="zh-CN" sz="2400" dirty="0">
              <a:solidFill>
                <a:srgbClr val="5F2A89"/>
              </a:solidFill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  <a:p>
            <a:pPr algn="l">
              <a:lnSpc>
                <a:spcPts val="3200"/>
              </a:lnSpc>
            </a:pPr>
            <a:endParaRPr lang="en-US" altLang="zh-CN" sz="2400" dirty="0">
              <a:solidFill>
                <a:srgbClr val="5F2A89"/>
              </a:solidFill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EC35AD-18F6-4635-152F-E5DAAECF3E4B}"/>
              </a:ext>
            </a:extLst>
          </p:cNvPr>
          <p:cNvSpPr/>
          <p:nvPr/>
        </p:nvSpPr>
        <p:spPr>
          <a:xfrm>
            <a:off x="6021375" y="4306851"/>
            <a:ext cx="5160543" cy="841256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1#2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kumimoji="0" lang="en-CN" sz="2400" b="0" i="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09EE80-3CAB-ACDE-41D0-92D75476C472}"/>
              </a:ext>
            </a:extLst>
          </p:cNvPr>
          <p:cNvSpPr txBox="1"/>
          <p:nvPr/>
        </p:nvSpPr>
        <p:spPr>
          <a:xfrm>
            <a:off x="5957456" y="5278011"/>
            <a:ext cx="6234544" cy="17440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CN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print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('1',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'2',sep='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#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',</a:t>
            </a:r>
            <a:r>
              <a:rPr kumimoji="0" lang="zh-CN" altLang="en-US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4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end='+')</a:t>
            </a:r>
          </a:p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print('3',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'4')</a:t>
            </a:r>
          </a:p>
          <a:p>
            <a:pPr algn="l">
              <a:lnSpc>
                <a:spcPts val="3200"/>
              </a:lnSpc>
            </a:pPr>
            <a:endParaRPr lang="en-US" altLang="zh-CN" sz="2400" dirty="0">
              <a:solidFill>
                <a:srgbClr val="5F2A89"/>
              </a:solidFill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  <a:p>
            <a:pPr algn="l">
              <a:lnSpc>
                <a:spcPts val="3200"/>
              </a:lnSpc>
            </a:pPr>
            <a:endParaRPr lang="en-US" altLang="zh-CN" sz="2400" dirty="0">
              <a:solidFill>
                <a:srgbClr val="5F2A89"/>
              </a:solidFill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148A87-BD74-7F5A-46A1-433DAD847B8C}"/>
              </a:ext>
            </a:extLst>
          </p:cNvPr>
          <p:cNvSpPr/>
          <p:nvPr/>
        </p:nvSpPr>
        <p:spPr>
          <a:xfrm>
            <a:off x="5957456" y="6246766"/>
            <a:ext cx="5160543" cy="471924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1#2+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zh-CN" altLang="en-US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kumimoji="0" lang="en-CN" sz="2400" b="0" i="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166114115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DFB83-632C-F368-DC30-A13DF13A4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try</a:t>
            </a:r>
            <a:r>
              <a:rPr lang="zh-CN" altLang="en-US" dirty="0"/>
              <a:t> </a:t>
            </a:r>
            <a:r>
              <a:rPr lang="en-US" altLang="zh-CN" dirty="0"/>
              <a:t>it!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CD44A-7D44-1E73-C0FB-0D7253E90F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47</a:t>
            </a:fld>
            <a:endParaRPr lang="en-CN"/>
          </a:p>
        </p:txBody>
      </p:sp>
      <p:sp>
        <p:nvSpPr>
          <p:cNvPr id="4" name="Predict the output of the following code:">
            <a:extLst>
              <a:ext uri="{FF2B5EF4-FFF2-40B4-BE49-F238E27FC236}">
                <a16:creationId xmlns:a16="http://schemas.microsoft.com/office/drawing/2014/main" id="{F0B280B9-D56E-7CB6-F22C-E2DC919C23D7}"/>
              </a:ext>
            </a:extLst>
          </p:cNvPr>
          <p:cNvSpPr txBox="1">
            <a:spLocks/>
          </p:cNvSpPr>
          <p:nvPr/>
        </p:nvSpPr>
        <p:spPr>
          <a:xfrm>
            <a:off x="824071" y="789060"/>
            <a:ext cx="11099800" cy="660400"/>
          </a:xfrm>
          <a:prstGeom prst="rect">
            <a:avLst/>
          </a:prstGeom>
        </p:spPr>
        <p:txBody>
          <a:bodyPr>
            <a:normAutofit/>
          </a:bodyPr>
          <a:lstStyle>
            <a:lvl1pPr marL="400050" marR="0" indent="-400050" algn="l" defTabSz="525779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239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2505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3758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5011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62640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87516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18769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0022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1275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3200"/>
              <a:t>Predict the output of the following code:</a:t>
            </a:r>
            <a:endParaRPr lang="en-US" sz="3200" dirty="0"/>
          </a:p>
        </p:txBody>
      </p:sp>
      <p:sp>
        <p:nvSpPr>
          <p:cNvPr id="5" name="print('x','y','z', sep='-')…">
            <a:extLst>
              <a:ext uri="{FF2B5EF4-FFF2-40B4-BE49-F238E27FC236}">
                <a16:creationId xmlns:a16="http://schemas.microsoft.com/office/drawing/2014/main" id="{AAD71B40-3EF5-94FA-B42C-1AFD6C9D8BF6}"/>
              </a:ext>
            </a:extLst>
          </p:cNvPr>
          <p:cNvSpPr/>
          <p:nvPr/>
        </p:nvSpPr>
        <p:spPr>
          <a:xfrm>
            <a:off x="1369712" y="1517191"/>
            <a:ext cx="8474932" cy="1582269"/>
          </a:xfrm>
          <a:prstGeom prst="rect">
            <a:avLst/>
          </a:prstGeom>
          <a:solidFill>
            <a:srgbClr val="EEEFF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l" defTabSz="531622">
              <a:spcBef>
                <a:spcPts val="1100"/>
              </a:spcBef>
              <a:defRPr sz="2093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print('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x','y','z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='-')</a:t>
            </a:r>
          </a:p>
          <a:p>
            <a:pPr algn="l" defTabSz="531622">
              <a:spcBef>
                <a:spcPts val="1100"/>
              </a:spcBef>
              <a:defRPr sz="2093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print('1','2','3',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=':',end='***')</a:t>
            </a:r>
          </a:p>
          <a:p>
            <a:pPr algn="l" defTabSz="531622">
              <a:spcBef>
                <a:spcPts val="1100"/>
              </a:spcBef>
              <a:defRPr sz="2093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print('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m','n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</p:txBody>
      </p:sp>
      <p:sp>
        <p:nvSpPr>
          <p:cNvPr id="6" name="x-y-z…">
            <a:extLst>
              <a:ext uri="{FF2B5EF4-FFF2-40B4-BE49-F238E27FC236}">
                <a16:creationId xmlns:a16="http://schemas.microsoft.com/office/drawing/2014/main" id="{3C9079D2-93B4-9670-2174-41074DEAC3EA}"/>
              </a:ext>
            </a:extLst>
          </p:cNvPr>
          <p:cNvSpPr/>
          <p:nvPr/>
        </p:nvSpPr>
        <p:spPr>
          <a:xfrm>
            <a:off x="1407610" y="3494314"/>
            <a:ext cx="3712869" cy="1350439"/>
          </a:xfrm>
          <a:prstGeom prst="rect">
            <a:avLst/>
          </a:prstGeom>
          <a:solidFill>
            <a:srgbClr val="EEEFF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 algn="l">
              <a:spcBef>
                <a:spcPts val="1300"/>
              </a:spcBef>
              <a:defRPr sz="2300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>
                <a:latin typeface="Courier New" panose="02070309020205020404" pitchFamily="49" charset="0"/>
                <a:cs typeface="Courier New" panose="02070309020205020404" pitchFamily="49" charset="0"/>
              </a:rPr>
              <a:t>x-y-z</a:t>
            </a:r>
          </a:p>
          <a:p>
            <a:pPr algn="l">
              <a:spcBef>
                <a:spcPts val="1300"/>
              </a:spcBef>
              <a:defRPr sz="2300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>
                <a:latin typeface="Courier New" panose="02070309020205020404" pitchFamily="49" charset="0"/>
                <a:cs typeface="Courier New" panose="02070309020205020404" pitchFamily="49" charset="0"/>
              </a:rPr>
              <a:t>1:2:3***m n</a:t>
            </a:r>
          </a:p>
        </p:txBody>
      </p:sp>
      <p:sp>
        <p:nvSpPr>
          <p:cNvPr id="7" name="x-y-z…">
            <a:extLst>
              <a:ext uri="{FF2B5EF4-FFF2-40B4-BE49-F238E27FC236}">
                <a16:creationId xmlns:a16="http://schemas.microsoft.com/office/drawing/2014/main" id="{42E010A7-8F01-A262-8F01-3501B90AF6DD}"/>
              </a:ext>
            </a:extLst>
          </p:cNvPr>
          <p:cNvSpPr/>
          <p:nvPr/>
        </p:nvSpPr>
        <p:spPr>
          <a:xfrm>
            <a:off x="6506354" y="3494314"/>
            <a:ext cx="3712869" cy="1350439"/>
          </a:xfrm>
          <a:prstGeom prst="rect">
            <a:avLst/>
          </a:prstGeom>
          <a:solidFill>
            <a:srgbClr val="EEEFF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 algn="l">
              <a:spcBef>
                <a:spcPts val="1300"/>
              </a:spcBef>
              <a:defRPr sz="2300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>
                <a:latin typeface="Courier New" panose="02070309020205020404" pitchFamily="49" charset="0"/>
                <a:cs typeface="Courier New" panose="02070309020205020404" pitchFamily="49" charset="0"/>
              </a:rPr>
              <a:t>x-y-z</a:t>
            </a:r>
          </a:p>
          <a:p>
            <a:pPr algn="l">
              <a:spcBef>
                <a:spcPts val="1300"/>
              </a:spcBef>
              <a:defRPr sz="2300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>
                <a:latin typeface="Courier New" panose="02070309020205020404" pitchFamily="49" charset="0"/>
                <a:cs typeface="Courier New" panose="02070309020205020404" pitchFamily="49" charset="0"/>
              </a:rPr>
              <a:t>1:2:3*** m n</a:t>
            </a:r>
          </a:p>
        </p:txBody>
      </p:sp>
      <p:sp>
        <p:nvSpPr>
          <p:cNvPr id="8" name="x-y-z…">
            <a:extLst>
              <a:ext uri="{FF2B5EF4-FFF2-40B4-BE49-F238E27FC236}">
                <a16:creationId xmlns:a16="http://schemas.microsoft.com/office/drawing/2014/main" id="{934BE501-53DD-FBA3-5B90-47CCEFF256EA}"/>
              </a:ext>
            </a:extLst>
          </p:cNvPr>
          <p:cNvSpPr/>
          <p:nvPr/>
        </p:nvSpPr>
        <p:spPr>
          <a:xfrm>
            <a:off x="1407610" y="5299413"/>
            <a:ext cx="3712869" cy="1350439"/>
          </a:xfrm>
          <a:prstGeom prst="rect">
            <a:avLst/>
          </a:prstGeom>
          <a:solidFill>
            <a:srgbClr val="EEEFF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pPr algn="l" defTabSz="531622">
              <a:spcBef>
                <a:spcPts val="1100"/>
              </a:spcBef>
              <a:defRPr sz="2093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>
                <a:latin typeface="Courier New" panose="02070309020205020404" pitchFamily="49" charset="0"/>
                <a:cs typeface="Courier New" panose="02070309020205020404" pitchFamily="49" charset="0"/>
              </a:rPr>
              <a:t>x-y-z</a:t>
            </a:r>
          </a:p>
          <a:p>
            <a:pPr algn="l" defTabSz="531622">
              <a:spcBef>
                <a:spcPts val="1100"/>
              </a:spcBef>
              <a:defRPr sz="2093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>
                <a:latin typeface="Courier New" panose="02070309020205020404" pitchFamily="49" charset="0"/>
                <a:cs typeface="Courier New" panose="02070309020205020404" pitchFamily="49" charset="0"/>
              </a:rPr>
              <a:t>1:2:3</a:t>
            </a:r>
          </a:p>
          <a:p>
            <a:pPr algn="l" defTabSz="531622">
              <a:spcBef>
                <a:spcPts val="1100"/>
              </a:spcBef>
              <a:defRPr sz="2093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>
                <a:latin typeface="Courier New" panose="02070309020205020404" pitchFamily="49" charset="0"/>
                <a:cs typeface="Courier New" panose="02070309020205020404" pitchFamily="49" charset="0"/>
              </a:rPr>
              <a:t>***m n</a:t>
            </a:r>
          </a:p>
        </p:txBody>
      </p:sp>
      <p:sp>
        <p:nvSpPr>
          <p:cNvPr id="9" name="x y z…">
            <a:extLst>
              <a:ext uri="{FF2B5EF4-FFF2-40B4-BE49-F238E27FC236}">
                <a16:creationId xmlns:a16="http://schemas.microsoft.com/office/drawing/2014/main" id="{6EDEA375-1071-E038-9DCD-511D9B9FCE64}"/>
              </a:ext>
            </a:extLst>
          </p:cNvPr>
          <p:cNvSpPr/>
          <p:nvPr/>
        </p:nvSpPr>
        <p:spPr>
          <a:xfrm>
            <a:off x="6506354" y="5299413"/>
            <a:ext cx="3712869" cy="1350439"/>
          </a:xfrm>
          <a:prstGeom prst="rect">
            <a:avLst/>
          </a:prstGeom>
          <a:solidFill>
            <a:srgbClr val="EEEFF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pPr algn="l" defTabSz="531622">
              <a:spcBef>
                <a:spcPts val="1100"/>
              </a:spcBef>
              <a:defRPr sz="2093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>
                <a:latin typeface="Courier New" panose="02070309020205020404" pitchFamily="49" charset="0"/>
                <a:cs typeface="Courier New" panose="02070309020205020404" pitchFamily="49" charset="0"/>
              </a:rPr>
              <a:t>x y z</a:t>
            </a:r>
          </a:p>
          <a:p>
            <a:pPr algn="l" defTabSz="531622">
              <a:spcBef>
                <a:spcPts val="1100"/>
              </a:spcBef>
              <a:defRPr sz="2093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>
                <a:latin typeface="Courier New" panose="02070309020205020404" pitchFamily="49" charset="0"/>
                <a:cs typeface="Courier New" panose="02070309020205020404" pitchFamily="49" charset="0"/>
              </a:rPr>
              <a:t>1 2 3</a:t>
            </a:r>
          </a:p>
          <a:p>
            <a:pPr algn="l" defTabSz="531622">
              <a:spcBef>
                <a:spcPts val="1100"/>
              </a:spcBef>
              <a:defRPr sz="2093">
                <a:solidFill>
                  <a:schemeClr val="accent6">
                    <a:lumOff val="-21524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400">
                <a:latin typeface="Courier New" panose="02070309020205020404" pitchFamily="49" charset="0"/>
                <a:cs typeface="Courier New" panose="02070309020205020404" pitchFamily="49" charset="0"/>
              </a:rPr>
              <a:t>m n</a:t>
            </a:r>
          </a:p>
        </p:txBody>
      </p:sp>
      <p:sp>
        <p:nvSpPr>
          <p:cNvPr id="10" name="A">
            <a:extLst>
              <a:ext uri="{FF2B5EF4-FFF2-40B4-BE49-F238E27FC236}">
                <a16:creationId xmlns:a16="http://schemas.microsoft.com/office/drawing/2014/main" id="{9EE00796-9396-7ED4-2CE3-8CD41160456D}"/>
              </a:ext>
            </a:extLst>
          </p:cNvPr>
          <p:cNvSpPr txBox="1"/>
          <p:nvPr/>
        </p:nvSpPr>
        <p:spPr>
          <a:xfrm>
            <a:off x="834490" y="3834459"/>
            <a:ext cx="347852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800" dirty="0">
                <a:solidFill>
                  <a:srgbClr val="5F2A89"/>
                </a:solidFill>
              </a:rPr>
              <a:t>A</a:t>
            </a:r>
          </a:p>
        </p:txBody>
      </p:sp>
      <p:sp>
        <p:nvSpPr>
          <p:cNvPr id="11" name="B">
            <a:extLst>
              <a:ext uri="{FF2B5EF4-FFF2-40B4-BE49-F238E27FC236}">
                <a16:creationId xmlns:a16="http://schemas.microsoft.com/office/drawing/2014/main" id="{DD0B016D-30A4-CBAD-686B-492D9A252ADF}"/>
              </a:ext>
            </a:extLst>
          </p:cNvPr>
          <p:cNvSpPr txBox="1"/>
          <p:nvPr/>
        </p:nvSpPr>
        <p:spPr>
          <a:xfrm>
            <a:off x="5851065" y="3902794"/>
            <a:ext cx="355867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800">
                <a:solidFill>
                  <a:srgbClr val="5F2A89"/>
                </a:solidFill>
              </a:rPr>
              <a:t>B</a:t>
            </a:r>
          </a:p>
        </p:txBody>
      </p:sp>
      <p:sp>
        <p:nvSpPr>
          <p:cNvPr id="12" name="C">
            <a:extLst>
              <a:ext uri="{FF2B5EF4-FFF2-40B4-BE49-F238E27FC236}">
                <a16:creationId xmlns:a16="http://schemas.microsoft.com/office/drawing/2014/main" id="{0AD6DA6B-2AA0-DF99-9561-892A4135BB31}"/>
              </a:ext>
            </a:extLst>
          </p:cNvPr>
          <p:cNvSpPr txBox="1"/>
          <p:nvPr/>
        </p:nvSpPr>
        <p:spPr>
          <a:xfrm>
            <a:off x="824071" y="5707893"/>
            <a:ext cx="368691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800">
                <a:solidFill>
                  <a:srgbClr val="5F2A89"/>
                </a:solidFill>
              </a:rPr>
              <a:t>C</a:t>
            </a:r>
          </a:p>
        </p:txBody>
      </p:sp>
      <p:sp>
        <p:nvSpPr>
          <p:cNvPr id="13" name="D">
            <a:extLst>
              <a:ext uri="{FF2B5EF4-FFF2-40B4-BE49-F238E27FC236}">
                <a16:creationId xmlns:a16="http://schemas.microsoft.com/office/drawing/2014/main" id="{F6CD8492-374C-A22F-D82E-8206642BF581}"/>
              </a:ext>
            </a:extLst>
          </p:cNvPr>
          <p:cNvSpPr txBox="1"/>
          <p:nvPr/>
        </p:nvSpPr>
        <p:spPr>
          <a:xfrm>
            <a:off x="5844653" y="5591222"/>
            <a:ext cx="368691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2800">
                <a:solidFill>
                  <a:srgbClr val="5F2A89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607128706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9BC1-0D23-79BD-40E6-E0C3A25F7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f-string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15C1E4-0F30-6D2F-AEE0-C42197019F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48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1C077-8CBC-BE13-FB64-FF65C7B8F052}"/>
              </a:ext>
            </a:extLst>
          </p:cNvPr>
          <p:cNvSpPr txBox="1"/>
          <p:nvPr/>
        </p:nvSpPr>
        <p:spPr>
          <a:xfrm>
            <a:off x="1039548" y="905850"/>
            <a:ext cx="10535680" cy="1333698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a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ge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10</a:t>
            </a:r>
          </a:p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name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"Amy"</a:t>
            </a:r>
            <a:endParaRPr kumimoji="0" lang="en-US" altLang="zh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print(name,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"is",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age,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"years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old!")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24E63-E764-14BA-5939-CB6BA624037E}"/>
              </a:ext>
            </a:extLst>
          </p:cNvPr>
          <p:cNvSpPr txBox="1"/>
          <p:nvPr/>
        </p:nvSpPr>
        <p:spPr>
          <a:xfrm>
            <a:off x="2139271" y="2554534"/>
            <a:ext cx="5738750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800" dirty="0">
                <a:solidFill>
                  <a:srgbClr val="5F2A89"/>
                </a:solidFill>
              </a:rPr>
              <a:t>Is there a cleaner way to write this?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8FB030-BCAA-7CF4-D07F-12ED0327E4ED}"/>
              </a:ext>
            </a:extLst>
          </p:cNvPr>
          <p:cNvSpPr/>
          <p:nvPr/>
        </p:nvSpPr>
        <p:spPr>
          <a:xfrm>
            <a:off x="1039548" y="1733797"/>
            <a:ext cx="7938197" cy="505751"/>
          </a:xfrm>
          <a:prstGeom prst="rect">
            <a:avLst/>
          </a:prstGeom>
          <a:noFill/>
          <a:ln w="19050" cap="flat">
            <a:solidFill>
              <a:srgbClr val="C0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CBC96-6C44-9F10-1081-F41DF8B8C911}"/>
              </a:ext>
            </a:extLst>
          </p:cNvPr>
          <p:cNvSpPr txBox="1"/>
          <p:nvPr/>
        </p:nvSpPr>
        <p:spPr>
          <a:xfrm>
            <a:off x="1039548" y="3277545"/>
            <a:ext cx="7835478" cy="512961"/>
          </a:xfrm>
          <a:prstGeom prst="rect">
            <a:avLst/>
          </a:prstGeom>
          <a:solidFill>
            <a:srgbClr val="F3EC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lnSpc>
                <a:spcPts val="3200"/>
              </a:lnSpc>
              <a:defRPr sz="280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print(f"{name} is {age} years old!")</a:t>
            </a:r>
            <a:endParaRPr lang="en-C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69C504-B64E-CB69-9650-65B0EDFDCF4A}"/>
              </a:ext>
            </a:extLst>
          </p:cNvPr>
          <p:cNvCxnSpPr>
            <a:cxnSpLocks/>
          </p:cNvCxnSpPr>
          <p:nvPr/>
        </p:nvCxnSpPr>
        <p:spPr>
          <a:xfrm flipV="1">
            <a:off x="4833257" y="2239548"/>
            <a:ext cx="0" cy="45615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00F3DB1-5A5F-F463-8DEE-575575DEADB0}"/>
              </a:ext>
            </a:extLst>
          </p:cNvPr>
          <p:cNvSpPr txBox="1"/>
          <p:nvPr/>
        </p:nvSpPr>
        <p:spPr>
          <a:xfrm>
            <a:off x="523132" y="4200318"/>
            <a:ext cx="9941824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Character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Helvetica Neue Light" panose="02000403000000020004" pitchFamily="2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f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Helvetica Neue Light" panose="02000403000000020004" pitchFamily="2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followed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by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string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with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some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placeholders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{}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71A078-EC43-4791-ECEE-DF1F0309131A}"/>
              </a:ext>
            </a:extLst>
          </p:cNvPr>
          <p:cNvSpPr txBox="1"/>
          <p:nvPr/>
        </p:nvSpPr>
        <p:spPr>
          <a:xfrm>
            <a:off x="523132" y="4715065"/>
            <a:ext cx="11360482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Inside </a:t>
            </a: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{}</a:t>
            </a: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, we can put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variables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,</a:t>
            </a: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expressions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,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and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formatting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instructions</a:t>
            </a: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.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29358206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9942-60C7-771D-ACDB-4429BD0E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f-string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D01479-1ECB-F8ED-9421-C91EB26AE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49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4EB54-38CF-A996-8A4B-5A95A409FA37}"/>
              </a:ext>
            </a:extLst>
          </p:cNvPr>
          <p:cNvSpPr txBox="1"/>
          <p:nvPr/>
        </p:nvSpPr>
        <p:spPr>
          <a:xfrm>
            <a:off x="511903" y="789060"/>
            <a:ext cx="11701921" cy="1333698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num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=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3000</a:t>
            </a:r>
          </a:p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fraction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=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1/3</a:t>
            </a:r>
          </a:p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print(f"{num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*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fraction}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is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{fraction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*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100}%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of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{num}.'</a:t>
            </a:r>
            <a:r>
              <a:rPr lang="zh-CN" altLang="en-US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1970E3-FA56-6622-6E9E-D5F0F56F8B24}"/>
              </a:ext>
            </a:extLst>
          </p:cNvPr>
          <p:cNvSpPr txBox="1"/>
          <p:nvPr/>
        </p:nvSpPr>
        <p:spPr>
          <a:xfrm>
            <a:off x="454797" y="2398857"/>
            <a:ext cx="11375297" cy="512961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  <a:sym typeface="Helvetica Light"/>
              </a:rPr>
              <a:t>1000.0 is 33.33333333333333% of 3000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Menlo" panose="020B0609030804020204" pitchFamily="49" charset="0"/>
              <a:cs typeface="Courier New" panose="02070309020205020404" pitchFamily="49" charset="0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343F91-2E45-6E65-E4D1-D72BF40F6947}"/>
                  </a:ext>
                </a:extLst>
              </p:cNvPr>
              <p:cNvSpPr txBox="1"/>
              <p:nvPr/>
            </p:nvSpPr>
            <p:spPr>
              <a:xfrm>
                <a:off x="357673" y="3322947"/>
                <a:ext cx="11693907" cy="5129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algn="l">
                  <a:lnSpc>
                    <a:spcPts val="3200"/>
                  </a:lnSpc>
                </a:pPr>
                <a:r>
                  <a:rPr kumimoji="0" lang="en-US" sz="2800" u="none" strike="noStrike" cap="none" spc="0" normalizeH="0" baseline="0" dirty="0">
                    <a:ln>
                      <a:noFill/>
                    </a:ln>
                    <a:solidFill>
                      <a:srgbClr val="5F2A89"/>
                    </a:solidFill>
                    <a:effectLst/>
                    <a:uFillTx/>
                    <a:latin typeface="Helvetica Light" panose="020B0403020202020204" pitchFamily="34" charset="0"/>
                    <a:ea typeface="Helvetica Neue Light" panose="02000403000000020004" pitchFamily="2" charset="0"/>
                    <a:cs typeface="Courier New" panose="02070309020205020404" pitchFamily="49" charset="0"/>
                    <a:sym typeface="Helvetica Light"/>
                  </a:rPr>
                  <a:t>That's a lot of decimal places! Can we make it look nicer?</a:t>
                </a:r>
                <a:r>
                  <a:rPr kumimoji="0" lang="zh-CN" altLang="en-US" sz="2800" u="none" strike="noStrike" cap="none" spc="0" normalizeH="0" baseline="0" dirty="0">
                    <a:ln>
                      <a:noFill/>
                    </a:ln>
                    <a:solidFill>
                      <a:srgbClr val="5F2A89"/>
                    </a:solidFill>
                    <a:effectLst/>
                    <a:uFillTx/>
                    <a:latin typeface="Helvetica Light" panose="020B0403020202020204" pitchFamily="34" charset="0"/>
                    <a:ea typeface="Helvetica Neue Light" panose="02000403000000020004" pitchFamily="2" charset="0"/>
                    <a:cs typeface="Courier New" panose="02070309020205020404" pitchFamily="49" charset="0"/>
                    <a:sym typeface="Helvetica Light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5F2A89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Courier New" panose="02070309020205020404" pitchFamily="49" charset="0"/>
                        <a:sym typeface="Helvetica Light"/>
                      </a:rPr>
                      <m:t>−&gt;</m:t>
                    </m:r>
                  </m:oMath>
                </a14:m>
                <a:r>
                  <a:rPr kumimoji="0" lang="zh-CN" altLang="en-US" sz="2800" u="none" strike="noStrike" cap="none" spc="0" normalizeH="0" baseline="0" dirty="0">
                    <a:ln>
                      <a:noFill/>
                    </a:ln>
                    <a:solidFill>
                      <a:srgbClr val="5F2A89"/>
                    </a:solidFill>
                    <a:effectLst/>
                    <a:uFillTx/>
                    <a:latin typeface="Helvetica Light" panose="020B0403020202020204" pitchFamily="34" charset="0"/>
                    <a:ea typeface="Helvetica Neue Light" panose="02000403000000020004" pitchFamily="2" charset="0"/>
                    <a:cs typeface="Courier New" panose="02070309020205020404" pitchFamily="49" charset="0"/>
                    <a:sym typeface="Helvetica Light"/>
                  </a:rPr>
                  <a:t> </a:t>
                </a:r>
                <a:r>
                  <a:rPr kumimoji="0" lang="en-US" altLang="zh-CN" sz="2800" u="none" strike="noStrike" cap="none" spc="0" normalizeH="0" baseline="0" dirty="0">
                    <a:ln>
                      <a:noFill/>
                    </a:ln>
                    <a:solidFill>
                      <a:srgbClr val="5F2A89"/>
                    </a:solidFill>
                    <a:effectLst/>
                    <a:uFillTx/>
                    <a:latin typeface="Helvetica Light" panose="020B0403020202020204" pitchFamily="34" charset="0"/>
                    <a:ea typeface="Helvetica Neue Light" panose="02000403000000020004" pitchFamily="2" charset="0"/>
                    <a:cs typeface="Courier New" panose="02070309020205020404" pitchFamily="49" charset="0"/>
                    <a:sym typeface="Helvetica Light"/>
                  </a:rPr>
                  <a:t>formatting</a:t>
                </a:r>
                <a:endParaRPr kumimoji="0" lang="en-CN" sz="2800" u="none" strike="noStrike" cap="none" spc="0" normalizeH="0" baseline="0" dirty="0">
                  <a:ln>
                    <a:noFill/>
                  </a:ln>
                  <a:solidFill>
                    <a:srgbClr val="5F2A89"/>
                  </a:solidFill>
                  <a:effectLst/>
                  <a:uFillTx/>
                  <a:latin typeface="Helvetica Light" panose="020B0403020202020204" pitchFamily="34" charset="0"/>
                  <a:ea typeface="Helvetica Neue Light" panose="02000403000000020004" pitchFamily="2" charset="0"/>
                  <a:cs typeface="Courier New" panose="02070309020205020404" pitchFamily="49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343F91-2E45-6E65-E4D1-D72BF40F6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73" y="3322947"/>
                <a:ext cx="11693907" cy="512961"/>
              </a:xfrm>
              <a:prstGeom prst="rect">
                <a:avLst/>
              </a:prstGeom>
              <a:blipFill>
                <a:blip r:embed="rId2"/>
                <a:stretch>
                  <a:fillRect l="-1520" t="-17073" r="-543" b="-3170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CAE7E47-08CF-EB75-F3E5-1119E3B370EB}"/>
              </a:ext>
            </a:extLst>
          </p:cNvPr>
          <p:cNvSpPr txBox="1"/>
          <p:nvPr/>
        </p:nvSpPr>
        <p:spPr>
          <a:xfrm>
            <a:off x="454797" y="4223253"/>
            <a:ext cx="10610277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altLang="zh-CN" sz="24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print(f"{num</a:t>
            </a:r>
            <a:r>
              <a:rPr lang="zh-CN" altLang="en-US" sz="2400" dirty="0">
                <a:solidFill>
                  <a:srgbClr val="5F2A89"/>
                </a:solidFill>
                <a:latin typeface="Menlo" panose="020B0609030804020204" pitchFamily="49" charset="0"/>
                <a:ea typeface="Helvetica Neue Light" panose="02000403000000020004" pitchFamily="2" charset="0"/>
                <a:cs typeface="Menlo" panose="020B0609030804020204" pitchFamily="49" charset="0"/>
              </a:rPr>
              <a:t>*</a:t>
            </a:r>
            <a:r>
              <a:rPr lang="en-US" altLang="zh-CN" sz="24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fraction}</a:t>
            </a:r>
            <a:r>
              <a:rPr lang="zh-CN" altLang="en-US" sz="2400" dirty="0">
                <a:solidFill>
                  <a:srgbClr val="5F2A89"/>
                </a:solidFill>
                <a:latin typeface="Menlo" panose="020B0609030804020204" pitchFamily="49" charset="0"/>
                <a:ea typeface="Helvetica Neue Light" panose="02000403000000020004" pitchFamily="2" charset="0"/>
                <a:cs typeface="Menlo" panose="020B06090308040202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</a:t>
            </a:r>
            <a:r>
              <a:rPr lang="zh-CN" altLang="en-US" sz="2400" dirty="0">
                <a:solidFill>
                  <a:srgbClr val="5F2A89"/>
                </a:solidFill>
                <a:latin typeface="Menlo" panose="020B0609030804020204" pitchFamily="49" charset="0"/>
                <a:ea typeface="Helvetica Neue Light" panose="02000403000000020004" pitchFamily="2" charset="0"/>
                <a:cs typeface="Menlo" panose="020B06090308040202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{fraction</a:t>
            </a:r>
            <a:r>
              <a:rPr lang="zh-CN" altLang="en-US" sz="2400" dirty="0">
                <a:solidFill>
                  <a:srgbClr val="5F2A89"/>
                </a:solidFill>
                <a:latin typeface="Menlo" panose="020B0609030804020204" pitchFamily="49" charset="0"/>
                <a:ea typeface="Helvetica Neue Light" panose="02000403000000020004" pitchFamily="2" charset="0"/>
                <a:cs typeface="Menlo" panose="020B0609030804020204" pitchFamily="49" charset="0"/>
              </a:rPr>
              <a:t>*</a:t>
            </a:r>
            <a:r>
              <a:rPr lang="en-US" altLang="zh-CN" sz="24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100:</a:t>
            </a:r>
            <a:r>
              <a:rPr lang="en-US" altLang="zh-CN" sz="24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.2f</a:t>
            </a:r>
            <a:r>
              <a:rPr lang="en-US" altLang="zh-CN" sz="24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}%</a:t>
            </a:r>
            <a:r>
              <a:rPr lang="zh-CN" altLang="en-US" sz="2400" dirty="0">
                <a:solidFill>
                  <a:srgbClr val="5F2A89"/>
                </a:solidFill>
                <a:latin typeface="Menlo" panose="020B0609030804020204" pitchFamily="49" charset="0"/>
                <a:ea typeface="Helvetica Neue Light" panose="02000403000000020004" pitchFamily="2" charset="0"/>
                <a:cs typeface="Menlo" panose="020B06090308040202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of</a:t>
            </a:r>
            <a:r>
              <a:rPr lang="zh-CN" altLang="en-US" sz="2400" dirty="0">
                <a:solidFill>
                  <a:srgbClr val="5F2A89"/>
                </a:solidFill>
                <a:latin typeface="Menlo" panose="020B0609030804020204" pitchFamily="49" charset="0"/>
                <a:ea typeface="Helvetica Neue Light" panose="02000403000000020004" pitchFamily="2" charset="0"/>
                <a:cs typeface="Menlo" panose="020B0609030804020204" pitchFamily="49" charset="0"/>
              </a:rPr>
              <a:t> </a:t>
            </a:r>
            <a:r>
              <a:rPr lang="en-US" altLang="zh-CN" sz="2400" dirty="0">
                <a:solidFill>
                  <a:srgbClr val="5F2A8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{num}.')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3EB209-A7A9-91C1-CFFD-DC6C4DB9BB15}"/>
              </a:ext>
            </a:extLst>
          </p:cNvPr>
          <p:cNvSpPr txBox="1"/>
          <p:nvPr/>
        </p:nvSpPr>
        <p:spPr>
          <a:xfrm>
            <a:off x="454797" y="4883354"/>
            <a:ext cx="11375297" cy="512961"/>
          </a:xfrm>
          <a:prstGeom prst="rect">
            <a:avLst/>
          </a:prstGeom>
          <a:solidFill>
            <a:srgbClr val="EEEFF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  <a:sym typeface="Helvetica Light"/>
              </a:rPr>
              <a:t>1000.0 is 33.33% of 3000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Courier New" panose="02070309020205020404" pitchFamily="49" charset="0"/>
              <a:ea typeface="Menlo" panose="020B0609030804020204" pitchFamily="49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5229F-53B7-863B-C24C-95F691DAABD6}"/>
              </a:ext>
            </a:extLst>
          </p:cNvPr>
          <p:cNvSpPr txBox="1"/>
          <p:nvPr/>
        </p:nvSpPr>
        <p:spPr>
          <a:xfrm>
            <a:off x="357673" y="5527179"/>
            <a:ext cx="4355359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put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format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specifier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after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highlight>
                  <a:srgbClr val="F3ECFF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highlight>
                <a:srgbClr val="F3ECFF"/>
              </a:highlight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EC6CC-598C-B2E7-F9E7-801DEFC75344}"/>
              </a:ext>
            </a:extLst>
          </p:cNvPr>
          <p:cNvSpPr txBox="1"/>
          <p:nvPr/>
        </p:nvSpPr>
        <p:spPr>
          <a:xfrm>
            <a:off x="357673" y="6187280"/>
            <a:ext cx="7562968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Helvetica Light"/>
              </a:rPr>
              <a:t>:2f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Menlo" panose="020B0609030804020204" pitchFamily="49" charset="0"/>
                <a:ea typeface="Helvetica Neue Light" panose="02000403000000020004" pitchFamily="2" charset="0"/>
                <a:cs typeface="Menlo" panose="020B06090308040202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means: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kumimoji="0" lang="en-US" altLang="zh-CN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show</a:t>
            </a:r>
            <a:r>
              <a:rPr kumimoji="0" lang="zh-CN" alt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2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digits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after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decimal</a:t>
            </a:r>
            <a:r>
              <a:rPr lang="zh-CN" altLang="en-US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US" altLang="zh-CN" sz="2800" dirty="0">
                <a:solidFill>
                  <a:srgbClr val="5F2A89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</a:rPr>
              <a:t>point.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C57716-A881-B729-CEA5-BB1DBABCAD99}"/>
              </a:ext>
            </a:extLst>
          </p:cNvPr>
          <p:cNvSpPr/>
          <p:nvPr/>
        </p:nvSpPr>
        <p:spPr>
          <a:xfrm>
            <a:off x="357673" y="4223253"/>
            <a:ext cx="11693907" cy="2634747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021650373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8540-1AD6-D51C-EC19-F11F5384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f-string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035C20-017C-02FF-2F6D-A03001B25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50</a:t>
            </a:fld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BC7F7-5577-53D5-A877-069C0BF72E1B}"/>
              </a:ext>
            </a:extLst>
          </p:cNvPr>
          <p:cNvSpPr txBox="1"/>
          <p:nvPr/>
        </p:nvSpPr>
        <p:spPr>
          <a:xfrm>
            <a:off x="1252716" y="2183229"/>
            <a:ext cx="10092762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There are many ways to format integers, floats, and strings. </a:t>
            </a:r>
          </a:p>
          <a:p>
            <a:pPr algn="l">
              <a:lnSpc>
                <a:spcPts val="3200"/>
              </a:lnSpc>
            </a:pPr>
            <a:endParaRPr kumimoji="0" lang="en-US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  <a:p>
            <a:pPr algn="l">
              <a:lnSpc>
                <a:spcPts val="3200"/>
              </a:lnSpc>
            </a:pPr>
            <a:r>
              <a:rPr kumimoji="0" lang="en-US" sz="2800" u="none" strike="noStrike" cap="none" spc="0" normalizeH="0" baseline="0" dirty="0">
                <a:ln>
                  <a:noFill/>
                </a:ln>
                <a:solidFill>
                  <a:srgbClr val="5F2A89"/>
                </a:solidFill>
                <a:effectLst/>
                <a:uFillTx/>
                <a:latin typeface="Helvetica Light" panose="020B0403020202020204" pitchFamily="34" charset="0"/>
                <a:ea typeface="Helvetica Neue Light" panose="02000403000000020004" pitchFamily="2" charset="0"/>
                <a:cs typeface="Courier New" panose="02070309020205020404" pitchFamily="49" charset="0"/>
                <a:sym typeface="Helvetica Light"/>
              </a:rPr>
              <a:t>No need to memorize them — just look them up when needed.</a:t>
            </a:r>
            <a:endParaRPr kumimoji="0" lang="en-CN" sz="28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053195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6B85-25C8-B672-E993-7A772A7C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 dirty="0"/>
              <a:t>f</a:t>
            </a:r>
            <a:r>
              <a:rPr lang="en-US" altLang="zh-CN" dirty="0"/>
              <a:t>-string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  <a:r>
              <a:rPr lang="zh-CN" altLang="en-US" dirty="0"/>
              <a:t> </a:t>
            </a:r>
            <a:r>
              <a:rPr lang="en-US" altLang="zh-CN" dirty="0"/>
              <a:t>formatting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BD62D3-9882-9CF9-6D2A-736198D5B5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51</a:t>
            </a:fld>
            <a:endParaRPr lang="en-CN"/>
          </a:p>
        </p:txBody>
      </p:sp>
      <p:sp>
        <p:nvSpPr>
          <p:cNvPr id="4" name="Padding and Aligning Strings (&lt;, &gt;, ^)">
            <a:extLst>
              <a:ext uri="{FF2B5EF4-FFF2-40B4-BE49-F238E27FC236}">
                <a16:creationId xmlns:a16="http://schemas.microsoft.com/office/drawing/2014/main" id="{6EB97ED0-2C21-5416-FCE4-135623A0EA3D}"/>
              </a:ext>
            </a:extLst>
          </p:cNvPr>
          <p:cNvSpPr txBox="1"/>
          <p:nvPr/>
        </p:nvSpPr>
        <p:spPr>
          <a:xfrm>
            <a:off x="1246766" y="841319"/>
            <a:ext cx="10474706" cy="533479"/>
          </a:xfrm>
          <a:prstGeom prst="rect">
            <a:avLst/>
          </a:prstGeom>
          <a:solidFill>
            <a:srgbClr val="E9DCF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chemeClr val="accent6">
                    <a:lumOff val="-21524"/>
                  </a:schemeClr>
                </a:solidFill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r>
              <a:rPr sz="2800" dirty="0"/>
              <a:t>Padding and Aligning Strings (&lt;, &gt;, ^)</a:t>
            </a:r>
          </a:p>
        </p:txBody>
      </p:sp>
      <p:graphicFrame>
        <p:nvGraphicFramePr>
          <p:cNvPr id="5" name="Tableau 1">
            <a:extLst>
              <a:ext uri="{FF2B5EF4-FFF2-40B4-BE49-F238E27FC236}">
                <a16:creationId xmlns:a16="http://schemas.microsoft.com/office/drawing/2014/main" id="{4D5BFF39-DBF5-9B33-316F-D47C3225C1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7415397"/>
              </p:ext>
            </p:extLst>
          </p:nvPr>
        </p:nvGraphicFramePr>
        <p:xfrm>
          <a:off x="2243135" y="1717040"/>
          <a:ext cx="8694036" cy="5140960"/>
        </p:xfrm>
        <a:graphic>
          <a:graphicData uri="http://schemas.openxmlformats.org/drawingml/2006/table">
            <a:tbl>
              <a:tblPr/>
              <a:tblGrid>
                <a:gridCol w="724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5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5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45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45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45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45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45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45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450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9447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sz="2400" dirty="0"/>
                        <a:t>f'</a:t>
                      </a:r>
                      <a:r>
                        <a:rPr sz="2400" dirty="0"/>
                        <a:t>{</a:t>
                      </a:r>
                      <a:r>
                        <a:rPr lang="en-US" altLang="zh-CN" sz="2400" dirty="0"/>
                        <a:t>var</a:t>
                      </a:r>
                      <a:r>
                        <a:rPr sz="2400" dirty="0"/>
                        <a:t>:</a:t>
                      </a:r>
                      <a:r>
                        <a:rPr sz="2400" dirty="0">
                          <a:solidFill>
                            <a:schemeClr val="accent2"/>
                          </a:solidFill>
                        </a:rPr>
                        <a:t>&lt;</a:t>
                      </a:r>
                      <a:r>
                        <a:rPr sz="2400" dirty="0"/>
                        <a:t>10}</a:t>
                      </a:r>
                      <a:r>
                        <a:rPr lang="en-US" altLang="zh-CN" sz="2400" dirty="0"/>
                        <a:t>'</a:t>
                      </a: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m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sz="2400" dirty="0"/>
                        <a:t>f'</a:t>
                      </a:r>
                      <a:r>
                        <a:rPr sz="2400" dirty="0"/>
                        <a:t>{</a:t>
                      </a:r>
                      <a:r>
                        <a:rPr lang="en-US" altLang="zh-CN" sz="2400" dirty="0"/>
                        <a:t>var</a:t>
                      </a:r>
                      <a:r>
                        <a:rPr sz="2400" dirty="0"/>
                        <a:t>:</a:t>
                      </a:r>
                      <a:r>
                        <a:rPr sz="2400" dirty="0">
                          <a:solidFill>
                            <a:schemeClr val="accent2"/>
                          </a:solidFill>
                        </a:rPr>
                        <a:t>&gt;</a:t>
                      </a:r>
                      <a:r>
                        <a:rPr sz="2400" dirty="0"/>
                        <a:t>10}</a:t>
                      </a:r>
                      <a:r>
                        <a:rPr lang="en-US" altLang="zh-CN" sz="2400" dirty="0"/>
                        <a:t>'</a:t>
                      </a: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m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sz="2400" dirty="0"/>
                        <a:t>f'</a:t>
                      </a:r>
                      <a:r>
                        <a:rPr sz="2400" dirty="0"/>
                        <a:t>{</a:t>
                      </a:r>
                      <a:r>
                        <a:rPr lang="en-US" altLang="zh-CN" sz="2400" dirty="0"/>
                        <a:t>var</a:t>
                      </a:r>
                      <a:r>
                        <a:rPr sz="2400" dirty="0"/>
                        <a:t>:</a:t>
                      </a:r>
                      <a:r>
                        <a:rPr sz="2400" dirty="0">
                          <a:solidFill>
                            <a:schemeClr val="accent5"/>
                          </a:solidFill>
                        </a:rPr>
                        <a:t>_</a:t>
                      </a:r>
                      <a:r>
                        <a:rPr sz="2400" dirty="0">
                          <a:solidFill>
                            <a:schemeClr val="accent2"/>
                          </a:solidFill>
                        </a:rPr>
                        <a:t>&gt;</a:t>
                      </a:r>
                      <a:r>
                        <a:rPr sz="2400" dirty="0"/>
                        <a:t>10}</a:t>
                      </a:r>
                      <a:r>
                        <a:rPr lang="en-US" altLang="zh-CN" sz="2400" dirty="0"/>
                        <a:t>'</a:t>
                      </a: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_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_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_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_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_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_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m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sz="2400" dirty="0"/>
                        <a:t>f'</a:t>
                      </a:r>
                      <a:r>
                        <a:rPr sz="2400" dirty="0"/>
                        <a:t>{</a:t>
                      </a:r>
                      <a:r>
                        <a:rPr lang="en-US" altLang="zh-CN" sz="2400" dirty="0"/>
                        <a:t>var</a:t>
                      </a:r>
                      <a:r>
                        <a:rPr sz="2400" dirty="0"/>
                        <a:t>:</a:t>
                      </a:r>
                      <a:r>
                        <a:rPr sz="2400" dirty="0">
                          <a:solidFill>
                            <a:schemeClr val="accent2"/>
                          </a:solidFill>
                        </a:rPr>
                        <a:t>^</a:t>
                      </a:r>
                      <a:r>
                        <a:rPr sz="2400" dirty="0"/>
                        <a:t>10}</a:t>
                      </a:r>
                      <a:r>
                        <a:rPr lang="en-US" altLang="zh-CN" sz="2400" dirty="0"/>
                        <a:t>'</a:t>
                      </a: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m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sz="2400" dirty="0"/>
                        <a:t>f'</a:t>
                      </a:r>
                      <a:r>
                        <a:rPr sz="2400" dirty="0"/>
                        <a:t>{</a:t>
                      </a:r>
                      <a:r>
                        <a:rPr lang="en-US" altLang="zh-CN" sz="2400" dirty="0"/>
                        <a:t>var</a:t>
                      </a:r>
                      <a:r>
                        <a:rPr sz="2400" dirty="0"/>
                        <a:t>:</a:t>
                      </a:r>
                      <a:r>
                        <a:rPr sz="2400" dirty="0">
                          <a:solidFill>
                            <a:schemeClr val="accent5"/>
                          </a:solidFill>
                        </a:rPr>
                        <a:t>-</a:t>
                      </a:r>
                      <a:r>
                        <a:rPr sz="2400" dirty="0">
                          <a:solidFill>
                            <a:schemeClr val="accent2"/>
                          </a:solidFill>
                        </a:rPr>
                        <a:t>^</a:t>
                      </a:r>
                      <a:r>
                        <a:rPr sz="2400" dirty="0"/>
                        <a:t>10}</a:t>
                      </a:r>
                      <a:r>
                        <a:rPr lang="en-US" altLang="zh-CN" sz="2400" dirty="0"/>
                        <a:t>'</a:t>
                      </a: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p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m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9447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sz="2400" dirty="0"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align left">
            <a:extLst>
              <a:ext uri="{FF2B5EF4-FFF2-40B4-BE49-F238E27FC236}">
                <a16:creationId xmlns:a16="http://schemas.microsoft.com/office/drawing/2014/main" id="{AE06D982-1349-3A22-CF49-A4DD4539C071}"/>
              </a:ext>
            </a:extLst>
          </p:cNvPr>
          <p:cNvSpPr txBox="1"/>
          <p:nvPr/>
        </p:nvSpPr>
        <p:spPr>
          <a:xfrm>
            <a:off x="824473" y="2149702"/>
            <a:ext cx="1266372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rPr sz="2400" dirty="0">
                <a:latin typeface="Helvetica Light" panose="020B0403020202020204" pitchFamily="34" charset="0"/>
                <a:ea typeface="Helvetica Neue Thin" panose="020B0403020202020204" pitchFamily="34" charset="0"/>
              </a:rPr>
              <a:t>align left</a:t>
            </a:r>
          </a:p>
        </p:txBody>
      </p:sp>
      <p:sp>
        <p:nvSpPr>
          <p:cNvPr id="7" name="align right">
            <a:extLst>
              <a:ext uri="{FF2B5EF4-FFF2-40B4-BE49-F238E27FC236}">
                <a16:creationId xmlns:a16="http://schemas.microsoft.com/office/drawing/2014/main" id="{9AE2F78C-E724-CA46-F31B-88A9425AAE0A}"/>
              </a:ext>
            </a:extLst>
          </p:cNvPr>
          <p:cNvSpPr txBox="1"/>
          <p:nvPr/>
        </p:nvSpPr>
        <p:spPr>
          <a:xfrm>
            <a:off x="620565" y="3013873"/>
            <a:ext cx="147155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rPr sz="2400" dirty="0">
                <a:latin typeface="Helvetica Light" panose="020B0403020202020204" pitchFamily="34" charset="0"/>
                <a:ea typeface="Helvetica Neue Thin" panose="020B0403020202020204" pitchFamily="34" charset="0"/>
              </a:rPr>
              <a:t>align right</a:t>
            </a:r>
          </a:p>
        </p:txBody>
      </p:sp>
      <p:sp>
        <p:nvSpPr>
          <p:cNvPr id="8" name="align right…">
            <a:extLst>
              <a:ext uri="{FF2B5EF4-FFF2-40B4-BE49-F238E27FC236}">
                <a16:creationId xmlns:a16="http://schemas.microsoft.com/office/drawing/2014/main" id="{7905D987-ECF1-C424-6905-14E404060BC9}"/>
              </a:ext>
            </a:extLst>
          </p:cNvPr>
          <p:cNvSpPr txBox="1"/>
          <p:nvPr/>
        </p:nvSpPr>
        <p:spPr>
          <a:xfrm>
            <a:off x="353990" y="3986378"/>
            <a:ext cx="2207337" cy="704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80000"/>
              </a:lnSpc>
              <a:defRPr sz="3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sz="2400" dirty="0">
                <a:latin typeface="Helvetica Light" panose="020B0403020202020204" pitchFamily="34" charset="0"/>
                <a:ea typeface="Helvetica Neue Thin" panose="020B0403020202020204" pitchFamily="34" charset="0"/>
              </a:rPr>
              <a:t>align right</a:t>
            </a:r>
          </a:p>
          <a:p>
            <a:pPr>
              <a:lnSpc>
                <a:spcPct val="80000"/>
              </a:lnSpc>
              <a:defRPr sz="3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sz="2400" dirty="0">
                <a:latin typeface="Helvetica Light" panose="020B0403020202020204" pitchFamily="34" charset="0"/>
                <a:ea typeface="Helvetica Neue Thin" panose="020B0403020202020204" pitchFamily="34" charset="0"/>
              </a:rPr>
              <a:t>&amp; pad</a:t>
            </a:r>
          </a:p>
        </p:txBody>
      </p:sp>
      <p:sp>
        <p:nvSpPr>
          <p:cNvPr id="9" name="align center">
            <a:extLst>
              <a:ext uri="{FF2B5EF4-FFF2-40B4-BE49-F238E27FC236}">
                <a16:creationId xmlns:a16="http://schemas.microsoft.com/office/drawing/2014/main" id="{C4A8C8E6-D628-A924-49A2-571358C74EF1}"/>
              </a:ext>
            </a:extLst>
          </p:cNvPr>
          <p:cNvSpPr txBox="1"/>
          <p:nvPr/>
        </p:nvSpPr>
        <p:spPr>
          <a:xfrm>
            <a:off x="474861" y="4852942"/>
            <a:ext cx="1729641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rPr sz="2400" dirty="0">
                <a:latin typeface="Helvetica Light" panose="020B0403020202020204" pitchFamily="34" charset="0"/>
                <a:ea typeface="Helvetica Neue Thin" panose="020B0403020202020204" pitchFamily="34" charset="0"/>
              </a:rPr>
              <a:t>align center</a:t>
            </a:r>
          </a:p>
        </p:txBody>
      </p:sp>
      <p:sp>
        <p:nvSpPr>
          <p:cNvPr id="10" name="align center…">
            <a:extLst>
              <a:ext uri="{FF2B5EF4-FFF2-40B4-BE49-F238E27FC236}">
                <a16:creationId xmlns:a16="http://schemas.microsoft.com/office/drawing/2014/main" id="{5C336C80-73BA-9F80-7A3B-CD152892F887}"/>
              </a:ext>
            </a:extLst>
          </p:cNvPr>
          <p:cNvSpPr txBox="1"/>
          <p:nvPr/>
        </p:nvSpPr>
        <p:spPr>
          <a:xfrm>
            <a:off x="361204" y="5828658"/>
            <a:ext cx="1729641" cy="704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80000"/>
              </a:lnSpc>
              <a:defRPr sz="3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sz="2400" dirty="0">
                <a:latin typeface="Helvetica Light" panose="020B0403020202020204" pitchFamily="34" charset="0"/>
                <a:ea typeface="Helvetica Neue Thin" panose="020B0403020202020204" pitchFamily="34" charset="0"/>
              </a:rPr>
              <a:t>align center</a:t>
            </a:r>
          </a:p>
          <a:p>
            <a:pPr>
              <a:lnSpc>
                <a:spcPct val="80000"/>
              </a:lnSpc>
              <a:defRPr sz="3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sz="2400" dirty="0">
                <a:latin typeface="Helvetica Light" panose="020B0403020202020204" pitchFamily="34" charset="0"/>
                <a:ea typeface="Helvetica Neue Thin" panose="020B0403020202020204" pitchFamily="34" charset="0"/>
              </a:rPr>
              <a:t>&amp; pad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5E493F-EBFE-0927-C1A4-9D03B851A512}"/>
              </a:ext>
            </a:extLst>
          </p:cNvPr>
          <p:cNvSpPr txBox="1"/>
          <p:nvPr/>
        </p:nvSpPr>
        <p:spPr>
          <a:xfrm>
            <a:off x="2243135" y="1578854"/>
            <a:ext cx="2750753" cy="5334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800" dirty="0"/>
              <a:t>&gt;&gt;&gt;var</a:t>
            </a:r>
            <a:r>
              <a:rPr lang="zh-CN" altLang="en-US" sz="2800" dirty="0"/>
              <a:t> </a:t>
            </a:r>
            <a:r>
              <a:rPr lang="en-US" altLang="zh-CN" sz="2800" dirty="0"/>
              <a:t>=</a:t>
            </a:r>
            <a:r>
              <a:rPr lang="zh-CN" altLang="en-US" sz="2800" dirty="0"/>
              <a:t> </a:t>
            </a:r>
            <a:r>
              <a:rPr lang="en-US" altLang="zh-CN" sz="2800" dirty="0"/>
              <a:t>'prom'</a:t>
            </a:r>
            <a:endParaRPr kumimoji="0" lang="en-CN" sz="2800" b="0" i="0" u="none" strike="noStrike" cap="none" spc="0" normalizeH="0" baseline="0" dirty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018221223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B97AE-080C-5D97-763A-2715A301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f-string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string</a:t>
            </a:r>
            <a:r>
              <a:rPr lang="zh-CN" altLang="en-US" dirty="0"/>
              <a:t> </a:t>
            </a:r>
            <a:r>
              <a:rPr lang="en-US" altLang="zh-CN" dirty="0"/>
              <a:t>formatting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76E62A-3BDF-C48C-C9FA-79D07B803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52</a:t>
            </a:fld>
            <a:endParaRPr lang="en-CN"/>
          </a:p>
        </p:txBody>
      </p:sp>
      <p:sp>
        <p:nvSpPr>
          <p:cNvPr id="4" name="Truncating and Padding Strings">
            <a:extLst>
              <a:ext uri="{FF2B5EF4-FFF2-40B4-BE49-F238E27FC236}">
                <a16:creationId xmlns:a16="http://schemas.microsoft.com/office/drawing/2014/main" id="{1F227ABC-3590-2C62-D5A7-EF0C6363CB59}"/>
              </a:ext>
            </a:extLst>
          </p:cNvPr>
          <p:cNvSpPr txBox="1"/>
          <p:nvPr/>
        </p:nvSpPr>
        <p:spPr>
          <a:xfrm>
            <a:off x="1100522" y="828568"/>
            <a:ext cx="10474706" cy="533479"/>
          </a:xfrm>
          <a:prstGeom prst="rect">
            <a:avLst/>
          </a:prstGeom>
          <a:solidFill>
            <a:srgbClr val="E9DCF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chemeClr val="accent6">
                    <a:lumOff val="-21524"/>
                  </a:schemeClr>
                </a:solidFill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r>
              <a:rPr sz="2800" dirty="0"/>
              <a:t>Truncating and Padding Strings</a:t>
            </a:r>
          </a:p>
        </p:txBody>
      </p:sp>
      <p:graphicFrame>
        <p:nvGraphicFramePr>
          <p:cNvPr id="5" name="Tableau 1">
            <a:extLst>
              <a:ext uri="{FF2B5EF4-FFF2-40B4-BE49-F238E27FC236}">
                <a16:creationId xmlns:a16="http://schemas.microsoft.com/office/drawing/2014/main" id="{775F44D9-D86A-C03B-8662-EC2051DF35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5649196"/>
              </p:ext>
            </p:extLst>
          </p:nvPr>
        </p:nvGraphicFramePr>
        <p:xfrm>
          <a:off x="1862530" y="1955816"/>
          <a:ext cx="7780236" cy="4521200"/>
        </p:xfrm>
        <a:graphic>
          <a:graphicData uri="http://schemas.openxmlformats.org/drawingml/2006/table">
            <a:tbl>
              <a:tblPr/>
              <a:tblGrid>
                <a:gridCol w="648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3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3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3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3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3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35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35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8634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dirty="0"/>
                        <a:t>f</a:t>
                      </a:r>
                      <a:r>
                        <a:rPr dirty="0"/>
                        <a:t>'{</a:t>
                      </a:r>
                      <a:r>
                        <a:rPr lang="en-US" altLang="zh-CN" dirty="0"/>
                        <a:t>var</a:t>
                      </a:r>
                      <a:r>
                        <a:rPr dirty="0"/>
                        <a:t>:</a:t>
                      </a:r>
                      <a:r>
                        <a:rPr dirty="0">
                          <a:solidFill>
                            <a:schemeClr val="accent2"/>
                          </a:solidFill>
                        </a:rPr>
                        <a:t>.4</a:t>
                      </a:r>
                      <a:r>
                        <a:rPr dirty="0"/>
                        <a:t>}'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634"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a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d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v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e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634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dirty="0"/>
                        <a:t>f'</a:t>
                      </a:r>
                      <a:r>
                        <a:rPr dirty="0"/>
                        <a:t>{</a:t>
                      </a:r>
                      <a:r>
                        <a:rPr lang="en-US" altLang="zh-CN" dirty="0"/>
                        <a:t>var</a:t>
                      </a:r>
                      <a:r>
                        <a:rPr dirty="0"/>
                        <a:t>:</a:t>
                      </a:r>
                      <a:r>
                        <a:rPr dirty="0">
                          <a:solidFill>
                            <a:schemeClr val="accent2"/>
                          </a:solidFill>
                        </a:rPr>
                        <a:t>&gt;</a:t>
                      </a:r>
                      <a:r>
                        <a:rPr dirty="0"/>
                        <a:t>10</a:t>
                      </a:r>
                      <a:r>
                        <a:rPr dirty="0">
                          <a:solidFill>
                            <a:schemeClr val="accent2"/>
                          </a:solidFill>
                        </a:rPr>
                        <a:t>.5</a:t>
                      </a:r>
                      <a:r>
                        <a:rPr dirty="0"/>
                        <a:t>}'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634"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a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d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v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e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n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634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dirty="0"/>
                        <a:t>f'</a:t>
                      </a:r>
                      <a:r>
                        <a:rPr dirty="0"/>
                        <a:t>{</a:t>
                      </a:r>
                      <a:r>
                        <a:rPr lang="en-US" altLang="zh-CN" dirty="0"/>
                        <a:t>var</a:t>
                      </a:r>
                      <a:r>
                        <a:rPr dirty="0"/>
                        <a:t>:</a:t>
                      </a:r>
                      <a:r>
                        <a:rPr dirty="0">
                          <a:solidFill>
                            <a:schemeClr val="accent5"/>
                          </a:solidFill>
                        </a:rPr>
                        <a:t>_</a:t>
                      </a:r>
                      <a:r>
                        <a:rPr dirty="0">
                          <a:solidFill>
                            <a:schemeClr val="accent2"/>
                          </a:solidFill>
                        </a:rPr>
                        <a:t>&gt;</a:t>
                      </a:r>
                      <a:r>
                        <a:rPr dirty="0"/>
                        <a:t>10</a:t>
                      </a:r>
                      <a:r>
                        <a:rPr dirty="0">
                          <a:solidFill>
                            <a:schemeClr val="accent2"/>
                          </a:solidFill>
                        </a:rPr>
                        <a:t>.6</a:t>
                      </a:r>
                      <a:r>
                        <a:rPr dirty="0"/>
                        <a:t>}'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634"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_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_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_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_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a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d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v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e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n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t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634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dirty="0"/>
                        <a:t>f'</a:t>
                      </a:r>
                      <a:r>
                        <a:rPr dirty="0"/>
                        <a:t>{</a:t>
                      </a:r>
                      <a:r>
                        <a:rPr lang="en-US" altLang="zh-CN" dirty="0"/>
                        <a:t>var</a:t>
                      </a:r>
                      <a:r>
                        <a:rPr dirty="0"/>
                        <a:t>:</a:t>
                      </a:r>
                      <a:r>
                        <a:rPr dirty="0">
                          <a:solidFill>
                            <a:schemeClr val="accent2"/>
                          </a:solidFill>
                        </a:rPr>
                        <a:t>^</a:t>
                      </a:r>
                      <a:r>
                        <a:rPr dirty="0"/>
                        <a:t>10</a:t>
                      </a:r>
                      <a:r>
                        <a:rPr dirty="0">
                          <a:solidFill>
                            <a:schemeClr val="accent2"/>
                          </a:solidFill>
                        </a:rPr>
                        <a:t>.6</a:t>
                      </a:r>
                      <a:r>
                        <a:rPr dirty="0"/>
                        <a:t>}'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634"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a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d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v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e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n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t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634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dirty="0"/>
                        <a:t>f</a:t>
                      </a:r>
                      <a:r>
                        <a:rPr dirty="0"/>
                        <a:t>'{</a:t>
                      </a:r>
                      <a:r>
                        <a:rPr lang="en-US" altLang="zh-CN" dirty="0"/>
                        <a:t>var</a:t>
                      </a:r>
                      <a:r>
                        <a:rPr dirty="0"/>
                        <a:t>:</a:t>
                      </a:r>
                      <a:r>
                        <a:rPr dirty="0">
                          <a:solidFill>
                            <a:schemeClr val="accent5"/>
                          </a:solidFill>
                        </a:rPr>
                        <a:t>-</a:t>
                      </a:r>
                      <a:r>
                        <a:rPr dirty="0">
                          <a:solidFill>
                            <a:schemeClr val="accent2"/>
                          </a:solidFill>
                        </a:rPr>
                        <a:t>^</a:t>
                      </a:r>
                      <a:r>
                        <a:rPr dirty="0"/>
                        <a:t>10</a:t>
                      </a:r>
                      <a:r>
                        <a:rPr dirty="0">
                          <a:solidFill>
                            <a:schemeClr val="accent2"/>
                          </a:solidFill>
                        </a:rPr>
                        <a:t>.2</a:t>
                      </a:r>
                      <a:r>
                        <a:rPr dirty="0"/>
                        <a:t>}'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634">
                <a:tc>
                  <a:txBody>
                    <a:bodyPr/>
                    <a:lstStyle/>
                    <a:p>
                      <a:pPr defTabSz="914400"/>
                      <a:r>
                        <a:rPr sz="23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a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lang="en-US" altLang="zh-CN" sz="2300" dirty="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d</a:t>
                      </a:r>
                      <a:endParaRPr sz="2300" dirty="0">
                        <a:solidFill>
                          <a:schemeClr val="accent2"/>
                        </a:solidFill>
                        <a:latin typeface="Menlo Regular"/>
                        <a:ea typeface="Menlo Regular"/>
                        <a:cs typeface="Menlo Regular"/>
                        <a:sym typeface="Menlo Regular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-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D4CA4C2-2F3E-CD93-20C1-D1D0910F28A2}"/>
              </a:ext>
            </a:extLst>
          </p:cNvPr>
          <p:cNvSpPr txBox="1"/>
          <p:nvPr/>
        </p:nvSpPr>
        <p:spPr>
          <a:xfrm>
            <a:off x="1862530" y="1422337"/>
            <a:ext cx="3531416" cy="5334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800" dirty="0"/>
              <a:t>&gt;&gt;&gt;var</a:t>
            </a:r>
            <a:r>
              <a:rPr lang="zh-CN" altLang="en-US" sz="2800" dirty="0"/>
              <a:t> </a:t>
            </a:r>
            <a:r>
              <a:rPr lang="en-US" altLang="zh-CN" sz="2800" dirty="0"/>
              <a:t>=</a:t>
            </a:r>
            <a:r>
              <a:rPr lang="zh-CN" altLang="en-US" sz="2800" dirty="0"/>
              <a:t> </a:t>
            </a:r>
            <a:r>
              <a:rPr lang="en-US" altLang="zh-CN" sz="2800" dirty="0"/>
              <a:t>'adventure'</a:t>
            </a:r>
            <a:endParaRPr kumimoji="0" lang="en-CN" sz="2800" b="0" i="0" u="none" strike="noStrike" cap="none" spc="0" normalizeH="0" baseline="0" dirty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738819379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8EAF4-538E-B217-4F84-10CFC936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f-string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r>
              <a:rPr lang="zh-CN" altLang="en-US" dirty="0"/>
              <a:t> </a:t>
            </a:r>
            <a:r>
              <a:rPr lang="en-US" altLang="zh-CN" dirty="0"/>
              <a:t>formatting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2915BF-FCB4-8350-FBD3-3E437DE4DB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53</a:t>
            </a:fld>
            <a:endParaRPr lang="en-CN"/>
          </a:p>
        </p:txBody>
      </p:sp>
      <p:graphicFrame>
        <p:nvGraphicFramePr>
          <p:cNvPr id="4" name="Tableau 1">
            <a:extLst>
              <a:ext uri="{FF2B5EF4-FFF2-40B4-BE49-F238E27FC236}">
                <a16:creationId xmlns:a16="http://schemas.microsoft.com/office/drawing/2014/main" id="{E45E88EB-1933-C59A-4AE8-3397F35D50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0274466"/>
              </p:ext>
            </p:extLst>
          </p:nvPr>
        </p:nvGraphicFramePr>
        <p:xfrm>
          <a:off x="2100629" y="2039745"/>
          <a:ext cx="8515908" cy="4536440"/>
        </p:xfrm>
        <a:graphic>
          <a:graphicData uri="http://schemas.openxmlformats.org/drawingml/2006/table">
            <a:tbl>
              <a:tblPr/>
              <a:tblGrid>
                <a:gridCol w="709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9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6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96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96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96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96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96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96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01566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3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f'</a:t>
                      </a:r>
                      <a:r>
                        <a:rPr sz="23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{</a:t>
                      </a:r>
                      <a:r>
                        <a:rPr lang="en-US" altLang="zh-CN" sz="2300" dirty="0" err="1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int_num</a:t>
                      </a:r>
                      <a:r>
                        <a:rPr lang="en-US" altLang="zh-CN" sz="23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 </a:t>
                      </a:r>
                      <a:r>
                        <a:rPr sz="23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:d}'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566"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102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dirty="0"/>
                        <a:t>f'</a:t>
                      </a:r>
                      <a:r>
                        <a:rPr dirty="0"/>
                        <a:t>{</a:t>
                      </a:r>
                      <a:r>
                        <a:rPr lang="en-US" altLang="zh-CN" sz="2400" dirty="0" err="1"/>
                        <a:t>int_num</a:t>
                      </a:r>
                      <a:r>
                        <a:rPr lang="zh-CN" altLang="en-US" sz="2400" dirty="0"/>
                        <a:t> </a:t>
                      </a:r>
                      <a:r>
                        <a:rPr dirty="0"/>
                        <a:t>:</a:t>
                      </a:r>
                      <a:r>
                        <a:rPr dirty="0">
                          <a:solidFill>
                            <a:schemeClr val="accent5"/>
                          </a:solidFill>
                        </a:rPr>
                        <a:t>0</a:t>
                      </a:r>
                      <a:r>
                        <a:rPr dirty="0"/>
                        <a:t>10d}'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0"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566"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 dirty="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 dirty="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566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/>
                      <a:r>
                        <a:rPr lang="en-US" altLang="zh-CN"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f'</a:t>
                      </a:r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{</a:t>
                      </a:r>
                      <a:r>
                        <a:rPr lang="en-US" altLang="zh-CN" sz="2300" dirty="0" err="1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float_num</a:t>
                      </a:r>
                      <a:r>
                        <a:rPr sz="2300" dirty="0" err="1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:f</a:t>
                      </a:r>
                      <a:r>
                        <a:rPr sz="23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}'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54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566"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.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566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dirty="0"/>
                        <a:t>f</a:t>
                      </a:r>
                      <a:r>
                        <a:rPr dirty="0"/>
                        <a:t>'{</a:t>
                      </a:r>
                      <a:r>
                        <a:rPr lang="en-US" altLang="zh-CN" sz="23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float_num</a:t>
                      </a:r>
                      <a:r>
                        <a:rPr dirty="0"/>
                        <a:t>:</a:t>
                      </a:r>
                      <a:r>
                        <a:rPr dirty="0">
                          <a:solidFill>
                            <a:schemeClr val="accent5"/>
                          </a:solidFill>
                        </a:rPr>
                        <a:t>0</a:t>
                      </a:r>
                      <a:r>
                        <a:rPr dirty="0"/>
                        <a:t>10f}'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0"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566"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.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566"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gridSpan="10"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r>
                        <a:rPr lang="en-US" altLang="zh-CN" dirty="0"/>
                        <a:t>f</a:t>
                      </a:r>
                      <a:r>
                        <a:rPr dirty="0"/>
                        <a:t>'{</a:t>
                      </a:r>
                      <a:r>
                        <a:rPr lang="en-US" altLang="zh-CN" sz="23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float_num</a:t>
                      </a:r>
                      <a:r>
                        <a:rPr dirty="0"/>
                        <a:t>:</a:t>
                      </a:r>
                      <a:r>
                        <a:rPr dirty="0">
                          <a:solidFill>
                            <a:schemeClr val="accent5"/>
                          </a:solidFill>
                        </a:rPr>
                        <a:t>0</a:t>
                      </a:r>
                      <a:r>
                        <a:rPr dirty="0"/>
                        <a:t>10.</a:t>
                      </a:r>
                      <a:r>
                        <a:rPr dirty="0">
                          <a:solidFill>
                            <a:schemeClr val="accent2"/>
                          </a:solidFill>
                        </a:rPr>
                        <a:t>5</a:t>
                      </a:r>
                      <a:r>
                        <a:rPr dirty="0"/>
                        <a:t>f}'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defTabSz="914400">
                        <a:def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566"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5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.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 b="1">
                          <a:solidFill>
                            <a:schemeClr val="accent2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solidFill>
                      <a:srgbClr val="E9DCF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300" dirty="0"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' 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integer">
            <a:extLst>
              <a:ext uri="{FF2B5EF4-FFF2-40B4-BE49-F238E27FC236}">
                <a16:creationId xmlns:a16="http://schemas.microsoft.com/office/drawing/2014/main" id="{F393D597-E0F2-5B78-449E-84065BCE3782}"/>
              </a:ext>
            </a:extLst>
          </p:cNvPr>
          <p:cNvSpPr txBox="1"/>
          <p:nvPr/>
        </p:nvSpPr>
        <p:spPr>
          <a:xfrm>
            <a:off x="461425" y="2549345"/>
            <a:ext cx="1384555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integer</a:t>
            </a:r>
          </a:p>
        </p:txBody>
      </p:sp>
      <p:sp>
        <p:nvSpPr>
          <p:cNvPr id="6" name="float">
            <a:extLst>
              <a:ext uri="{FF2B5EF4-FFF2-40B4-BE49-F238E27FC236}">
                <a16:creationId xmlns:a16="http://schemas.microsoft.com/office/drawing/2014/main" id="{FC443003-B7CF-5E29-6966-19A2F3BF5C38}"/>
              </a:ext>
            </a:extLst>
          </p:cNvPr>
          <p:cNvSpPr txBox="1"/>
          <p:nvPr/>
        </p:nvSpPr>
        <p:spPr>
          <a:xfrm>
            <a:off x="501240" y="4813851"/>
            <a:ext cx="90792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float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57C2CC-F42A-AB8E-3732-CAA129B4F570}"/>
              </a:ext>
            </a:extLst>
          </p:cNvPr>
          <p:cNvSpPr txBox="1"/>
          <p:nvPr/>
        </p:nvSpPr>
        <p:spPr>
          <a:xfrm>
            <a:off x="2055976" y="789060"/>
            <a:ext cx="3111429" cy="5334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800" dirty="0"/>
              <a:t>&gt;&gt;&gt;</a:t>
            </a:r>
            <a:r>
              <a:rPr lang="en-US" altLang="zh-CN" sz="2800" dirty="0" err="1"/>
              <a:t>int_num</a:t>
            </a:r>
            <a:r>
              <a:rPr lang="zh-CN" altLang="en-US" sz="2800" dirty="0"/>
              <a:t> </a:t>
            </a:r>
            <a:r>
              <a:rPr lang="en-US" altLang="zh-CN" sz="2800" dirty="0"/>
              <a:t>=</a:t>
            </a:r>
            <a:r>
              <a:rPr lang="zh-CN" altLang="en-US" sz="2800" dirty="0"/>
              <a:t> </a:t>
            </a:r>
            <a:r>
              <a:rPr lang="en-US" altLang="zh-CN" sz="2800" dirty="0"/>
              <a:t>123</a:t>
            </a:r>
            <a:endParaRPr kumimoji="0" lang="en-CN" sz="2800" b="0" i="0" u="none" strike="noStrike" cap="none" spc="0" normalizeH="0" baseline="0" dirty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689CC-D6D7-BE27-342F-F3ED76720D46}"/>
              </a:ext>
            </a:extLst>
          </p:cNvPr>
          <p:cNvSpPr txBox="1"/>
          <p:nvPr/>
        </p:nvSpPr>
        <p:spPr>
          <a:xfrm>
            <a:off x="2055976" y="1392359"/>
            <a:ext cx="4712830" cy="5334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800" dirty="0"/>
              <a:t>&gt;&gt;&gt;</a:t>
            </a:r>
            <a:r>
              <a:rPr lang="en-US" altLang="zh-CN" sz="2800" dirty="0" err="1"/>
              <a:t>float_num</a:t>
            </a:r>
            <a:r>
              <a:rPr lang="zh-CN" altLang="en-US" sz="2800" dirty="0"/>
              <a:t> </a:t>
            </a:r>
            <a:r>
              <a:rPr lang="en-US" altLang="zh-CN" sz="2800" dirty="0"/>
              <a:t>=</a:t>
            </a:r>
            <a:r>
              <a:rPr lang="zh-CN" altLang="en-US" sz="2800" dirty="0"/>
              <a:t> </a:t>
            </a:r>
            <a:r>
              <a:rPr lang="en-US" altLang="zh-CN" sz="2800" dirty="0"/>
              <a:t>1.23456789</a:t>
            </a:r>
            <a:endParaRPr kumimoji="0" lang="en-CN" sz="2800" b="0" i="0" u="none" strike="noStrike" cap="none" spc="0" normalizeH="0" baseline="0" dirty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105475096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BF71-ABC0-7391-F99D-405651434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Takeaway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BE18F6-CFEF-4EDF-F94A-C37B44C00F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54</a:t>
            </a:fld>
            <a:endParaRPr lang="en-CN"/>
          </a:p>
        </p:txBody>
      </p:sp>
      <p:sp>
        <p:nvSpPr>
          <p:cNvPr id="5" name="Variables…">
            <a:extLst>
              <a:ext uri="{FF2B5EF4-FFF2-40B4-BE49-F238E27FC236}">
                <a16:creationId xmlns:a16="http://schemas.microsoft.com/office/drawing/2014/main" id="{D13CF06E-3EE4-0E8D-66D3-36B7BB20F1BA}"/>
              </a:ext>
            </a:extLst>
          </p:cNvPr>
          <p:cNvSpPr txBox="1">
            <a:spLocks/>
          </p:cNvSpPr>
          <p:nvPr/>
        </p:nvSpPr>
        <p:spPr>
          <a:xfrm>
            <a:off x="939415" y="661246"/>
            <a:ext cx="12010205" cy="8518525"/>
          </a:xfrm>
          <a:prstGeom prst="rect">
            <a:avLst/>
          </a:prstGeom>
        </p:spPr>
        <p:txBody>
          <a:bodyPr>
            <a:normAutofit/>
          </a:bodyPr>
          <a:lstStyle>
            <a:lvl1pPr marL="31252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8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2505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3758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5011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62640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87516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18769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0022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1275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288925" indent="-288925" defTabSz="379729">
              <a:spcBef>
                <a:spcPts val="700"/>
              </a:spcBef>
              <a:defRPr sz="2340"/>
            </a:pP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Basic data types in Python</a:t>
            </a:r>
          </a:p>
          <a:p>
            <a:pPr marL="0" indent="0" defTabSz="379729">
              <a:spcBef>
                <a:spcPts val="700"/>
              </a:spcBef>
              <a:buNone/>
              <a:defRPr sz="2340"/>
            </a:pPr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int,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float,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string,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bool,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Nonetype</a:t>
            </a:r>
            <a:endParaRPr lang="en-US" altLang="zh-CN" sz="20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 defTabSz="379729">
              <a:spcBef>
                <a:spcPts val="700"/>
              </a:spcBef>
              <a:buNone/>
              <a:defRPr sz="2340"/>
            </a:pPr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operations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on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numeric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type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and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string</a:t>
            </a:r>
          </a:p>
          <a:p>
            <a:pPr marL="0" indent="0" defTabSz="379729">
              <a:spcBef>
                <a:spcPts val="700"/>
              </a:spcBef>
              <a:buNone/>
              <a:defRPr sz="2340"/>
            </a:pPr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type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conversion</a:t>
            </a:r>
            <a:endParaRPr lang="en-US" sz="20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88925" indent="-288925" defTabSz="379729">
              <a:spcBef>
                <a:spcPts val="700"/>
              </a:spcBef>
              <a:defRPr sz="2340"/>
            </a:pP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Variables</a:t>
            </a:r>
          </a:p>
          <a:p>
            <a:pPr marL="0" indent="0" defTabSz="379729">
              <a:spcBef>
                <a:spcPts val="700"/>
              </a:spcBef>
              <a:buNone/>
              <a:defRPr sz="2340"/>
            </a:pPr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bind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to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data,</a:t>
            </a:r>
            <a:r>
              <a:rPr lang="zh-CN" altLang="en-US" sz="2000" dirty="0">
                <a:latin typeface="Helvetica Neue Light" panose="02000403000000020004" pitchFamily="2" charset="0"/>
              </a:rPr>
              <a:t> </a:t>
            </a:r>
            <a:r>
              <a:rPr lang="en-US" altLang="zh-CN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assignment</a:t>
            </a:r>
            <a:endParaRPr lang="en-US" sz="20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88925" indent="-288925" defTabSz="379729">
              <a:spcBef>
                <a:spcPts val="700"/>
              </a:spcBef>
              <a:defRPr sz="2340"/>
            </a:pPr>
            <a:r>
              <a:rPr lang="en-US" altLang="zh-CN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</a:t>
            </a: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nput</a:t>
            </a:r>
            <a:r>
              <a:rPr lang="zh-CN" altLang="en-US" sz="2400" dirty="0">
                <a:latin typeface="Helvetica Neue Light" panose="02000403000000020004" pitchFamily="2" charset="0"/>
              </a:rPr>
              <a:t> </a:t>
            </a:r>
            <a:r>
              <a:rPr lang="en-US" altLang="zh-CN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and</a:t>
            </a:r>
            <a:r>
              <a:rPr lang="zh-CN" altLang="en-US" sz="2400" dirty="0">
                <a:latin typeface="Helvetica Neue Light" panose="02000403000000020004" pitchFamily="2" charset="0"/>
              </a:rPr>
              <a:t> </a:t>
            </a:r>
            <a:r>
              <a:rPr lang="en-US" altLang="zh-CN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print</a:t>
            </a:r>
            <a:r>
              <a:rPr lang="zh-CN" altLang="en-US" sz="2400" dirty="0">
                <a:latin typeface="Helvetica Neue Light" panose="02000403000000020004" pitchFamily="2" charset="0"/>
              </a:rPr>
              <a:t> </a:t>
            </a:r>
            <a:r>
              <a:rPr lang="en-US" altLang="zh-CN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function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88925" lvl="1" indent="0" defTabSz="379729">
              <a:spcBef>
                <a:spcPts val="700"/>
              </a:spcBef>
              <a:buNone/>
              <a:defRPr sz="2080"/>
            </a:pP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It can take one parameter - the prompt that is displayed </a:t>
            </a:r>
          </a:p>
          <a:p>
            <a:pPr marL="288925" lvl="1" indent="0" defTabSz="379729">
              <a:spcBef>
                <a:spcPts val="700"/>
              </a:spcBef>
              <a:buNone/>
              <a:defRPr sz="2080"/>
            </a:pP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it returns a string representing the user’s input</a:t>
            </a:r>
          </a:p>
          <a:p>
            <a:pPr marL="288925" indent="-288925" defTabSz="379729">
              <a:spcBef>
                <a:spcPts val="700"/>
              </a:spcBef>
              <a:defRPr sz="2340"/>
            </a:pP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Output &amp; string formatting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  <a:cs typeface="Avenir Book Oblique"/>
              <a:sym typeface="Avenir Book Oblique"/>
            </a:endParaRPr>
          </a:p>
          <a:p>
            <a:pPr marL="288925" lvl="1" indent="0" defTabSz="379729">
              <a:spcBef>
                <a:spcPts val="700"/>
              </a:spcBef>
              <a:buNone/>
              <a:defRPr sz="2080"/>
            </a:pP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 print function can have many parameters </a:t>
            </a:r>
          </a:p>
          <a:p>
            <a:pPr marL="288925" lvl="1" indent="0" defTabSz="379729">
              <a:spcBef>
                <a:spcPts val="700"/>
              </a:spcBef>
              <a:buNone/>
              <a:defRPr sz="2080"/>
            </a:pP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 last parameters include the </a:t>
            </a:r>
            <a:r>
              <a:rPr lang="en-US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sep</a:t>
            </a: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end keyword</a:t>
            </a:r>
          </a:p>
          <a:p>
            <a:pPr marL="288925" lvl="1" indent="0" defTabSz="379729">
              <a:spcBef>
                <a:spcPts val="700"/>
              </a:spcBef>
              <a:buNone/>
              <a:defRPr sz="2080"/>
            </a:pP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string formatting allows for precise control over the format of the output</a:t>
            </a:r>
          </a:p>
        </p:txBody>
      </p:sp>
    </p:spTree>
    <p:extLst>
      <p:ext uri="{BB962C8B-B14F-4D97-AF65-F5344CB8AC3E}">
        <p14:creationId xmlns:p14="http://schemas.microsoft.com/office/powerpoint/2010/main" val="2768737236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CB4D3-F635-2175-C5E7-8B71552CA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Reading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Assignment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6E5903-7FAC-CA50-F06D-008D8C1E1B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CDC35-7DBD-5B42-8C53-5B3756EBFC65}" type="slidenum">
              <a:rPr lang="en-CN" smtClean="0"/>
              <a:t>55</a:t>
            </a:fld>
            <a:endParaRPr lang="en-C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7B07EA-EED0-F55F-48E7-D64AC43E5096}"/>
              </a:ext>
            </a:extLst>
          </p:cNvPr>
          <p:cNvSpPr txBox="1">
            <a:spLocks/>
          </p:cNvSpPr>
          <p:nvPr/>
        </p:nvSpPr>
        <p:spPr>
          <a:xfrm>
            <a:off x="1025669" y="947704"/>
            <a:ext cx="10406063" cy="5821231"/>
          </a:xfrm>
          <a:prstGeom prst="rect">
            <a:avLst/>
          </a:prstGeom>
        </p:spPr>
        <p:txBody>
          <a:bodyPr>
            <a:normAutofit/>
          </a:bodyPr>
          <a:lstStyle>
            <a:lvl1pPr marL="31252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8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62505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93758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25011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562640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solidFill>
                  <a:schemeClr val="accent6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875168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2187696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2500224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812752" marR="0" indent="-312528" algn="l" defTabSz="410751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303152" indent="-303152" defTabSz="398428">
              <a:spcBef>
                <a:spcPts val="1266"/>
              </a:spcBef>
              <a:defRPr sz="3492"/>
            </a:pPr>
            <a:r>
              <a:rPr lang="en-US" sz="3200" dirty="0"/>
              <a:t>This week readings</a:t>
            </a:r>
          </a:p>
          <a:p>
            <a:pPr marL="606304" lvl="1" indent="-303152" defTabSz="398428">
              <a:spcBef>
                <a:spcPts val="1266"/>
              </a:spcBef>
              <a:defRPr sz="3104"/>
            </a:pPr>
            <a:r>
              <a:rPr lang="en-US" sz="2800" dirty="0"/>
              <a:t>Read chapter </a:t>
            </a:r>
            <a:r>
              <a:rPr lang="en-US" altLang="zh-CN" sz="2800" dirty="0"/>
              <a:t>3</a:t>
            </a:r>
            <a:r>
              <a:rPr lang="en-US" sz="2800" dirty="0"/>
              <a:t> in the textbook</a:t>
            </a:r>
          </a:p>
          <a:p>
            <a:pPr marL="303152" indent="-303152" defTabSz="398428">
              <a:spcBef>
                <a:spcPts val="1266"/>
              </a:spcBef>
              <a:defRPr sz="3492"/>
            </a:pPr>
            <a:r>
              <a:rPr lang="en-US" altLang="zh-CN" sz="3200" dirty="0"/>
              <a:t>This</a:t>
            </a:r>
            <a:r>
              <a:rPr lang="en-US" sz="3200" dirty="0"/>
              <a:t> week recitation</a:t>
            </a:r>
          </a:p>
          <a:p>
            <a:pPr marL="606304" lvl="1" indent="-303152" defTabSz="398428">
              <a:spcBef>
                <a:spcPts val="1266"/>
              </a:spcBef>
              <a:defRPr sz="3104"/>
            </a:pPr>
            <a:r>
              <a:rPr lang="en-US" sz="2800" dirty="0"/>
              <a:t>Read recitation 0</a:t>
            </a:r>
            <a:r>
              <a:rPr lang="en-US" altLang="zh-CN" sz="2800" dirty="0"/>
              <a:t>2.</a:t>
            </a:r>
            <a:r>
              <a:rPr lang="zh-CN" altLang="en-US" sz="2800" dirty="0"/>
              <a:t> </a:t>
            </a:r>
            <a:endParaRPr lang="en-US" sz="2800" dirty="0"/>
          </a:p>
          <a:p>
            <a:pPr marL="303152" indent="-303152" defTabSz="398428">
              <a:spcBef>
                <a:spcPts val="1266"/>
              </a:spcBef>
              <a:defRPr sz="3492"/>
            </a:pPr>
            <a:r>
              <a:rPr lang="en-US" altLang="zh-CN" sz="3200" dirty="0"/>
              <a:t>Homework</a:t>
            </a:r>
            <a:r>
              <a:rPr lang="zh-CN" altLang="en-US" sz="3200" dirty="0"/>
              <a:t> </a:t>
            </a:r>
            <a:r>
              <a:rPr lang="en-US" altLang="zh-CN" sz="3200" dirty="0"/>
              <a:t>assignment</a:t>
            </a:r>
            <a:r>
              <a:rPr lang="zh-CN" altLang="en-US" sz="3200" dirty="0"/>
              <a:t> </a:t>
            </a:r>
            <a:r>
              <a:rPr lang="en-US" altLang="zh-CN" sz="3200" dirty="0"/>
              <a:t>1</a:t>
            </a:r>
            <a:r>
              <a:rPr lang="zh-CN" altLang="en-US" sz="3200" dirty="0"/>
              <a:t> </a:t>
            </a:r>
            <a:r>
              <a:rPr lang="en-US" altLang="zh-CN" sz="3200" dirty="0"/>
              <a:t>this</a:t>
            </a:r>
            <a:r>
              <a:rPr lang="zh-CN" altLang="en-US" sz="3200" dirty="0"/>
              <a:t> </a:t>
            </a:r>
            <a:r>
              <a:rPr lang="en-US" altLang="zh-CN" sz="3200" dirty="0"/>
              <a:t>week.</a:t>
            </a:r>
            <a:br>
              <a:rPr lang="en-US" altLang="zh-CN" sz="3200" dirty="0"/>
            </a:b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416B7E-AAFE-D5CC-970C-439FD7D8A0C2}"/>
              </a:ext>
            </a:extLst>
          </p:cNvPr>
          <p:cNvSpPr txBox="1"/>
          <p:nvPr/>
        </p:nvSpPr>
        <p:spPr>
          <a:xfrm>
            <a:off x="1401289" y="4154534"/>
            <a:ext cx="9179626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400" dirty="0">
                <a:solidFill>
                  <a:srgbClr val="5F2A89"/>
                </a:solidFill>
                <a:latin typeface="Helvetica Light" panose="020B0403020202020204" pitchFamily="34" charset="0"/>
              </a:rPr>
              <a:t>Assignments will be posted on Brightspace → Assignments, where you will find a link to </a:t>
            </a:r>
            <a:r>
              <a:rPr lang="en-US" sz="2400" dirty="0" err="1">
                <a:solidFill>
                  <a:srgbClr val="5F2A89"/>
                </a:solidFill>
                <a:latin typeface="Helvetica Light" panose="020B0403020202020204" pitchFamily="34" charset="0"/>
              </a:rPr>
              <a:t>Gradescope</a:t>
            </a:r>
            <a:r>
              <a:rPr lang="en-US" sz="2400" dirty="0">
                <a:solidFill>
                  <a:srgbClr val="5F2A89"/>
                </a:solidFill>
                <a:latin typeface="Helvetica Light" panose="020B0403020202020204" pitchFamily="34" charset="0"/>
              </a:rPr>
              <a:t>. Click the link to submit your code. Your code will be automatically graded</a:t>
            </a:r>
            <a:endParaRPr kumimoji="0" lang="en-CN" sz="4400" u="none" strike="noStrike" cap="none" spc="0" normalizeH="0" baseline="0" dirty="0">
              <a:ln>
                <a:noFill/>
              </a:ln>
              <a:solidFill>
                <a:srgbClr val="5F2A89"/>
              </a:solidFill>
              <a:effectLst/>
              <a:uFillTx/>
              <a:latin typeface="Helvetica Light" panose="020B0403020202020204" pitchFamily="34" charset="0"/>
              <a:ea typeface="Helvetica Neue Light" panose="02000403000000020004" pitchFamily="2" charset="0"/>
              <a:cs typeface="Courier New" panose="02070309020205020404" pitchFamily="49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87287061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50800" tIns="50800" rIns="50800" bIns="50800" numCol="1" spcCol="38100" rtlCol="0" anchor="ctr">
        <a:spAutoFit/>
      </a:bodyPr>
      <a:lstStyle>
        <a:defPPr algn="l">
          <a:lnSpc>
            <a:spcPts val="3200"/>
          </a:lnSpc>
          <a:defRPr kumimoji="0" sz="2800" u="none" strike="noStrike" cap="none" spc="0" normalizeH="0" baseline="0" dirty="0" smtClean="0">
            <a:ln>
              <a:noFill/>
            </a:ln>
            <a:solidFill>
              <a:srgbClr val="5F2A89"/>
            </a:solidFill>
            <a:effectLst/>
            <a:uFillTx/>
            <a:latin typeface="Helvetica Light" panose="020B0403020202020204" pitchFamily="34" charset="0"/>
            <a:ea typeface="Helvetica Neue Light" panose="02000403000000020004" pitchFamily="2" charset="0"/>
            <a:cs typeface="Courier New" panose="02070309020205020404" pitchFamily="49" charset="0"/>
            <a:sym typeface="Helvetica Ligh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9" id="{9E0C642E-DACB-2445-BAAA-C5A4696E0D1E}" vid="{B90BD370-6130-054B-8164-1D2978BA733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20100</TotalTime>
  <Words>4071</Words>
  <Application>Microsoft Macintosh PowerPoint</Application>
  <PresentationFormat>Widescreen</PresentationFormat>
  <Paragraphs>942</Paragraphs>
  <Slides>55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80" baseType="lpstr">
      <vt:lpstr>Arial Unicode MS</vt:lpstr>
      <vt:lpstr>System Font Regular</vt:lpstr>
      <vt:lpstr>Arial</vt:lpstr>
      <vt:lpstr>Arial Black</vt:lpstr>
      <vt:lpstr>Avenir</vt:lpstr>
      <vt:lpstr>Avenir Book</vt:lpstr>
      <vt:lpstr>Avenir Medium</vt:lpstr>
      <vt:lpstr>Avenir Next Demi Bold</vt:lpstr>
      <vt:lpstr>Calibri</vt:lpstr>
      <vt:lpstr>Cambay Devanagari</vt:lpstr>
      <vt:lpstr>Cambria Math</vt:lpstr>
      <vt:lpstr>Comic Sans MS</vt:lpstr>
      <vt:lpstr>Consolas</vt:lpstr>
      <vt:lpstr>Courier</vt:lpstr>
      <vt:lpstr>Courier New</vt:lpstr>
      <vt:lpstr>Helvetica</vt:lpstr>
      <vt:lpstr>Helvetica Light</vt:lpstr>
      <vt:lpstr>Helvetica Light</vt:lpstr>
      <vt:lpstr>Helvetica Neue</vt:lpstr>
      <vt:lpstr>Helvetica Neue Condensed</vt:lpstr>
      <vt:lpstr>Helvetica Neue Light</vt:lpstr>
      <vt:lpstr>Menlo</vt:lpstr>
      <vt:lpstr>Menlo Regular</vt:lpstr>
      <vt:lpstr>Wingdings</vt:lpstr>
      <vt:lpstr>White</vt:lpstr>
      <vt:lpstr>PowerPoint Presentation</vt:lpstr>
      <vt:lpstr>Lecture’s Outline</vt:lpstr>
      <vt:lpstr>What is Python Syntax? </vt:lpstr>
      <vt:lpstr>Objects</vt:lpstr>
      <vt:lpstr>Data Type</vt:lpstr>
      <vt:lpstr>Data type</vt:lpstr>
      <vt:lpstr>String</vt:lpstr>
      <vt:lpstr>Strings</vt:lpstr>
      <vt:lpstr>Strings</vt:lpstr>
      <vt:lpstr>Strings</vt:lpstr>
      <vt:lpstr>Strings</vt:lpstr>
      <vt:lpstr>Numeric Type</vt:lpstr>
      <vt:lpstr>More about float</vt:lpstr>
      <vt:lpstr>Mixing numeric types</vt:lpstr>
      <vt:lpstr>Data Type Conversion</vt:lpstr>
      <vt:lpstr>bool and NoneType</vt:lpstr>
      <vt:lpstr>How to check the type of an object </vt:lpstr>
      <vt:lpstr>You Try it!</vt:lpstr>
      <vt:lpstr>Operators on int and float</vt:lpstr>
      <vt:lpstr>Operators on int and float</vt:lpstr>
      <vt:lpstr>Expression</vt:lpstr>
      <vt:lpstr>Operators Precedence</vt:lpstr>
      <vt:lpstr>You try it!</vt:lpstr>
      <vt:lpstr>Operator on String</vt:lpstr>
      <vt:lpstr>Operations Summary</vt:lpstr>
      <vt:lpstr>Variables</vt:lpstr>
      <vt:lpstr>SO MANY OBJECTS, what to do with them?! </vt:lpstr>
      <vt:lpstr>Variable</vt:lpstr>
      <vt:lpstr>How do variables actually work?</vt:lpstr>
      <vt:lpstr>Why Do We Use Variables?</vt:lpstr>
      <vt:lpstr> What Is Best Code Style?  </vt:lpstr>
      <vt:lpstr>Reassignment of Variables</vt:lpstr>
      <vt:lpstr>Variables</vt:lpstr>
      <vt:lpstr>Variable Naming Rules</vt:lpstr>
      <vt:lpstr>You try it!</vt:lpstr>
      <vt:lpstr>You Try it!</vt:lpstr>
      <vt:lpstr>You try it!</vt:lpstr>
      <vt:lpstr>Input and Output</vt:lpstr>
      <vt:lpstr>Input function</vt:lpstr>
      <vt:lpstr>Input function</vt:lpstr>
      <vt:lpstr>Input function</vt:lpstr>
      <vt:lpstr>Input function</vt:lpstr>
      <vt:lpstr>Input function</vt:lpstr>
      <vt:lpstr>print function</vt:lpstr>
      <vt:lpstr>print functions</vt:lpstr>
      <vt:lpstr>print – sep and end arguments</vt:lpstr>
      <vt:lpstr>You try it!</vt:lpstr>
      <vt:lpstr>f-string</vt:lpstr>
      <vt:lpstr>f-string</vt:lpstr>
      <vt:lpstr>f-string</vt:lpstr>
      <vt:lpstr>f-string – string formatting</vt:lpstr>
      <vt:lpstr>f-string – string formatting</vt:lpstr>
      <vt:lpstr>f-string - number formatting</vt:lpstr>
      <vt:lpstr>Takeaway</vt:lpstr>
      <vt:lpstr>Reading and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282</cp:revision>
  <cp:lastPrinted>2026-09-01T01:27:56Z</cp:lastPrinted>
  <dcterms:created xsi:type="dcterms:W3CDTF">2026-08-10T09:45:49Z</dcterms:created>
  <dcterms:modified xsi:type="dcterms:W3CDTF">2026-09-03T07:52:31Z</dcterms:modified>
</cp:coreProperties>
</file>